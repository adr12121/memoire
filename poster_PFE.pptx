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6" r:id="rId2"/>
  </p:sldIdLst>
  <p:sldSz cx="21383625" cy="30275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0000"/>
    <a:srgbClr val="5F5F61"/>
    <a:srgbClr val="ECEC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13" autoAdjust="0"/>
    <p:restoredTop sz="94660"/>
  </p:normalViewPr>
  <p:slideViewPr>
    <p:cSldViewPr snapToGrid="0">
      <p:cViewPr>
        <p:scale>
          <a:sx n="50" d="100"/>
          <a:sy n="50" d="100"/>
        </p:scale>
        <p:origin x="964" y="-43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DB8373-02C5-4C63-82D8-606F9474E44B}" type="datetimeFigureOut">
              <a:rPr lang="fr-FR" smtClean="0"/>
              <a:t>16/09/2026</a:t>
            </a:fld>
            <a:endParaRPr lang="fr-FR"/>
          </a:p>
        </p:txBody>
      </p:sp>
      <p:sp>
        <p:nvSpPr>
          <p:cNvPr id="4" name="Espace réservé de l'image de diapositive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C08581-D894-4F45-BD77-1A199A7B91C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6840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 diapositiv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C08581-D894-4F45-BD77-1A199A7B91C6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88377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3772" y="4954765"/>
            <a:ext cx="18176081" cy="10540259"/>
          </a:xfrm>
        </p:spPr>
        <p:txBody>
          <a:bodyPr anchor="b"/>
          <a:lstStyle>
            <a:lvl1pPr algn="ctr">
              <a:defRPr sz="14031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2953" y="15901497"/>
            <a:ext cx="16037719" cy="7309499"/>
          </a:xfrm>
        </p:spPr>
        <p:txBody>
          <a:bodyPr/>
          <a:lstStyle>
            <a:lvl1pPr marL="0" indent="0" algn="ctr">
              <a:buNone/>
              <a:defRPr sz="5612"/>
            </a:lvl1pPr>
            <a:lvl2pPr marL="1069162" indent="0" algn="ctr">
              <a:buNone/>
              <a:defRPr sz="4677"/>
            </a:lvl2pPr>
            <a:lvl3pPr marL="2138324" indent="0" algn="ctr">
              <a:buNone/>
              <a:defRPr sz="4209"/>
            </a:lvl3pPr>
            <a:lvl4pPr marL="3207487" indent="0" algn="ctr">
              <a:buNone/>
              <a:defRPr sz="3742"/>
            </a:lvl4pPr>
            <a:lvl5pPr marL="4276649" indent="0" algn="ctr">
              <a:buNone/>
              <a:defRPr sz="3742"/>
            </a:lvl5pPr>
            <a:lvl6pPr marL="5345811" indent="0" algn="ctr">
              <a:buNone/>
              <a:defRPr sz="3742"/>
            </a:lvl6pPr>
            <a:lvl7pPr marL="6414973" indent="0" algn="ctr">
              <a:buNone/>
              <a:defRPr sz="3742"/>
            </a:lvl7pPr>
            <a:lvl8pPr marL="7484135" indent="0" algn="ctr">
              <a:buNone/>
              <a:defRPr sz="3742"/>
            </a:lvl8pPr>
            <a:lvl9pPr marL="8553298" indent="0" algn="ctr">
              <a:buNone/>
              <a:defRPr sz="3742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02837-0648-4C78-B908-73ED0AE9F674}" type="datetimeFigureOut">
              <a:rPr lang="fr-FR" smtClean="0"/>
              <a:t>16/09/2026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455-42C7-445B-AA1F-E9561F81BA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084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02837-0648-4C78-B908-73ED0AE9F674}" type="datetimeFigureOut">
              <a:rPr lang="fr-FR" smtClean="0"/>
              <a:t>16/09/2026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455-42C7-445B-AA1F-E9561F81BA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8310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988" y="7547788"/>
            <a:ext cx="18443377" cy="12593645"/>
          </a:xfrm>
        </p:spPr>
        <p:txBody>
          <a:bodyPr anchor="b"/>
          <a:lstStyle>
            <a:lvl1pPr>
              <a:defRPr sz="14031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8988" y="20260574"/>
            <a:ext cx="18443377" cy="6622701"/>
          </a:xfrm>
        </p:spPr>
        <p:txBody>
          <a:bodyPr/>
          <a:lstStyle>
            <a:lvl1pPr marL="0" indent="0">
              <a:buNone/>
              <a:defRPr sz="5612">
                <a:solidFill>
                  <a:schemeClr val="tx1">
                    <a:tint val="82000"/>
                  </a:schemeClr>
                </a:solidFill>
              </a:defRPr>
            </a:lvl1pPr>
            <a:lvl2pPr marL="1069162" indent="0">
              <a:buNone/>
              <a:defRPr sz="4677">
                <a:solidFill>
                  <a:schemeClr val="tx1">
                    <a:tint val="82000"/>
                  </a:schemeClr>
                </a:solidFill>
              </a:defRPr>
            </a:lvl2pPr>
            <a:lvl3pPr marL="2138324" indent="0">
              <a:buNone/>
              <a:defRPr sz="4209">
                <a:solidFill>
                  <a:schemeClr val="tx1">
                    <a:tint val="82000"/>
                  </a:schemeClr>
                </a:solidFill>
              </a:defRPr>
            </a:lvl3pPr>
            <a:lvl4pPr marL="3207487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4pPr>
            <a:lvl5pPr marL="4276649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5pPr>
            <a:lvl6pPr marL="5345811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6pPr>
            <a:lvl7pPr marL="6414973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7pPr>
            <a:lvl8pPr marL="7484135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8pPr>
            <a:lvl9pPr marL="8553298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02837-0648-4C78-B908-73ED0AE9F674}" type="datetimeFigureOut">
              <a:rPr lang="fr-FR" smtClean="0"/>
              <a:t>16/09/2026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455-42C7-445B-AA1F-E9561F81BA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2947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0124" y="8059374"/>
            <a:ext cx="9088041" cy="1920934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25460" y="8059374"/>
            <a:ext cx="9088041" cy="1920934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02837-0648-4C78-B908-73ED0AE9F674}" type="datetimeFigureOut">
              <a:rPr lang="fr-FR" smtClean="0"/>
              <a:t>16/09/2026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455-42C7-445B-AA1F-E9561F81BA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3247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1611882"/>
            <a:ext cx="18443377" cy="585180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2912" y="7421634"/>
            <a:ext cx="9046274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2912" y="11058863"/>
            <a:ext cx="9046274" cy="1626592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25461" y="7421634"/>
            <a:ext cx="9090826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25461" y="11058863"/>
            <a:ext cx="9090826" cy="1626592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02837-0648-4C78-B908-73ED0AE9F674}" type="datetimeFigureOut">
              <a:rPr lang="fr-FR" smtClean="0"/>
              <a:t>16/09/2026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455-42C7-445B-AA1F-E9561F81BA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9053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02837-0648-4C78-B908-73ED0AE9F674}" type="datetimeFigureOut">
              <a:rPr lang="fr-FR" smtClean="0"/>
              <a:t>16/09/2026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455-42C7-445B-AA1F-E9561F81BA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4302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02837-0648-4C78-B908-73ED0AE9F674}" type="datetimeFigureOut">
              <a:rPr lang="fr-FR" smtClean="0"/>
              <a:t>16/09/2026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455-42C7-445B-AA1F-E9561F81BA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9220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0826" y="4359077"/>
            <a:ext cx="10825460" cy="21515024"/>
          </a:xfrm>
        </p:spPr>
        <p:txBody>
          <a:bodyPr/>
          <a:lstStyle>
            <a:lvl1pPr>
              <a:defRPr sz="7483"/>
            </a:lvl1pPr>
            <a:lvl2pPr>
              <a:defRPr sz="6548"/>
            </a:lvl2pPr>
            <a:lvl3pPr>
              <a:defRPr sz="5612"/>
            </a:lvl3pPr>
            <a:lvl4pPr>
              <a:defRPr sz="4677"/>
            </a:lvl4pPr>
            <a:lvl5pPr>
              <a:defRPr sz="4677"/>
            </a:lvl5pPr>
            <a:lvl6pPr>
              <a:defRPr sz="4677"/>
            </a:lvl6pPr>
            <a:lvl7pPr>
              <a:defRPr sz="4677"/>
            </a:lvl7pPr>
            <a:lvl8pPr>
              <a:defRPr sz="4677"/>
            </a:lvl8pPr>
            <a:lvl9pPr>
              <a:defRPr sz="4677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02837-0648-4C78-B908-73ED0AE9F674}" type="datetimeFigureOut">
              <a:rPr lang="fr-FR" smtClean="0"/>
              <a:t>16/09/2026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455-42C7-445B-AA1F-E9561F81BA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1215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090826" y="4359077"/>
            <a:ext cx="10825460" cy="21515024"/>
          </a:xfrm>
        </p:spPr>
        <p:txBody>
          <a:bodyPr anchor="t"/>
          <a:lstStyle>
            <a:lvl1pPr marL="0" indent="0">
              <a:buNone/>
              <a:defRPr sz="7483"/>
            </a:lvl1pPr>
            <a:lvl2pPr marL="1069162" indent="0">
              <a:buNone/>
              <a:defRPr sz="6548"/>
            </a:lvl2pPr>
            <a:lvl3pPr marL="2138324" indent="0">
              <a:buNone/>
              <a:defRPr sz="5612"/>
            </a:lvl3pPr>
            <a:lvl4pPr marL="3207487" indent="0">
              <a:buNone/>
              <a:defRPr sz="4677"/>
            </a:lvl4pPr>
            <a:lvl5pPr marL="4276649" indent="0">
              <a:buNone/>
              <a:defRPr sz="4677"/>
            </a:lvl5pPr>
            <a:lvl6pPr marL="5345811" indent="0">
              <a:buNone/>
              <a:defRPr sz="4677"/>
            </a:lvl6pPr>
            <a:lvl7pPr marL="6414973" indent="0">
              <a:buNone/>
              <a:defRPr sz="4677"/>
            </a:lvl7pPr>
            <a:lvl8pPr marL="7484135" indent="0">
              <a:buNone/>
              <a:defRPr sz="4677"/>
            </a:lvl8pPr>
            <a:lvl9pPr marL="8553298" indent="0">
              <a:buNone/>
              <a:defRPr sz="4677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02837-0648-4C78-B908-73ED0AE9F674}" type="datetimeFigureOut">
              <a:rPr lang="fr-FR" smtClean="0"/>
              <a:t>16/09/2026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455-42C7-445B-AA1F-E9561F81BA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7207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02837-0648-4C78-B908-73ED0AE9F674}" type="datetimeFigureOut">
              <a:rPr lang="fr-FR" smtClean="0"/>
              <a:t>16/09/2026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455-42C7-445B-AA1F-E9561F81BA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0447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02658" y="1611875"/>
            <a:ext cx="4610844" cy="25656844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0125" y="1611875"/>
            <a:ext cx="13565237" cy="25656844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02837-0648-4C78-B908-73ED0AE9F674}" type="datetimeFigureOut">
              <a:rPr lang="fr-FR" smtClean="0"/>
              <a:t>16/09/2026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455-42C7-445B-AA1F-E9561F81BA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7786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0124" y="1611882"/>
            <a:ext cx="18443377" cy="5851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0124" y="8059374"/>
            <a:ext cx="18443377" cy="19209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902837-0648-4C78-B908-73ED0AE9F674}" type="datetimeFigureOut">
              <a:rPr lang="fr-FR" smtClean="0"/>
              <a:t>16/09/2026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83326" y="28060644"/>
            <a:ext cx="7216973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FFB455-42C7-445B-AA1F-E9561F81BA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6340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138324" rtl="0" eaLnBrk="1" latinLnBrk="0" hangingPunct="1">
        <a:lnSpc>
          <a:spcPct val="90000"/>
        </a:lnSpc>
        <a:spcBef>
          <a:spcPct val="0"/>
        </a:spcBef>
        <a:buNone/>
        <a:defRPr sz="102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4581" indent="-534581" algn="l" defTabSz="2138324" rtl="0" eaLnBrk="1" latinLnBrk="0" hangingPunct="1">
        <a:lnSpc>
          <a:spcPct val="90000"/>
        </a:lnSpc>
        <a:spcBef>
          <a:spcPts val="2339"/>
        </a:spcBef>
        <a:buFont typeface="Arial" panose="020B0604020202020204" pitchFamily="34" charset="0"/>
        <a:buChar char="•"/>
        <a:defRPr sz="6548" kern="1200">
          <a:solidFill>
            <a:schemeClr val="tx1"/>
          </a:solidFill>
          <a:latin typeface="+mn-lt"/>
          <a:ea typeface="+mn-ea"/>
          <a:cs typeface="+mn-cs"/>
        </a:defRPr>
      </a:lvl1pPr>
      <a:lvl2pPr marL="1603743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5612" kern="1200">
          <a:solidFill>
            <a:schemeClr val="tx1"/>
          </a:solidFill>
          <a:latin typeface="+mn-lt"/>
          <a:ea typeface="+mn-ea"/>
          <a:cs typeface="+mn-cs"/>
        </a:defRPr>
      </a:lvl2pPr>
      <a:lvl3pPr marL="2672906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677" kern="1200">
          <a:solidFill>
            <a:schemeClr val="tx1"/>
          </a:solidFill>
          <a:latin typeface="+mn-lt"/>
          <a:ea typeface="+mn-ea"/>
          <a:cs typeface="+mn-cs"/>
        </a:defRPr>
      </a:lvl3pPr>
      <a:lvl4pPr marL="3742068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811230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880392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949554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8018717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9087879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1pPr>
      <a:lvl2pPr marL="1069162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2pPr>
      <a:lvl3pPr marL="2138324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3pPr>
      <a:lvl4pPr marL="3207487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276649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345811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414973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7484135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8553298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jpg"/><Relationship Id="rId10" Type="http://schemas.openxmlformats.org/officeDocument/2006/relationships/image" Target="../media/image8.jp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>
            <a:extLst>
              <a:ext uri="{FF2B5EF4-FFF2-40B4-BE49-F238E27FC236}">
                <a16:creationId xmlns:a16="http://schemas.microsoft.com/office/drawing/2014/main" id="{1A43CE2B-597E-7D94-91AB-B6BAF068EB7E}"/>
              </a:ext>
            </a:extLst>
          </p:cNvPr>
          <p:cNvSpPr/>
          <p:nvPr/>
        </p:nvSpPr>
        <p:spPr>
          <a:xfrm>
            <a:off x="10968846" y="4372089"/>
            <a:ext cx="10053808" cy="720000"/>
          </a:xfrm>
          <a:prstGeom prst="rect">
            <a:avLst/>
          </a:prstGeom>
          <a:solidFill>
            <a:srgbClr val="1B365D"/>
          </a:solidFill>
          <a:ln w="38100">
            <a:solidFill>
              <a:srgbClr val="1B36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lang="fr-FR" b="1" dirty="0">
                <a:solidFill>
                  <a:srgbClr val="FFFFFF"/>
                </a:solidFill>
                <a:latin typeface="Aptos Display"/>
              </a:rPr>
              <a:t>ORGANIGRAMME</a:t>
            </a:r>
            <a:r>
              <a:rPr lang="fr-FR" sz="1800" b="1" noProof="0" dirty="0">
                <a:solidFill>
                  <a:srgbClr val="FFFFFF"/>
                </a:solidFill>
                <a:latin typeface="Aptos Display"/>
              </a:rPr>
              <a:t> DE LA SOLUTION PROPOSÉE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AFD2F82-85D0-3FF1-8D1A-F02ECD8B7989}"/>
              </a:ext>
            </a:extLst>
          </p:cNvPr>
          <p:cNvSpPr/>
          <p:nvPr/>
        </p:nvSpPr>
        <p:spPr>
          <a:xfrm>
            <a:off x="-12538" y="3617699"/>
            <a:ext cx="21408699" cy="479345"/>
          </a:xfrm>
          <a:prstGeom prst="rect">
            <a:avLst/>
          </a:prstGeom>
          <a:solidFill>
            <a:srgbClr val="EEF2F7"/>
          </a:solidFill>
          <a:ln w="12700">
            <a:solidFill>
              <a:srgbClr val="C3D0DE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lang="fr-FR" sz="1750" b="1" noProof="0" dirty="0">
                <a:solidFill>
                  <a:srgbClr val="102C57"/>
                </a:solidFill>
                <a:latin typeface="Aptos Display"/>
              </a:rPr>
              <a:t>Mots-clés : </a:t>
            </a:r>
            <a:r>
              <a:rPr lang="fr-FR" sz="1650" b="0" noProof="0" dirty="0">
                <a:solidFill>
                  <a:srgbClr val="141E32"/>
                </a:solidFill>
                <a:latin typeface="Aptos"/>
              </a:rPr>
              <a:t>archivage numérique, reconnaissance de texte manuscrit (HTR), traitement automatisé, </a:t>
            </a:r>
            <a:r>
              <a:rPr lang="fr-FR" sz="1650" b="0" noProof="0" dirty="0" err="1">
                <a:solidFill>
                  <a:srgbClr val="141E32"/>
                </a:solidFill>
                <a:latin typeface="Aptos"/>
              </a:rPr>
              <a:t>Géofoncier</a:t>
            </a:r>
            <a:r>
              <a:rPr lang="fr-FR" sz="1650" b="0" noProof="0" dirty="0">
                <a:solidFill>
                  <a:srgbClr val="141E32"/>
                </a:solidFill>
                <a:latin typeface="Aptos"/>
              </a:rPr>
              <a:t>, intelligence artificielle, géomètre-expert, vision par ordinateur.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77510B-A9DF-B6EE-87A7-1BA65B9F6859}"/>
              </a:ext>
            </a:extLst>
          </p:cNvPr>
          <p:cNvSpPr/>
          <p:nvPr/>
        </p:nvSpPr>
        <p:spPr>
          <a:xfrm>
            <a:off x="15564162" y="1462008"/>
            <a:ext cx="5832000" cy="2153112"/>
          </a:xfrm>
          <a:prstGeom prst="rect">
            <a:avLst/>
          </a:prstGeom>
          <a:solidFill>
            <a:srgbClr val="F8FAFD"/>
          </a:solidFill>
          <a:ln w="15240">
            <a:solidFill>
              <a:srgbClr val="102C57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101600" tIns="76200" rIns="101600" bIns="76200" rtlCol="0" anchor="ctr"/>
          <a:lstStyle/>
          <a:p>
            <a:pPr>
              <a:spcBef>
                <a:spcPts val="0"/>
              </a:spcBef>
              <a:spcAft>
                <a:spcPts val="150"/>
              </a:spcAft>
            </a:pPr>
            <a:r>
              <a:rPr lang="fr-FR" sz="1550" b="1" noProof="0" dirty="0">
                <a:solidFill>
                  <a:srgbClr val="102C57"/>
                </a:solidFill>
                <a:latin typeface="Aptos Display"/>
              </a:rPr>
              <a:t> Auteur : </a:t>
            </a:r>
            <a:r>
              <a:rPr lang="fr-FR" sz="1550" b="1" noProof="0" dirty="0">
                <a:solidFill>
                  <a:srgbClr val="0284C7"/>
                </a:solidFill>
                <a:latin typeface="Aptos Display"/>
              </a:rPr>
              <a:t>TRAVAILLÉ Adrien</a:t>
            </a:r>
          </a:p>
          <a:p>
            <a:pPr>
              <a:spcBef>
                <a:spcPts val="300"/>
              </a:spcBef>
              <a:spcAft>
                <a:spcPts val="150"/>
              </a:spcAft>
            </a:pPr>
            <a:endParaRPr lang="fr-FR" sz="1550" b="1" noProof="0" dirty="0">
              <a:solidFill>
                <a:srgbClr val="0284C7"/>
              </a:solidFill>
              <a:latin typeface="Aptos Display"/>
            </a:endParaRPr>
          </a:p>
          <a:p>
            <a:pPr>
              <a:spcBef>
                <a:spcPts val="300"/>
              </a:spcBef>
              <a:spcAft>
                <a:spcPts val="150"/>
              </a:spcAft>
            </a:pPr>
            <a:r>
              <a:rPr lang="fr-FR" sz="1250" b="1" noProof="0" dirty="0">
                <a:solidFill>
                  <a:srgbClr val="102C57"/>
                </a:solidFill>
                <a:latin typeface="Aptos"/>
              </a:rPr>
              <a:t> Date de soutenance : </a:t>
            </a:r>
            <a:r>
              <a:rPr lang="fr-FR" sz="1250" b="0" noProof="0" dirty="0">
                <a:solidFill>
                  <a:srgbClr val="141E32"/>
                </a:solidFill>
                <a:latin typeface="Aptos"/>
              </a:rPr>
              <a:t>24 septembre 2026 (10h30)</a:t>
            </a:r>
          </a:p>
          <a:p>
            <a:pPr>
              <a:spcBef>
                <a:spcPts val="300"/>
              </a:spcBef>
              <a:spcAft>
                <a:spcPts val="150"/>
              </a:spcAft>
            </a:pPr>
            <a:r>
              <a:rPr lang="fr-FR" sz="1250" b="1" noProof="0" dirty="0">
                <a:solidFill>
                  <a:srgbClr val="102C57"/>
                </a:solidFill>
                <a:latin typeface="Aptos"/>
              </a:rPr>
              <a:t> Tuteur entreprise : </a:t>
            </a:r>
            <a:r>
              <a:rPr lang="fr-FR" sz="1250" b="0" noProof="0" dirty="0">
                <a:solidFill>
                  <a:srgbClr val="141E32"/>
                </a:solidFill>
                <a:latin typeface="Aptos"/>
              </a:rPr>
              <a:t>M. Gaëtan HAGUE (GEO-SIAPP)</a:t>
            </a:r>
          </a:p>
          <a:p>
            <a:pPr>
              <a:spcBef>
                <a:spcPts val="300"/>
              </a:spcBef>
              <a:spcAft>
                <a:spcPts val="150"/>
              </a:spcAft>
            </a:pPr>
            <a:r>
              <a:rPr lang="fr-FR" sz="1250" b="1" noProof="0" dirty="0">
                <a:solidFill>
                  <a:srgbClr val="102C57"/>
                </a:solidFill>
                <a:latin typeface="Aptos"/>
              </a:rPr>
              <a:t> Correcteur : </a:t>
            </a:r>
            <a:r>
              <a:rPr lang="fr-FR" sz="1250" b="0" noProof="0" dirty="0">
                <a:solidFill>
                  <a:srgbClr val="141E32"/>
                </a:solidFill>
                <a:latin typeface="Aptos"/>
              </a:rPr>
              <a:t>M. Mathieu KOEHL (INSA Strasbourg)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AA14CA-1223-0E89-D63D-3F3EEBE6D784}"/>
              </a:ext>
            </a:extLst>
          </p:cNvPr>
          <p:cNvSpPr/>
          <p:nvPr/>
        </p:nvSpPr>
        <p:spPr>
          <a:xfrm>
            <a:off x="29633" y="-1"/>
            <a:ext cx="21346594" cy="1440215"/>
          </a:xfrm>
          <a:prstGeom prst="rect">
            <a:avLst/>
          </a:prstGeom>
          <a:solidFill>
            <a:srgbClr val="102C57"/>
          </a:solidFill>
          <a:ln w="57150">
            <a:solidFill>
              <a:srgbClr val="102C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lang="fr-FR" sz="2600" b="1" noProof="0" dirty="0">
                <a:solidFill>
                  <a:srgbClr val="FFFFFF"/>
                </a:solidFill>
                <a:latin typeface="Aptos Display"/>
              </a:rPr>
              <a:t>DÉVELOPPEMENT D'UN OUTIL PERMETTANT LE TRAITEMENT ET L'INSERTION</a:t>
            </a:r>
          </a:p>
          <a:p>
            <a:pPr algn="ctr">
              <a:spcBef>
                <a:spcPts val="300"/>
              </a:spcBef>
              <a:spcAft>
                <a:spcPts val="150"/>
              </a:spcAft>
            </a:pPr>
            <a:r>
              <a:rPr lang="fr-FR" sz="2300" b="1" noProof="0" dirty="0">
                <a:solidFill>
                  <a:srgbClr val="FFFFFF"/>
                </a:solidFill>
                <a:latin typeface="Aptos Display"/>
              </a:rPr>
              <a:t>DES ARCHIVES NUMÉRIQUES SUR GÉOFONCIER AU SEIN D'UN CABINET DE GÉOMÈTRE-EXPERT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7FE42F-C37F-BF21-43CB-EF5BC6E50149}"/>
              </a:ext>
            </a:extLst>
          </p:cNvPr>
          <p:cNvSpPr/>
          <p:nvPr/>
        </p:nvSpPr>
        <p:spPr>
          <a:xfrm>
            <a:off x="-12537" y="1445900"/>
            <a:ext cx="21384000" cy="2160000"/>
          </a:xfrm>
          <a:prstGeom prst="rect">
            <a:avLst/>
          </a:prstGeom>
          <a:noFill/>
          <a:ln w="5715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808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28291B7-7F3A-6B24-11C8-E005D0449A6E}"/>
              </a:ext>
            </a:extLst>
          </p:cNvPr>
          <p:cNvSpPr/>
          <p:nvPr/>
        </p:nvSpPr>
        <p:spPr>
          <a:xfrm>
            <a:off x="12162" y="1440000"/>
            <a:ext cx="9720000" cy="2171798"/>
          </a:xfrm>
          <a:prstGeom prst="rect">
            <a:avLst/>
          </a:prstGeom>
          <a:noFill/>
          <a:ln w="5715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101600" tIns="76200" rIns="101600" bIns="76200" rtlCol="0" anchor="t"/>
          <a:lstStyle/>
          <a:p>
            <a:endParaRPr lang="fr-FR" noProof="0" dirty="0"/>
          </a:p>
        </p:txBody>
      </p:sp>
      <p:pic>
        <p:nvPicPr>
          <p:cNvPr id="11" name="Image 10" descr="Logo Insa Strasbourg - Alsace Tech">
            <a:extLst>
              <a:ext uri="{FF2B5EF4-FFF2-40B4-BE49-F238E27FC236}">
                <a16:creationId xmlns:a16="http://schemas.microsoft.com/office/drawing/2014/main" id="{D9C9E6EF-E8A6-D073-09A1-9508964B3C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399" y="1897611"/>
            <a:ext cx="4473107" cy="1254400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5C34E924-BFA8-C884-218E-08B0BC1731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2532" y="1879766"/>
            <a:ext cx="1539119" cy="1518689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65F47ADF-896F-181B-6556-45A0E815F7B8}"/>
              </a:ext>
            </a:extLst>
          </p:cNvPr>
          <p:cNvSpPr/>
          <p:nvPr/>
        </p:nvSpPr>
        <p:spPr>
          <a:xfrm>
            <a:off x="471487" y="9220505"/>
            <a:ext cx="10048249" cy="720000"/>
          </a:xfrm>
          <a:prstGeom prst="rect">
            <a:avLst/>
          </a:prstGeom>
          <a:solidFill>
            <a:srgbClr val="1B365D"/>
          </a:solidFill>
          <a:ln w="38100">
            <a:solidFill>
              <a:srgbClr val="1B36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lang="fr-FR" sz="1800" b="1" noProof="0" dirty="0">
                <a:solidFill>
                  <a:srgbClr val="FFFFFF"/>
                </a:solidFill>
                <a:latin typeface="Aptos Display"/>
              </a:rPr>
              <a:t>TECHNOLOGIES </a:t>
            </a:r>
            <a:r>
              <a:rPr lang="fr-FR" b="1" dirty="0">
                <a:solidFill>
                  <a:srgbClr val="FFFFFF"/>
                </a:solidFill>
                <a:latin typeface="Aptos Display"/>
              </a:rPr>
              <a:t>ET </a:t>
            </a:r>
            <a:r>
              <a:rPr lang="fr-FR" sz="1800" b="1" noProof="0" dirty="0">
                <a:solidFill>
                  <a:srgbClr val="FFFFFF"/>
                </a:solidFill>
                <a:latin typeface="Aptos Display"/>
              </a:rPr>
              <a:t>EXTRACTION DES DONNÉES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9DF61F6-AAE1-CAA5-8952-7AE503ED2EA2}"/>
              </a:ext>
            </a:extLst>
          </p:cNvPr>
          <p:cNvSpPr/>
          <p:nvPr/>
        </p:nvSpPr>
        <p:spPr>
          <a:xfrm>
            <a:off x="457199" y="9940505"/>
            <a:ext cx="10080000" cy="7380216"/>
          </a:xfrm>
          <a:prstGeom prst="rect">
            <a:avLst/>
          </a:prstGeom>
          <a:solidFill>
            <a:srgbClr val="EEF2F7"/>
          </a:solidFill>
          <a:ln w="12700">
            <a:solidFill>
              <a:srgbClr val="C3D0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t"/>
          <a:lstStyle/>
          <a:p>
            <a:endParaRPr lang="fr-FR" noProof="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0A016C7-9D21-3D53-BE13-33C5A3073877}"/>
              </a:ext>
            </a:extLst>
          </p:cNvPr>
          <p:cNvSpPr/>
          <p:nvPr/>
        </p:nvSpPr>
        <p:spPr>
          <a:xfrm>
            <a:off x="471488" y="4390644"/>
            <a:ext cx="10048248" cy="677822"/>
          </a:xfrm>
          <a:prstGeom prst="rect">
            <a:avLst/>
          </a:prstGeom>
          <a:solidFill>
            <a:srgbClr val="1B365D"/>
          </a:solidFill>
          <a:ln w="38100">
            <a:solidFill>
              <a:srgbClr val="1B36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lang="fr-FR" sz="1800" b="1" noProof="0" dirty="0">
                <a:solidFill>
                  <a:srgbClr val="FFFFFF"/>
                </a:solidFill>
                <a:latin typeface="Aptos Display"/>
              </a:rPr>
              <a:t>CONTEXTE MÉTIER ET PROBLÉMATIQUE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09E38E0-3669-221C-C358-580A31DA740F}"/>
              </a:ext>
            </a:extLst>
          </p:cNvPr>
          <p:cNvSpPr/>
          <p:nvPr/>
        </p:nvSpPr>
        <p:spPr>
          <a:xfrm>
            <a:off x="457199" y="5092089"/>
            <a:ext cx="10080000" cy="3826989"/>
          </a:xfrm>
          <a:prstGeom prst="rect">
            <a:avLst/>
          </a:prstGeom>
          <a:solidFill>
            <a:srgbClr val="EEF2F7"/>
          </a:solidFill>
          <a:ln w="12700">
            <a:solidFill>
              <a:srgbClr val="C3D0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t"/>
          <a:lstStyle/>
          <a:p>
            <a:endParaRPr lang="fr-FR" noProof="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85D9145-7C72-8F44-84A1-4A33117A92E5}"/>
              </a:ext>
            </a:extLst>
          </p:cNvPr>
          <p:cNvSpPr/>
          <p:nvPr/>
        </p:nvSpPr>
        <p:spPr>
          <a:xfrm>
            <a:off x="498475" y="17567713"/>
            <a:ext cx="10053012" cy="720000"/>
          </a:xfrm>
          <a:prstGeom prst="rect">
            <a:avLst/>
          </a:prstGeom>
          <a:solidFill>
            <a:srgbClr val="1B365D"/>
          </a:solidFill>
          <a:ln w="38100">
            <a:solidFill>
              <a:srgbClr val="1B36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lang="fr-FR" sz="1800" b="1" noProof="0" dirty="0">
                <a:solidFill>
                  <a:srgbClr val="FFFFFF"/>
                </a:solidFill>
                <a:latin typeface="Aptos Display"/>
              </a:rPr>
              <a:t>VERIFICATION ET FIABILISATION DES DONNÉES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16FA398-7900-8DD8-786A-080670447FB5}"/>
              </a:ext>
            </a:extLst>
          </p:cNvPr>
          <p:cNvSpPr/>
          <p:nvPr/>
        </p:nvSpPr>
        <p:spPr>
          <a:xfrm>
            <a:off x="482752" y="18287713"/>
            <a:ext cx="10080000" cy="8283422"/>
          </a:xfrm>
          <a:prstGeom prst="rect">
            <a:avLst/>
          </a:prstGeom>
          <a:solidFill>
            <a:srgbClr val="EEF2F7"/>
          </a:solidFill>
          <a:ln w="12700">
            <a:solidFill>
              <a:srgbClr val="C3D0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t"/>
          <a:lstStyle/>
          <a:p>
            <a:endParaRPr lang="fr-FR" noProof="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EC09D84-B211-26FA-7172-089521ED66A2}"/>
              </a:ext>
            </a:extLst>
          </p:cNvPr>
          <p:cNvSpPr/>
          <p:nvPr/>
        </p:nvSpPr>
        <p:spPr>
          <a:xfrm>
            <a:off x="10970419" y="18210275"/>
            <a:ext cx="10045883" cy="720000"/>
          </a:xfrm>
          <a:prstGeom prst="rect">
            <a:avLst/>
          </a:prstGeom>
          <a:solidFill>
            <a:srgbClr val="1B365D"/>
          </a:solidFill>
          <a:ln w="38100">
            <a:solidFill>
              <a:srgbClr val="1B36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lang="fr-FR" sz="1750" b="1" noProof="0" dirty="0">
                <a:solidFill>
                  <a:srgbClr val="FFFFFF"/>
                </a:solidFill>
                <a:latin typeface="Aptos Display"/>
              </a:rPr>
              <a:t>INTERFACE DE VALIDATION / CONTRÔLE OPÉRATEUR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A224A6D-DD8D-B30A-FF9A-64A37AF8DF58}"/>
              </a:ext>
            </a:extLst>
          </p:cNvPr>
          <p:cNvSpPr/>
          <p:nvPr/>
        </p:nvSpPr>
        <p:spPr>
          <a:xfrm>
            <a:off x="10955352" y="18928388"/>
            <a:ext cx="10080000" cy="2342700"/>
          </a:xfrm>
          <a:prstGeom prst="rect">
            <a:avLst/>
          </a:prstGeom>
          <a:solidFill>
            <a:srgbClr val="EEF2F7"/>
          </a:solidFill>
          <a:ln w="12700">
            <a:solidFill>
              <a:srgbClr val="C3D0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t"/>
          <a:lstStyle/>
          <a:p>
            <a:endParaRPr lang="fr-FR" noProof="0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E95F335-E2FC-8E68-36B5-898CC9E2C70E}"/>
              </a:ext>
            </a:extLst>
          </p:cNvPr>
          <p:cNvSpPr/>
          <p:nvPr/>
        </p:nvSpPr>
        <p:spPr>
          <a:xfrm>
            <a:off x="10955352" y="5092089"/>
            <a:ext cx="10080000" cy="12800928"/>
          </a:xfrm>
          <a:prstGeom prst="rect">
            <a:avLst/>
          </a:prstGeom>
          <a:solidFill>
            <a:srgbClr val="EEF2F7"/>
          </a:solidFill>
          <a:ln w="12700">
            <a:solidFill>
              <a:srgbClr val="C3D0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t"/>
          <a:lstStyle/>
          <a:p>
            <a:endParaRPr lang="fr-FR" noProof="0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AEEF0F7-FD7A-6538-A5C9-B51EBAE5B468}"/>
              </a:ext>
            </a:extLst>
          </p:cNvPr>
          <p:cNvSpPr/>
          <p:nvPr/>
        </p:nvSpPr>
        <p:spPr>
          <a:xfrm>
            <a:off x="10974405" y="26230562"/>
            <a:ext cx="10048248" cy="720000"/>
          </a:xfrm>
          <a:prstGeom prst="rect">
            <a:avLst/>
          </a:prstGeom>
          <a:solidFill>
            <a:srgbClr val="1B365D"/>
          </a:solidFill>
          <a:ln w="38100">
            <a:solidFill>
              <a:srgbClr val="1B36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lang="fr-FR" sz="1750" b="1" noProof="0" dirty="0">
                <a:solidFill>
                  <a:srgbClr val="FFFFFF"/>
                </a:solidFill>
                <a:latin typeface="Aptos Display"/>
              </a:rPr>
              <a:t>PERSPECTIVES D'ÉVOLUTION ET DÉMONSTRATION VIDÉO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5C5B40C-13E7-5B86-3A1B-8B1D2A4D65CB}"/>
              </a:ext>
            </a:extLst>
          </p:cNvPr>
          <p:cNvSpPr/>
          <p:nvPr/>
        </p:nvSpPr>
        <p:spPr>
          <a:xfrm>
            <a:off x="10955352" y="26948674"/>
            <a:ext cx="10080000" cy="3077709"/>
          </a:xfrm>
          <a:prstGeom prst="rect">
            <a:avLst/>
          </a:prstGeom>
          <a:solidFill>
            <a:srgbClr val="EEF2F7"/>
          </a:solidFill>
          <a:ln w="12700">
            <a:solidFill>
              <a:srgbClr val="C3D0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t"/>
          <a:lstStyle/>
          <a:p>
            <a:endParaRPr lang="fr-FR" noProof="0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4E3554C-D155-C3B7-9E36-A9A34496E0E2}"/>
              </a:ext>
            </a:extLst>
          </p:cNvPr>
          <p:cNvSpPr/>
          <p:nvPr/>
        </p:nvSpPr>
        <p:spPr>
          <a:xfrm>
            <a:off x="14619227" y="5505420"/>
            <a:ext cx="2752249" cy="564578"/>
          </a:xfrm>
          <a:prstGeom prst="rect">
            <a:avLst/>
          </a:prstGeom>
          <a:solidFill>
            <a:srgbClr val="F0F9FF"/>
          </a:solidFill>
          <a:ln w="17780">
            <a:solidFill>
              <a:srgbClr val="102C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50"/>
              </a:spcAft>
            </a:pPr>
            <a:r>
              <a:rPr lang="fr-FR" sz="1050" b="1" noProof="0" dirty="0">
                <a:solidFill>
                  <a:srgbClr val="102C57"/>
                </a:solidFill>
                <a:latin typeface="Aptos Display"/>
              </a:rPr>
              <a:t>Archives papier du cabinet</a:t>
            </a:r>
          </a:p>
          <a:p>
            <a:pPr algn="ctr">
              <a:spcBef>
                <a:spcPts val="150"/>
              </a:spcBef>
              <a:spcAft>
                <a:spcPts val="50"/>
              </a:spcAft>
            </a:pPr>
            <a:r>
              <a:rPr lang="fr-FR" sz="880" b="0" noProof="0" dirty="0">
                <a:solidFill>
                  <a:srgbClr val="64748B"/>
                </a:solidFill>
                <a:latin typeface="Aptos"/>
              </a:rPr>
              <a:t>Fonds historique de 1959 à 2007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9C422AE-6F28-569D-C102-FA6230DCD180}"/>
              </a:ext>
            </a:extLst>
          </p:cNvPr>
          <p:cNvSpPr/>
          <p:nvPr/>
        </p:nvSpPr>
        <p:spPr>
          <a:xfrm>
            <a:off x="11389798" y="6356491"/>
            <a:ext cx="2752249" cy="564578"/>
          </a:xfrm>
          <a:prstGeom prst="rect">
            <a:avLst/>
          </a:prstGeom>
          <a:solidFill>
            <a:srgbClr val="F0F9FF"/>
          </a:solidFill>
          <a:ln w="15240">
            <a:solidFill>
              <a:srgbClr val="1B36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50"/>
              </a:spcAft>
            </a:pPr>
            <a:r>
              <a:rPr lang="fr-FR" sz="1050" b="1" noProof="0" dirty="0">
                <a:solidFill>
                  <a:srgbClr val="102C57"/>
                </a:solidFill>
                <a:latin typeface="Aptos Display"/>
              </a:rPr>
              <a:t>Répertoires </a:t>
            </a:r>
          </a:p>
          <a:p>
            <a:pPr algn="ctr">
              <a:spcBef>
                <a:spcPts val="0"/>
              </a:spcBef>
              <a:spcAft>
                <a:spcPts val="50"/>
              </a:spcAft>
            </a:pPr>
            <a:r>
              <a:rPr lang="fr-FR" sz="880" b="0" noProof="0" dirty="0">
                <a:solidFill>
                  <a:srgbClr val="64748B"/>
                </a:solidFill>
                <a:latin typeface="Aptos"/>
              </a:rPr>
              <a:t>Actes, dates et noms de clients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45A2570-4C19-296F-51E3-3FBBBA202139}"/>
              </a:ext>
            </a:extLst>
          </p:cNvPr>
          <p:cNvSpPr/>
          <p:nvPr/>
        </p:nvSpPr>
        <p:spPr>
          <a:xfrm>
            <a:off x="17716037" y="6356491"/>
            <a:ext cx="2752249" cy="564578"/>
          </a:xfrm>
          <a:prstGeom prst="rect">
            <a:avLst/>
          </a:prstGeom>
          <a:solidFill>
            <a:srgbClr val="F0F9FF"/>
          </a:solidFill>
          <a:ln w="15240">
            <a:solidFill>
              <a:srgbClr val="1B36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50"/>
              </a:spcAft>
            </a:pPr>
            <a:r>
              <a:rPr lang="fr-FR" sz="1050" b="1" noProof="0" dirty="0">
                <a:solidFill>
                  <a:srgbClr val="102C57"/>
                </a:solidFill>
                <a:latin typeface="Aptos Display"/>
              </a:rPr>
              <a:t>DMPC et plans d'arpentage</a:t>
            </a:r>
          </a:p>
          <a:p>
            <a:pPr algn="ctr">
              <a:spcBef>
                <a:spcPts val="150"/>
              </a:spcBef>
              <a:spcAft>
                <a:spcPts val="50"/>
              </a:spcAft>
            </a:pPr>
            <a:r>
              <a:rPr lang="fr-FR" sz="880" b="0" noProof="0" dirty="0">
                <a:solidFill>
                  <a:srgbClr val="64748B"/>
                </a:solidFill>
                <a:latin typeface="Aptos"/>
              </a:rPr>
              <a:t>Procès-verbaux, croqui</a:t>
            </a:r>
            <a:r>
              <a:rPr lang="fr-FR" sz="880" noProof="0" dirty="0">
                <a:solidFill>
                  <a:srgbClr val="64748B"/>
                </a:solidFill>
                <a:latin typeface="Aptos"/>
              </a:rPr>
              <a:t>s, feuille…</a:t>
            </a:r>
            <a:endParaRPr lang="fr-FR" sz="880" b="0" noProof="0" dirty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65" name="Flèche : bas 64">
            <a:extLst>
              <a:ext uri="{FF2B5EF4-FFF2-40B4-BE49-F238E27FC236}">
                <a16:creationId xmlns:a16="http://schemas.microsoft.com/office/drawing/2014/main" id="{80BC46B5-A9B9-BE62-F094-52589373C37D}"/>
              </a:ext>
            </a:extLst>
          </p:cNvPr>
          <p:cNvSpPr/>
          <p:nvPr/>
        </p:nvSpPr>
        <p:spPr>
          <a:xfrm rot="8660010">
            <a:off x="13818642" y="5866412"/>
            <a:ext cx="564578" cy="280905"/>
          </a:xfrm>
          <a:prstGeom prst="notchedRightArrow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67" name="Flèche : bas 66">
            <a:extLst>
              <a:ext uri="{FF2B5EF4-FFF2-40B4-BE49-F238E27FC236}">
                <a16:creationId xmlns:a16="http://schemas.microsoft.com/office/drawing/2014/main" id="{5C9578CC-0C28-91BB-1750-34E3F2E38E5A}"/>
              </a:ext>
            </a:extLst>
          </p:cNvPr>
          <p:cNvSpPr/>
          <p:nvPr/>
        </p:nvSpPr>
        <p:spPr>
          <a:xfrm rot="2293019">
            <a:off x="17604925" y="5856039"/>
            <a:ext cx="564578" cy="280905"/>
          </a:xfrm>
          <a:prstGeom prst="notchedRightArrow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580E76C0-F8D6-C2E0-7B74-BAC82AF6992E}"/>
              </a:ext>
            </a:extLst>
          </p:cNvPr>
          <p:cNvSpPr/>
          <p:nvPr/>
        </p:nvSpPr>
        <p:spPr>
          <a:xfrm>
            <a:off x="14619226" y="7383113"/>
            <a:ext cx="2752249" cy="564578"/>
          </a:xfrm>
          <a:prstGeom prst="rect">
            <a:avLst/>
          </a:prstGeom>
          <a:solidFill>
            <a:srgbClr val="FFFFFF"/>
          </a:solidFill>
          <a:ln w="16510">
            <a:solidFill>
              <a:srgbClr val="102C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50"/>
              </a:spcAft>
            </a:pPr>
            <a:r>
              <a:rPr lang="fr-FR" sz="1050" b="1" noProof="0" dirty="0">
                <a:solidFill>
                  <a:srgbClr val="102C57"/>
                </a:solidFill>
                <a:latin typeface="Aptos Display"/>
              </a:rPr>
              <a:t>Numérisation et tri</a:t>
            </a:r>
          </a:p>
          <a:p>
            <a:pPr algn="ctr">
              <a:spcBef>
                <a:spcPts val="150"/>
              </a:spcBef>
              <a:spcAft>
                <a:spcPts val="50"/>
              </a:spcAft>
            </a:pPr>
            <a:r>
              <a:rPr lang="fr-FR" sz="880" b="0" noProof="0" dirty="0">
                <a:solidFill>
                  <a:srgbClr val="64748B"/>
                </a:solidFill>
                <a:latin typeface="Aptos"/>
              </a:rPr>
              <a:t>Scanné et </a:t>
            </a:r>
            <a:r>
              <a:rPr lang="fr-FR" sz="880" noProof="0" dirty="0">
                <a:solidFill>
                  <a:srgbClr val="64748B"/>
                </a:solidFill>
                <a:latin typeface="Aptos"/>
              </a:rPr>
              <a:t>orienté vers le traitement adéquat</a:t>
            </a:r>
            <a:endParaRPr lang="fr-FR" sz="880" b="0" noProof="0" dirty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73" name="Flèche : bas 72">
            <a:extLst>
              <a:ext uri="{FF2B5EF4-FFF2-40B4-BE49-F238E27FC236}">
                <a16:creationId xmlns:a16="http://schemas.microsoft.com/office/drawing/2014/main" id="{7852E481-22F0-F300-3F35-368DF6017E5C}"/>
              </a:ext>
            </a:extLst>
          </p:cNvPr>
          <p:cNvSpPr/>
          <p:nvPr/>
        </p:nvSpPr>
        <p:spPr>
          <a:xfrm rot="2293019">
            <a:off x="13821196" y="7176694"/>
            <a:ext cx="564578" cy="280905"/>
          </a:xfrm>
          <a:prstGeom prst="notchedRightArrow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75" name="Flèche : bas 74">
            <a:extLst>
              <a:ext uri="{FF2B5EF4-FFF2-40B4-BE49-F238E27FC236}">
                <a16:creationId xmlns:a16="http://schemas.microsoft.com/office/drawing/2014/main" id="{F38D359E-682D-7DE0-A116-4765F5BF8C46}"/>
              </a:ext>
            </a:extLst>
          </p:cNvPr>
          <p:cNvSpPr/>
          <p:nvPr/>
        </p:nvSpPr>
        <p:spPr>
          <a:xfrm rot="8660010">
            <a:off x="17602371" y="7176695"/>
            <a:ext cx="564578" cy="280905"/>
          </a:xfrm>
          <a:prstGeom prst="notchedRightArrow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77" name="Flèche : bas 76">
            <a:extLst>
              <a:ext uri="{FF2B5EF4-FFF2-40B4-BE49-F238E27FC236}">
                <a16:creationId xmlns:a16="http://schemas.microsoft.com/office/drawing/2014/main" id="{0A729E50-300D-63E3-BECB-E26DB4BD1590}"/>
              </a:ext>
            </a:extLst>
          </p:cNvPr>
          <p:cNvSpPr/>
          <p:nvPr/>
        </p:nvSpPr>
        <p:spPr>
          <a:xfrm rot="8660010">
            <a:off x="13859758" y="7851471"/>
            <a:ext cx="564578" cy="280905"/>
          </a:xfrm>
          <a:prstGeom prst="notchedRightArrow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79" name="Flèche : bas 78">
            <a:extLst>
              <a:ext uri="{FF2B5EF4-FFF2-40B4-BE49-F238E27FC236}">
                <a16:creationId xmlns:a16="http://schemas.microsoft.com/office/drawing/2014/main" id="{F471A0C3-921E-8DE0-C317-44F1F7C51D77}"/>
              </a:ext>
            </a:extLst>
          </p:cNvPr>
          <p:cNvSpPr/>
          <p:nvPr/>
        </p:nvSpPr>
        <p:spPr>
          <a:xfrm rot="2293019">
            <a:off x="17604926" y="7851471"/>
            <a:ext cx="564578" cy="280905"/>
          </a:xfrm>
          <a:prstGeom prst="notchedRightArrow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6E1BDC9F-E4B1-FC48-58F7-68DBD4CCCFE4}"/>
              </a:ext>
            </a:extLst>
          </p:cNvPr>
          <p:cNvSpPr/>
          <p:nvPr/>
        </p:nvSpPr>
        <p:spPr>
          <a:xfrm>
            <a:off x="11441291" y="8340927"/>
            <a:ext cx="2752249" cy="564578"/>
          </a:xfrm>
          <a:prstGeom prst="rect">
            <a:avLst/>
          </a:prstGeom>
          <a:solidFill>
            <a:srgbClr val="FFFFFF"/>
          </a:solidFill>
          <a:ln w="12700">
            <a:solidFill>
              <a:srgbClr val="1B36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50"/>
              </a:spcAft>
            </a:pPr>
            <a:r>
              <a:rPr lang="fr-FR" sz="1050" b="1" noProof="0" dirty="0">
                <a:solidFill>
                  <a:srgbClr val="102C57"/>
                </a:solidFill>
                <a:latin typeface="Aptos Display"/>
              </a:rPr>
              <a:t>Recherche d'antériorité</a:t>
            </a:r>
          </a:p>
          <a:p>
            <a:pPr algn="ctr">
              <a:spcBef>
                <a:spcPts val="150"/>
              </a:spcBef>
              <a:spcAft>
                <a:spcPts val="50"/>
              </a:spcAft>
            </a:pPr>
            <a:r>
              <a:rPr lang="fr-FR" sz="880" b="0" noProof="0" dirty="0">
                <a:solidFill>
                  <a:srgbClr val="64748B"/>
                </a:solidFill>
                <a:latin typeface="Aptos"/>
              </a:rPr>
              <a:t>Recherche si page déjà scannée</a:t>
            </a:r>
          </a:p>
        </p:txBody>
      </p:sp>
      <p:sp>
        <p:nvSpPr>
          <p:cNvPr id="83" name="Flèche : bas 82">
            <a:extLst>
              <a:ext uri="{FF2B5EF4-FFF2-40B4-BE49-F238E27FC236}">
                <a16:creationId xmlns:a16="http://schemas.microsoft.com/office/drawing/2014/main" id="{DDB85A23-1B0C-2E45-5A85-FC960C8104F2}"/>
              </a:ext>
            </a:extLst>
          </p:cNvPr>
          <p:cNvSpPr/>
          <p:nvPr/>
        </p:nvSpPr>
        <p:spPr>
          <a:xfrm rot="5400000">
            <a:off x="12637413" y="9098123"/>
            <a:ext cx="360000" cy="280905"/>
          </a:xfrm>
          <a:prstGeom prst="notchedRightArrow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86" name="Ellipse 85">
            <a:extLst>
              <a:ext uri="{FF2B5EF4-FFF2-40B4-BE49-F238E27FC236}">
                <a16:creationId xmlns:a16="http://schemas.microsoft.com/office/drawing/2014/main" id="{ABE0BFB8-8788-50F1-ED46-24E6101EFAD9}"/>
              </a:ext>
            </a:extLst>
          </p:cNvPr>
          <p:cNvSpPr/>
          <p:nvPr/>
        </p:nvSpPr>
        <p:spPr>
          <a:xfrm>
            <a:off x="11441288" y="11327755"/>
            <a:ext cx="2752249" cy="56457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50"/>
              </a:spcAft>
            </a:pPr>
            <a:r>
              <a:rPr lang="fr-FR" sz="1050" b="1" noProof="0" dirty="0">
                <a:solidFill>
                  <a:srgbClr val="102C57"/>
                </a:solidFill>
                <a:latin typeface="Aptos Display"/>
              </a:rPr>
              <a:t>Cadastre IGN et DGFiP</a:t>
            </a:r>
          </a:p>
          <a:p>
            <a:pPr algn="ctr">
              <a:spcBef>
                <a:spcPts val="150"/>
              </a:spcBef>
              <a:spcAft>
                <a:spcPts val="50"/>
              </a:spcAft>
            </a:pPr>
            <a:r>
              <a:rPr lang="fr-FR" sz="880" b="0" noProof="0" dirty="0">
                <a:solidFill>
                  <a:srgbClr val="64748B"/>
                </a:solidFill>
                <a:latin typeface="Aptos"/>
              </a:rPr>
              <a:t>Filiation parcellaire (flux WFS)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66FBF62E-6ACD-DF2A-175C-FF3A494E7C33}"/>
              </a:ext>
            </a:extLst>
          </p:cNvPr>
          <p:cNvSpPr/>
          <p:nvPr/>
        </p:nvSpPr>
        <p:spPr>
          <a:xfrm>
            <a:off x="11441291" y="9571646"/>
            <a:ext cx="2752249" cy="564578"/>
          </a:xfrm>
          <a:prstGeom prst="rect">
            <a:avLst/>
          </a:prstGeom>
          <a:solidFill>
            <a:srgbClr val="E0F2FE"/>
          </a:solidFill>
          <a:ln w="17780">
            <a:solidFill>
              <a:srgbClr val="0284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50"/>
              </a:spcAft>
            </a:pPr>
            <a:r>
              <a:rPr lang="fr-FR" sz="1050" b="1" noProof="0" dirty="0">
                <a:solidFill>
                  <a:srgbClr val="102C57"/>
                </a:solidFill>
                <a:latin typeface="Aptos Display"/>
              </a:rPr>
              <a:t>Recherche automatique des informations</a:t>
            </a:r>
          </a:p>
          <a:p>
            <a:pPr algn="ctr">
              <a:spcBef>
                <a:spcPts val="0"/>
              </a:spcBef>
              <a:spcAft>
                <a:spcPts val="50"/>
              </a:spcAft>
            </a:pPr>
            <a:r>
              <a:rPr lang="fr-FR" sz="880" noProof="0" dirty="0">
                <a:solidFill>
                  <a:srgbClr val="102C57"/>
                </a:solidFill>
                <a:latin typeface="Aptos Display"/>
              </a:rPr>
              <a:t>Programme propre à chaque registre</a:t>
            </a:r>
            <a:endParaRPr lang="fr-FR" sz="880" noProof="0" dirty="0">
              <a:solidFill>
                <a:schemeClr val="bg2"/>
              </a:solidFill>
              <a:latin typeface="Aptos Display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3784DCF5-9B4B-BF17-8148-0B5FF94B7878}"/>
              </a:ext>
            </a:extLst>
          </p:cNvPr>
          <p:cNvSpPr/>
          <p:nvPr/>
        </p:nvSpPr>
        <p:spPr>
          <a:xfrm>
            <a:off x="17716036" y="8340927"/>
            <a:ext cx="2752249" cy="564578"/>
          </a:xfrm>
          <a:prstGeom prst="rect">
            <a:avLst/>
          </a:prstGeom>
          <a:solidFill>
            <a:srgbClr val="F5F8FF"/>
          </a:solidFill>
          <a:ln w="15240">
            <a:solidFill>
              <a:srgbClr val="0284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50"/>
              </a:spcAft>
            </a:pPr>
            <a:r>
              <a:rPr lang="fr-FR" sz="1050" b="1" noProof="0" dirty="0">
                <a:solidFill>
                  <a:srgbClr val="102C57"/>
                </a:solidFill>
                <a:latin typeface="Aptos Display"/>
              </a:rPr>
              <a:t>Découpage visuel YOLOv8</a:t>
            </a:r>
          </a:p>
          <a:p>
            <a:pPr algn="ctr">
              <a:spcBef>
                <a:spcPts val="150"/>
              </a:spcBef>
              <a:spcAft>
                <a:spcPts val="50"/>
              </a:spcAft>
            </a:pPr>
            <a:r>
              <a:rPr lang="fr-FR" sz="880" b="0" noProof="0" dirty="0">
                <a:solidFill>
                  <a:srgbClr val="64748B"/>
                </a:solidFill>
                <a:latin typeface="Aptos"/>
              </a:rPr>
              <a:t>spatial_extracteur.py</a:t>
            </a:r>
          </a:p>
        </p:txBody>
      </p:sp>
      <p:sp>
        <p:nvSpPr>
          <p:cNvPr id="92" name="Ellipse 91">
            <a:extLst>
              <a:ext uri="{FF2B5EF4-FFF2-40B4-BE49-F238E27FC236}">
                <a16:creationId xmlns:a16="http://schemas.microsoft.com/office/drawing/2014/main" id="{0CDF88A6-B0EC-20D2-D173-C4E191155ECE}"/>
              </a:ext>
            </a:extLst>
          </p:cNvPr>
          <p:cNvSpPr/>
          <p:nvPr/>
        </p:nvSpPr>
        <p:spPr>
          <a:xfrm>
            <a:off x="17716036" y="9571646"/>
            <a:ext cx="2752249" cy="56457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50"/>
              </a:spcAft>
            </a:pPr>
            <a:r>
              <a:rPr lang="fr-FR" sz="1050" b="1" noProof="0" dirty="0">
                <a:solidFill>
                  <a:srgbClr val="102C57"/>
                </a:solidFill>
                <a:latin typeface="Aptos Display"/>
              </a:rPr>
              <a:t>Prétraitement </a:t>
            </a:r>
            <a:r>
              <a:rPr lang="fr-FR" sz="1050" b="1" noProof="0" dirty="0" err="1">
                <a:solidFill>
                  <a:srgbClr val="102C57"/>
                </a:solidFill>
                <a:latin typeface="Aptos Display"/>
              </a:rPr>
              <a:t>OpenCV</a:t>
            </a:r>
            <a:endParaRPr lang="fr-FR" sz="1050" b="1" noProof="0" dirty="0">
              <a:solidFill>
                <a:srgbClr val="102C57"/>
              </a:solidFill>
              <a:latin typeface="Aptos Display"/>
            </a:endParaRPr>
          </a:p>
          <a:p>
            <a:pPr algn="ctr">
              <a:spcBef>
                <a:spcPts val="150"/>
              </a:spcBef>
              <a:spcAft>
                <a:spcPts val="50"/>
              </a:spcAft>
            </a:pPr>
            <a:r>
              <a:rPr lang="fr-FR" sz="880" b="0" noProof="0" dirty="0">
                <a:solidFill>
                  <a:srgbClr val="64748B"/>
                </a:solidFill>
                <a:latin typeface="Aptos"/>
              </a:rPr>
              <a:t>Redressement et binarisation</a:t>
            </a:r>
          </a:p>
        </p:txBody>
      </p:sp>
      <p:sp>
        <p:nvSpPr>
          <p:cNvPr id="94" name="Ellipse 93">
            <a:extLst>
              <a:ext uri="{FF2B5EF4-FFF2-40B4-BE49-F238E27FC236}">
                <a16:creationId xmlns:a16="http://schemas.microsoft.com/office/drawing/2014/main" id="{389E6787-D115-C55F-CDA0-6B93EF9E8220}"/>
              </a:ext>
            </a:extLst>
          </p:cNvPr>
          <p:cNvSpPr/>
          <p:nvPr/>
        </p:nvSpPr>
        <p:spPr>
          <a:xfrm>
            <a:off x="17716036" y="10802364"/>
            <a:ext cx="2752249" cy="56457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50"/>
              </a:spcAft>
            </a:pPr>
            <a:r>
              <a:rPr lang="fr-FR" sz="1050" b="1" noProof="0" dirty="0">
                <a:solidFill>
                  <a:srgbClr val="102C57"/>
                </a:solidFill>
                <a:latin typeface="Aptos Display"/>
              </a:rPr>
              <a:t>Lecture OCR et HTR</a:t>
            </a:r>
          </a:p>
          <a:p>
            <a:pPr algn="ctr">
              <a:spcBef>
                <a:spcPts val="150"/>
              </a:spcBef>
              <a:spcAft>
                <a:spcPts val="50"/>
              </a:spcAft>
            </a:pPr>
            <a:r>
              <a:rPr lang="fr-FR" sz="880" b="0" noProof="0" dirty="0" err="1">
                <a:solidFill>
                  <a:srgbClr val="64748B"/>
                </a:solidFill>
                <a:latin typeface="Aptos"/>
              </a:rPr>
              <a:t>TrOCR</a:t>
            </a:r>
            <a:r>
              <a:rPr lang="fr-FR" sz="880" b="0" noProof="0" dirty="0">
                <a:solidFill>
                  <a:srgbClr val="64748B"/>
                </a:solidFill>
                <a:latin typeface="Aptos"/>
              </a:rPr>
              <a:t> et </a:t>
            </a:r>
            <a:r>
              <a:rPr lang="fr-FR" sz="880" b="0" noProof="0" dirty="0" err="1">
                <a:solidFill>
                  <a:srgbClr val="64748B"/>
                </a:solidFill>
                <a:latin typeface="Aptos"/>
              </a:rPr>
              <a:t>EasyOCR</a:t>
            </a:r>
            <a:endParaRPr lang="fr-FR" sz="880" b="0" noProof="0" dirty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96" name="Flèche : bas 95">
            <a:extLst>
              <a:ext uri="{FF2B5EF4-FFF2-40B4-BE49-F238E27FC236}">
                <a16:creationId xmlns:a16="http://schemas.microsoft.com/office/drawing/2014/main" id="{3EE14149-EBDE-5977-67B6-960896C68ED4}"/>
              </a:ext>
            </a:extLst>
          </p:cNvPr>
          <p:cNvSpPr/>
          <p:nvPr/>
        </p:nvSpPr>
        <p:spPr>
          <a:xfrm rot="5400000">
            <a:off x="18912155" y="11559560"/>
            <a:ext cx="360000" cy="280905"/>
          </a:xfrm>
          <a:prstGeom prst="notchedRightArrow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9F451E00-B0DC-1AA2-7D8E-600B17FE3C0A}"/>
              </a:ext>
            </a:extLst>
          </p:cNvPr>
          <p:cNvSpPr/>
          <p:nvPr/>
        </p:nvSpPr>
        <p:spPr>
          <a:xfrm>
            <a:off x="17716036" y="13263801"/>
            <a:ext cx="2752249" cy="564578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50"/>
              </a:spcAft>
            </a:pPr>
            <a:r>
              <a:rPr lang="fr-FR" sz="1050" b="1" noProof="0" dirty="0">
                <a:solidFill>
                  <a:srgbClr val="B45309"/>
                </a:solidFill>
                <a:latin typeface="Aptos Display"/>
              </a:rPr>
              <a:t>Rôle d'arbitre de l’intelligence artificielle</a:t>
            </a:r>
          </a:p>
          <a:p>
            <a:pPr algn="ctr">
              <a:spcBef>
                <a:spcPts val="150"/>
              </a:spcBef>
              <a:spcAft>
                <a:spcPts val="50"/>
              </a:spcAft>
            </a:pPr>
            <a:r>
              <a:rPr lang="fr-FR" sz="880" b="0" noProof="0" dirty="0">
                <a:solidFill>
                  <a:srgbClr val="64748B"/>
                </a:solidFill>
                <a:latin typeface="Aptos"/>
              </a:rPr>
              <a:t>Arbitre VLM local sur les cas difficiles</a:t>
            </a:r>
          </a:p>
        </p:txBody>
      </p:sp>
      <p:sp>
        <p:nvSpPr>
          <p:cNvPr id="100" name="Flèche : bas 99">
            <a:extLst>
              <a:ext uri="{FF2B5EF4-FFF2-40B4-BE49-F238E27FC236}">
                <a16:creationId xmlns:a16="http://schemas.microsoft.com/office/drawing/2014/main" id="{E164889F-B172-E0E0-97E8-AB1BEE460AF6}"/>
              </a:ext>
            </a:extLst>
          </p:cNvPr>
          <p:cNvSpPr/>
          <p:nvPr/>
        </p:nvSpPr>
        <p:spPr>
          <a:xfrm rot="5400000">
            <a:off x="18912155" y="12790279"/>
            <a:ext cx="360000" cy="280905"/>
          </a:xfrm>
          <a:prstGeom prst="notchedRightArrow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0916E55B-CD04-AC6B-A345-AA20A3CA56CE}"/>
              </a:ext>
            </a:extLst>
          </p:cNvPr>
          <p:cNvSpPr/>
          <p:nvPr/>
        </p:nvSpPr>
        <p:spPr>
          <a:xfrm>
            <a:off x="17716036" y="12033083"/>
            <a:ext cx="2752249" cy="564578"/>
          </a:xfrm>
          <a:prstGeom prst="rect">
            <a:avLst/>
          </a:prstGeom>
          <a:solidFill>
            <a:srgbClr val="FFFFFF"/>
          </a:solidFill>
          <a:ln w="12700">
            <a:solidFill>
              <a:srgbClr val="1B36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50"/>
              </a:spcAft>
            </a:pPr>
            <a:r>
              <a:rPr lang="fr-FR" sz="1050" b="1" noProof="0" dirty="0">
                <a:solidFill>
                  <a:srgbClr val="102C57"/>
                </a:solidFill>
                <a:latin typeface="Aptos Display"/>
              </a:rPr>
              <a:t>Extraction d'entités </a:t>
            </a:r>
            <a:r>
              <a:rPr lang="fr-FR" sz="1050" b="1" noProof="0" dirty="0" err="1">
                <a:solidFill>
                  <a:srgbClr val="102C57"/>
                </a:solidFill>
                <a:latin typeface="Aptos Display"/>
              </a:rPr>
              <a:t>GLiNER</a:t>
            </a:r>
            <a:endParaRPr lang="fr-FR" sz="1050" b="1" noProof="0" dirty="0">
              <a:solidFill>
                <a:srgbClr val="102C57"/>
              </a:solidFill>
              <a:latin typeface="Aptos Display"/>
            </a:endParaRPr>
          </a:p>
          <a:p>
            <a:pPr algn="ctr">
              <a:spcBef>
                <a:spcPts val="150"/>
              </a:spcBef>
              <a:spcAft>
                <a:spcPts val="50"/>
              </a:spcAft>
            </a:pPr>
            <a:r>
              <a:rPr lang="fr-FR" sz="880" noProof="0" dirty="0">
                <a:solidFill>
                  <a:srgbClr val="64748B"/>
                </a:solidFill>
                <a:latin typeface="Aptos"/>
              </a:rPr>
              <a:t>Uniquement pour les entités nécessaires</a:t>
            </a:r>
            <a:endParaRPr lang="fr-FR" sz="880" b="0" noProof="0" dirty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A27EBA16-AB41-9698-2F02-E97039759397}"/>
              </a:ext>
            </a:extLst>
          </p:cNvPr>
          <p:cNvSpPr/>
          <p:nvPr/>
        </p:nvSpPr>
        <p:spPr>
          <a:xfrm>
            <a:off x="11441291" y="13263801"/>
            <a:ext cx="2752249" cy="564578"/>
          </a:xfrm>
          <a:prstGeom prst="rect">
            <a:avLst/>
          </a:prstGeom>
          <a:solidFill>
            <a:srgbClr val="FFFFFF"/>
          </a:solidFill>
          <a:ln w="12700">
            <a:solidFill>
              <a:srgbClr val="1B36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50"/>
              </a:spcAft>
            </a:pPr>
            <a:r>
              <a:rPr lang="fr-FR" sz="1050" b="1" noProof="0" dirty="0">
                <a:solidFill>
                  <a:srgbClr val="102C57"/>
                </a:solidFill>
                <a:latin typeface="Aptos Display"/>
              </a:rPr>
              <a:t>Métadonnées de référence</a:t>
            </a:r>
          </a:p>
          <a:p>
            <a:pPr algn="ctr">
              <a:spcBef>
                <a:spcPts val="150"/>
              </a:spcBef>
              <a:spcAft>
                <a:spcPts val="50"/>
              </a:spcAft>
            </a:pPr>
            <a:r>
              <a:rPr lang="fr-FR" sz="880" b="0" noProof="0" dirty="0">
                <a:solidFill>
                  <a:srgbClr val="64748B"/>
                </a:solidFill>
                <a:latin typeface="Aptos"/>
              </a:rPr>
              <a:t>Bases de données  de contrôle</a:t>
            </a:r>
          </a:p>
        </p:txBody>
      </p:sp>
      <p:sp>
        <p:nvSpPr>
          <p:cNvPr id="106" name="Flèche : bas 105">
            <a:extLst>
              <a:ext uri="{FF2B5EF4-FFF2-40B4-BE49-F238E27FC236}">
                <a16:creationId xmlns:a16="http://schemas.microsoft.com/office/drawing/2014/main" id="{5929544B-9214-0D06-DC74-78DD312169F1}"/>
              </a:ext>
            </a:extLst>
          </p:cNvPr>
          <p:cNvSpPr/>
          <p:nvPr/>
        </p:nvSpPr>
        <p:spPr>
          <a:xfrm rot="5400000">
            <a:off x="12607413" y="12448067"/>
            <a:ext cx="420000" cy="260000"/>
          </a:xfrm>
          <a:prstGeom prst="notchedRightArrow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10" name="Flèche : bas 109">
            <a:extLst>
              <a:ext uri="{FF2B5EF4-FFF2-40B4-BE49-F238E27FC236}">
                <a16:creationId xmlns:a16="http://schemas.microsoft.com/office/drawing/2014/main" id="{42C78BD8-6E06-B44F-45E4-9B517FA4EFEB}"/>
              </a:ext>
            </a:extLst>
          </p:cNvPr>
          <p:cNvSpPr/>
          <p:nvPr/>
        </p:nvSpPr>
        <p:spPr>
          <a:xfrm rot="5400000">
            <a:off x="12577413" y="14152466"/>
            <a:ext cx="480000" cy="280905"/>
          </a:xfrm>
          <a:prstGeom prst="notchedRightArrow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5A8610CB-A58D-61F9-86E7-5A5EC45E2C81}"/>
              </a:ext>
            </a:extLst>
          </p:cNvPr>
          <p:cNvSpPr/>
          <p:nvPr/>
        </p:nvSpPr>
        <p:spPr>
          <a:xfrm>
            <a:off x="11441290" y="14825199"/>
            <a:ext cx="2752249" cy="564578"/>
          </a:xfrm>
          <a:prstGeom prst="rect">
            <a:avLst/>
          </a:prstGeom>
          <a:solidFill>
            <a:srgbClr val="FFFFFF"/>
          </a:solidFill>
          <a:ln w="15240">
            <a:solidFill>
              <a:srgbClr val="1B36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50"/>
              </a:spcAft>
            </a:pPr>
            <a:r>
              <a:rPr lang="fr-FR" sz="1050" b="1" noProof="0" dirty="0">
                <a:solidFill>
                  <a:srgbClr val="102C57"/>
                </a:solidFill>
                <a:latin typeface="Aptos Display"/>
              </a:rPr>
              <a:t>Contrôles manuels</a:t>
            </a:r>
          </a:p>
          <a:p>
            <a:pPr algn="ctr">
              <a:spcBef>
                <a:spcPts val="150"/>
              </a:spcBef>
              <a:spcAft>
                <a:spcPts val="50"/>
              </a:spcAft>
            </a:pPr>
            <a:r>
              <a:rPr lang="fr-FR" sz="880" b="0" noProof="0" dirty="0">
                <a:solidFill>
                  <a:srgbClr val="64748B"/>
                </a:solidFill>
                <a:latin typeface="Aptos"/>
              </a:rPr>
              <a:t>Croisement texte et cadastre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32282853-F5B3-7F5B-48D5-1521E0BDBF65}"/>
              </a:ext>
            </a:extLst>
          </p:cNvPr>
          <p:cNvSpPr/>
          <p:nvPr/>
        </p:nvSpPr>
        <p:spPr>
          <a:xfrm>
            <a:off x="14611692" y="14825199"/>
            <a:ext cx="2752249" cy="564578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50"/>
              </a:spcAft>
            </a:pPr>
            <a:r>
              <a:rPr lang="fr-FR" sz="1050" b="1" noProof="0" dirty="0">
                <a:solidFill>
                  <a:srgbClr val="B45309"/>
                </a:solidFill>
                <a:latin typeface="Aptos Display"/>
              </a:rPr>
              <a:t>Cohérence avec 17 règles métier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F565494E-C8B1-DD91-FDCD-268D9C06E7A5}"/>
              </a:ext>
            </a:extLst>
          </p:cNvPr>
          <p:cNvSpPr/>
          <p:nvPr/>
        </p:nvSpPr>
        <p:spPr>
          <a:xfrm>
            <a:off x="17716029" y="14850487"/>
            <a:ext cx="2752249" cy="564578"/>
          </a:xfrm>
          <a:prstGeom prst="rect">
            <a:avLst/>
          </a:prstGeom>
          <a:solidFill>
            <a:srgbClr val="E0F2FE"/>
          </a:solidFill>
          <a:ln w="19050">
            <a:solidFill>
              <a:srgbClr val="0284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50"/>
              </a:spcAft>
            </a:pPr>
            <a:r>
              <a:rPr lang="fr-FR" sz="1050" b="1" noProof="0" dirty="0">
                <a:solidFill>
                  <a:srgbClr val="102C57"/>
                </a:solidFill>
                <a:latin typeface="Aptos Display"/>
              </a:rPr>
              <a:t>Validation opérateur</a:t>
            </a:r>
          </a:p>
          <a:p>
            <a:pPr algn="ctr">
              <a:spcBef>
                <a:spcPts val="150"/>
              </a:spcBef>
              <a:spcAft>
                <a:spcPts val="50"/>
              </a:spcAft>
            </a:pPr>
            <a:r>
              <a:rPr lang="fr-FR" sz="880" b="0" noProof="0" dirty="0">
                <a:solidFill>
                  <a:srgbClr val="64748B"/>
                </a:solidFill>
                <a:latin typeface="Aptos"/>
              </a:rPr>
              <a:t>Interface </a:t>
            </a:r>
            <a:r>
              <a:rPr lang="fr-FR" sz="880" b="0" noProof="0" dirty="0" err="1">
                <a:solidFill>
                  <a:srgbClr val="64748B"/>
                </a:solidFill>
                <a:latin typeface="Aptos"/>
              </a:rPr>
              <a:t>Streamlit</a:t>
            </a:r>
            <a:r>
              <a:rPr lang="fr-FR" sz="880" b="0" noProof="0" dirty="0">
                <a:solidFill>
                  <a:srgbClr val="64748B"/>
                </a:solidFill>
                <a:latin typeface="Aptos"/>
              </a:rPr>
              <a:t> </a:t>
            </a:r>
          </a:p>
        </p:txBody>
      </p:sp>
      <p:sp>
        <p:nvSpPr>
          <p:cNvPr id="120" name="Flèche : bas 119">
            <a:extLst>
              <a:ext uri="{FF2B5EF4-FFF2-40B4-BE49-F238E27FC236}">
                <a16:creationId xmlns:a16="http://schemas.microsoft.com/office/drawing/2014/main" id="{D8D6F09A-D259-A918-0896-24CEC69FDAC0}"/>
              </a:ext>
            </a:extLst>
          </p:cNvPr>
          <p:cNvSpPr/>
          <p:nvPr/>
        </p:nvSpPr>
        <p:spPr>
          <a:xfrm>
            <a:off x="14287730" y="14953052"/>
            <a:ext cx="257897" cy="308870"/>
          </a:xfrm>
          <a:prstGeom prst="notchedRightArrow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22" name="Flèche : bas 121">
            <a:extLst>
              <a:ext uri="{FF2B5EF4-FFF2-40B4-BE49-F238E27FC236}">
                <a16:creationId xmlns:a16="http://schemas.microsoft.com/office/drawing/2014/main" id="{8FADC2A0-39AE-C3AA-50B5-901157283496}"/>
              </a:ext>
            </a:extLst>
          </p:cNvPr>
          <p:cNvSpPr/>
          <p:nvPr/>
        </p:nvSpPr>
        <p:spPr>
          <a:xfrm>
            <a:off x="17411037" y="14955852"/>
            <a:ext cx="257897" cy="308870"/>
          </a:xfrm>
          <a:prstGeom prst="notchedRightArrow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24" name="Flèche : bas 123">
            <a:extLst>
              <a:ext uri="{FF2B5EF4-FFF2-40B4-BE49-F238E27FC236}">
                <a16:creationId xmlns:a16="http://schemas.microsoft.com/office/drawing/2014/main" id="{F43F3865-6877-5C88-3DD5-9D5897D42789}"/>
              </a:ext>
            </a:extLst>
          </p:cNvPr>
          <p:cNvSpPr/>
          <p:nvPr/>
        </p:nvSpPr>
        <p:spPr>
          <a:xfrm rot="5400000">
            <a:off x="15760157" y="16039751"/>
            <a:ext cx="564578" cy="280905"/>
          </a:xfrm>
          <a:prstGeom prst="notchedRightArrow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E64F6D7A-21CA-DD6E-A5EB-DB0808D18443}"/>
              </a:ext>
            </a:extLst>
          </p:cNvPr>
          <p:cNvSpPr/>
          <p:nvPr/>
        </p:nvSpPr>
        <p:spPr>
          <a:xfrm>
            <a:off x="14658788" y="16857086"/>
            <a:ext cx="2752249" cy="564578"/>
          </a:xfrm>
          <a:prstGeom prst="rect">
            <a:avLst/>
          </a:prstGeom>
          <a:solidFill>
            <a:srgbClr val="DCFCE7"/>
          </a:solidFill>
          <a:ln w="22860">
            <a:solidFill>
              <a:srgbClr val="16A3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50"/>
              </a:spcAft>
            </a:pPr>
            <a:r>
              <a:rPr lang="fr-FR" sz="1050" b="1" noProof="0" dirty="0">
                <a:solidFill>
                  <a:srgbClr val="16A34A"/>
                </a:solidFill>
                <a:latin typeface="Aptos Display"/>
              </a:rPr>
              <a:t>Versement sur </a:t>
            </a:r>
            <a:r>
              <a:rPr lang="fr-FR" sz="1050" b="1" noProof="0" dirty="0" err="1">
                <a:solidFill>
                  <a:srgbClr val="16A34A"/>
                </a:solidFill>
                <a:latin typeface="Aptos Display"/>
              </a:rPr>
              <a:t>Géofoncier</a:t>
            </a:r>
            <a:endParaRPr lang="fr-FR" sz="1050" b="1" noProof="0" dirty="0">
              <a:solidFill>
                <a:srgbClr val="16A34A"/>
              </a:solidFill>
              <a:latin typeface="Aptos Display"/>
            </a:endParaRPr>
          </a:p>
          <a:p>
            <a:pPr algn="ctr">
              <a:spcBef>
                <a:spcPts val="150"/>
              </a:spcBef>
              <a:spcAft>
                <a:spcPts val="50"/>
              </a:spcAft>
            </a:pPr>
            <a:r>
              <a:rPr lang="fr-FR" sz="880" b="0" noProof="0" dirty="0">
                <a:solidFill>
                  <a:srgbClr val="64748B"/>
                </a:solidFill>
                <a:latin typeface="Aptos"/>
              </a:rPr>
              <a:t>Transmission à l’API et archivage (Excel local)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346E6776-1AFB-0699-3407-3E400DEE731C}"/>
              </a:ext>
            </a:extLst>
          </p:cNvPr>
          <p:cNvSpPr/>
          <p:nvPr/>
        </p:nvSpPr>
        <p:spPr>
          <a:xfrm>
            <a:off x="471487" y="26846789"/>
            <a:ext cx="10053011" cy="720000"/>
          </a:xfrm>
          <a:prstGeom prst="rect">
            <a:avLst/>
          </a:prstGeom>
          <a:solidFill>
            <a:srgbClr val="1B365D"/>
          </a:solidFill>
          <a:ln w="38100">
            <a:solidFill>
              <a:srgbClr val="1B36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lang="fr-FR" sz="1800" b="1" noProof="0" dirty="0">
                <a:solidFill>
                  <a:srgbClr val="FFFFFF"/>
                </a:solidFill>
                <a:latin typeface="Aptos Display"/>
              </a:rPr>
              <a:t>RÉSULTATS  ET IMPACTS DU PROJET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F5FA14C6-6539-4756-1C85-F2565C99DC90}"/>
              </a:ext>
            </a:extLst>
          </p:cNvPr>
          <p:cNvSpPr/>
          <p:nvPr/>
        </p:nvSpPr>
        <p:spPr>
          <a:xfrm>
            <a:off x="457519" y="27564901"/>
            <a:ext cx="10079680" cy="2461481"/>
          </a:xfrm>
          <a:prstGeom prst="rect">
            <a:avLst/>
          </a:prstGeom>
          <a:solidFill>
            <a:srgbClr val="EEF2F7"/>
          </a:solidFill>
          <a:ln w="12700">
            <a:solidFill>
              <a:srgbClr val="C3D0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t"/>
          <a:lstStyle/>
          <a:p>
            <a:endParaRPr lang="fr-FR" noProof="0" dirty="0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499B31E2-5BC7-4395-F480-5635B8F8FECB}"/>
              </a:ext>
            </a:extLst>
          </p:cNvPr>
          <p:cNvSpPr/>
          <p:nvPr/>
        </p:nvSpPr>
        <p:spPr>
          <a:xfrm>
            <a:off x="-12538" y="4125288"/>
            <a:ext cx="21384000" cy="26136000"/>
          </a:xfrm>
          <a:prstGeom prst="rect">
            <a:avLst/>
          </a:prstGeom>
          <a:noFill/>
          <a:ln w="571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832684-AB8D-A19E-A837-AEDDEA278575}"/>
              </a:ext>
            </a:extLst>
          </p:cNvPr>
          <p:cNvSpPr/>
          <p:nvPr/>
        </p:nvSpPr>
        <p:spPr>
          <a:xfrm>
            <a:off x="600000" y="18450000"/>
            <a:ext cx="3100000" cy="1250000"/>
          </a:xfrm>
          <a:prstGeom prst="rect">
            <a:avLst/>
          </a:prstGeom>
          <a:solidFill>
            <a:srgbClr val="F0F9FF"/>
          </a:solidFill>
          <a:ln w="12700">
            <a:solidFill>
              <a:srgbClr val="CBD5E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lang="fr-FR" sz="1300" b="1" noProof="0" dirty="0">
                <a:solidFill>
                  <a:srgbClr val="102C57"/>
                </a:solidFill>
                <a:latin typeface="Aptos Display"/>
              </a:rPr>
              <a:t>Résolution communale</a:t>
            </a:r>
          </a:p>
          <a:p>
            <a:pPr algn="ctr">
              <a:spcBef>
                <a:spcPts val="300"/>
              </a:spcBef>
              <a:spcAft>
                <a:spcPts val="150"/>
              </a:spcAft>
            </a:pPr>
            <a:endParaRPr lang="fr-FR" sz="1300" b="1" noProof="0" dirty="0">
              <a:solidFill>
                <a:srgbClr val="102C57"/>
              </a:solidFill>
              <a:latin typeface="Aptos Display"/>
            </a:endParaRPr>
          </a:p>
          <a:p>
            <a:pPr algn="ctr">
              <a:spcBef>
                <a:spcPts val="300"/>
              </a:spcBef>
              <a:spcAft>
                <a:spcPts val="150"/>
              </a:spcAft>
            </a:pPr>
            <a:r>
              <a:rPr lang="fr-FR" sz="1550" b="1" noProof="0" dirty="0">
                <a:solidFill>
                  <a:srgbClr val="0284C7"/>
                </a:solidFill>
                <a:latin typeface="Aptos Display"/>
              </a:rPr>
              <a:t>95 % Résolus direct</a:t>
            </a:r>
          </a:p>
          <a:p>
            <a:pPr algn="ctr">
              <a:spcBef>
                <a:spcPts val="300"/>
              </a:spcBef>
              <a:spcAft>
                <a:spcPts val="150"/>
              </a:spcAft>
            </a:pPr>
            <a:r>
              <a:rPr lang="fr-FR" sz="1100" b="0" noProof="0" dirty="0">
                <a:solidFill>
                  <a:srgbClr val="141E32"/>
                </a:solidFill>
                <a:latin typeface="Aptos"/>
              </a:rPr>
              <a:t>Correction automatique et code INSEE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F9FE7F7-0544-A8AF-0B0E-9C58BC593CDC}"/>
              </a:ext>
            </a:extLst>
          </p:cNvPr>
          <p:cNvSpPr/>
          <p:nvPr/>
        </p:nvSpPr>
        <p:spPr>
          <a:xfrm>
            <a:off x="3950000" y="18450000"/>
            <a:ext cx="3100000" cy="1250000"/>
          </a:xfrm>
          <a:prstGeom prst="rect">
            <a:avLst/>
          </a:prstGeom>
          <a:solidFill>
            <a:srgbClr val="F0F9FF"/>
          </a:solidFill>
          <a:ln w="12700">
            <a:solidFill>
              <a:srgbClr val="CBD5E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lang="fr-FR" sz="1300" b="1" noProof="0" dirty="0">
                <a:solidFill>
                  <a:srgbClr val="102C57"/>
                </a:solidFill>
                <a:latin typeface="Aptos Display"/>
              </a:rPr>
              <a:t>Contrôles de cohérence</a:t>
            </a:r>
          </a:p>
          <a:p>
            <a:pPr algn="ctr">
              <a:spcBef>
                <a:spcPts val="300"/>
              </a:spcBef>
              <a:spcAft>
                <a:spcPts val="150"/>
              </a:spcAft>
            </a:pPr>
            <a:endParaRPr lang="fr-FR" sz="1300" b="1" noProof="0" dirty="0">
              <a:solidFill>
                <a:srgbClr val="102C57"/>
              </a:solidFill>
              <a:latin typeface="Aptos Display"/>
            </a:endParaRPr>
          </a:p>
          <a:p>
            <a:pPr algn="ctr">
              <a:spcBef>
                <a:spcPts val="300"/>
              </a:spcBef>
              <a:spcAft>
                <a:spcPts val="150"/>
              </a:spcAft>
            </a:pPr>
            <a:r>
              <a:rPr lang="fr-FR" sz="1550" b="1" noProof="0" dirty="0">
                <a:solidFill>
                  <a:srgbClr val="0284C7"/>
                </a:solidFill>
                <a:latin typeface="Aptos Display"/>
              </a:rPr>
              <a:t>17 Règles métier appliquées</a:t>
            </a:r>
          </a:p>
          <a:p>
            <a:pPr algn="ctr">
              <a:spcBef>
                <a:spcPts val="300"/>
              </a:spcBef>
              <a:spcAft>
                <a:spcPts val="150"/>
              </a:spcAft>
            </a:pPr>
            <a:r>
              <a:rPr lang="fr-FR" sz="1100" b="0" noProof="0" dirty="0">
                <a:solidFill>
                  <a:srgbClr val="141E32"/>
                </a:solidFill>
                <a:latin typeface="Aptos"/>
              </a:rPr>
              <a:t>Dates, cadastre, acteurs, doublons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526C916-1C32-BAD8-1F29-EB66D740C156}"/>
              </a:ext>
            </a:extLst>
          </p:cNvPr>
          <p:cNvSpPr/>
          <p:nvPr/>
        </p:nvSpPr>
        <p:spPr>
          <a:xfrm>
            <a:off x="7300000" y="18450000"/>
            <a:ext cx="3100000" cy="1250000"/>
          </a:xfrm>
          <a:prstGeom prst="rect">
            <a:avLst/>
          </a:prstGeom>
          <a:solidFill>
            <a:srgbClr val="F0FDF4"/>
          </a:solidFill>
          <a:ln w="15240">
            <a:solidFill>
              <a:srgbClr val="16A34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lang="fr-FR" sz="1300" b="1" noProof="0" dirty="0">
                <a:solidFill>
                  <a:srgbClr val="102C57"/>
                </a:solidFill>
                <a:latin typeface="Aptos Display"/>
              </a:rPr>
              <a:t>Fiabilité globale</a:t>
            </a:r>
          </a:p>
          <a:p>
            <a:pPr algn="ctr">
              <a:spcBef>
                <a:spcPts val="300"/>
              </a:spcBef>
              <a:spcAft>
                <a:spcPts val="150"/>
              </a:spcAft>
            </a:pPr>
            <a:endParaRPr lang="fr-FR" sz="1300" b="1" noProof="0" dirty="0">
              <a:solidFill>
                <a:srgbClr val="102C57"/>
              </a:solidFill>
              <a:latin typeface="Aptos Display"/>
            </a:endParaRPr>
          </a:p>
          <a:p>
            <a:pPr algn="ctr">
              <a:spcBef>
                <a:spcPts val="300"/>
              </a:spcBef>
              <a:spcAft>
                <a:spcPts val="150"/>
              </a:spcAft>
            </a:pPr>
            <a:r>
              <a:rPr lang="fr-FR" sz="1550" b="1" noProof="0" dirty="0">
                <a:solidFill>
                  <a:srgbClr val="16A34A"/>
                </a:solidFill>
                <a:latin typeface="Aptos Display"/>
              </a:rPr>
              <a:t>Jusqu'à 88 % de conformité</a:t>
            </a:r>
          </a:p>
          <a:p>
            <a:pPr algn="ctr">
              <a:spcBef>
                <a:spcPts val="300"/>
              </a:spcBef>
              <a:spcAft>
                <a:spcPts val="150"/>
              </a:spcAft>
            </a:pPr>
            <a:r>
              <a:rPr lang="fr-FR" sz="1100" b="0" noProof="0" dirty="0">
                <a:solidFill>
                  <a:srgbClr val="141E32"/>
                </a:solidFill>
                <a:latin typeface="Aptos"/>
              </a:rPr>
              <a:t>Évaluation sur dossiers réels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FFC76F2-8D39-99F9-341A-5A6D9DBE7F2D}"/>
              </a:ext>
            </a:extLst>
          </p:cNvPr>
          <p:cNvSpPr/>
          <p:nvPr/>
        </p:nvSpPr>
        <p:spPr>
          <a:xfrm>
            <a:off x="10968845" y="21509125"/>
            <a:ext cx="10053807" cy="720000"/>
          </a:xfrm>
          <a:prstGeom prst="rect">
            <a:avLst/>
          </a:prstGeom>
          <a:solidFill>
            <a:srgbClr val="1B365D"/>
          </a:solidFill>
          <a:ln w="38100">
            <a:solidFill>
              <a:srgbClr val="1B36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lang="fr-FR" sz="1750" b="1" noProof="0" dirty="0">
                <a:solidFill>
                  <a:srgbClr val="FFFFFF"/>
                </a:solidFill>
                <a:latin typeface="Aptos Display"/>
              </a:rPr>
              <a:t>DIFFICULTÉS RENCONTRÉES ET SOLUTIONS APPORTÉES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1E04008-D4FD-6B97-1DE1-A1F7F9824AE6}"/>
              </a:ext>
            </a:extLst>
          </p:cNvPr>
          <p:cNvSpPr/>
          <p:nvPr/>
        </p:nvSpPr>
        <p:spPr>
          <a:xfrm>
            <a:off x="10955352" y="22227237"/>
            <a:ext cx="10080000" cy="3804587"/>
          </a:xfrm>
          <a:prstGeom prst="rect">
            <a:avLst/>
          </a:prstGeom>
          <a:solidFill>
            <a:srgbClr val="EEF2F7"/>
          </a:solidFill>
          <a:ln w="12700">
            <a:solidFill>
              <a:srgbClr val="C3D0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t"/>
          <a:lstStyle/>
          <a:p>
            <a:endParaRPr lang="fr-FR" noProof="0" dirty="0"/>
          </a:p>
        </p:txBody>
      </p:sp>
      <p:sp>
        <p:nvSpPr>
          <p:cNvPr id="193" name="Rounded Rectangle 192"/>
          <p:cNvSpPr/>
          <p:nvPr/>
        </p:nvSpPr>
        <p:spPr>
          <a:xfrm>
            <a:off x="550000" y="5160000"/>
            <a:ext cx="5700000" cy="364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76200" rIns="127000" bIns="76200" rtlCol="0" anchor="t"/>
          <a:lstStyle/>
          <a:p>
            <a:pPr algn="l">
              <a:spcBef>
                <a:spcPts val="0"/>
              </a:spcBef>
              <a:spcAft>
                <a:spcPts val="80"/>
              </a:spcAft>
            </a:pPr>
            <a:r>
              <a:rPr lang="fr-FR" sz="1200" b="1" noProof="0" dirty="0">
                <a:solidFill>
                  <a:srgbClr val="102C57"/>
                </a:solidFill>
                <a:latin typeface="Aptos Display"/>
              </a:rPr>
              <a:t>Cadre juridique et recherche d'antériorités</a:t>
            </a:r>
          </a:p>
          <a:p>
            <a:pPr algn="just">
              <a:spcBef>
                <a:spcPts val="150"/>
              </a:spcBef>
              <a:spcAft>
                <a:spcPts val="80"/>
              </a:spcAft>
            </a:pPr>
            <a:r>
              <a:rPr lang="fr-FR" sz="1000" b="0" noProof="0" dirty="0">
                <a:solidFill>
                  <a:srgbClr val="141E32"/>
                </a:solidFill>
                <a:latin typeface="Aptos"/>
              </a:rPr>
              <a:t>En vertu de l’obligation déontologique de recherche d’antériorités (art 646 C du code civil), le géomètre-expert doit retrouver les opérations passées pour rétablir les </a:t>
            </a:r>
            <a:r>
              <a:rPr lang="fr-FR" sz="1000" b="0" noProof="0" dirty="0" err="1">
                <a:solidFill>
                  <a:srgbClr val="141E32"/>
                </a:solidFill>
                <a:latin typeface="Aptos"/>
              </a:rPr>
              <a:t>limit</a:t>
            </a:r>
            <a:r>
              <a:rPr lang="fr-FR" sz="1000" dirty="0">
                <a:solidFill>
                  <a:srgbClr val="141E32"/>
                </a:solidFill>
                <a:latin typeface="Aptos"/>
              </a:rPr>
              <a:t>es réelles déjà fixées</a:t>
            </a:r>
            <a:r>
              <a:rPr lang="fr-FR" sz="1000" b="0" noProof="0" dirty="0">
                <a:solidFill>
                  <a:srgbClr val="141E32"/>
                </a:solidFill>
                <a:latin typeface="Aptos"/>
              </a:rPr>
              <a:t> . Le plan cadastral n'ayant qu'une </a:t>
            </a:r>
            <a:r>
              <a:rPr lang="fr-FR" sz="1000" b="1" noProof="0" dirty="0">
                <a:solidFill>
                  <a:srgbClr val="102C57"/>
                </a:solidFill>
                <a:latin typeface="Aptos"/>
              </a:rPr>
              <a:t>valeur fiscale</a:t>
            </a:r>
            <a:r>
              <a:rPr lang="fr-FR" sz="1000" b="0" noProof="0" dirty="0">
                <a:solidFill>
                  <a:srgbClr val="141E32"/>
                </a:solidFill>
                <a:latin typeface="Aptos"/>
              </a:rPr>
              <a:t>, les archives papier du cabinet constituent les </a:t>
            </a:r>
            <a:r>
              <a:rPr lang="fr-FR" sz="1000" b="1" noProof="0" dirty="0">
                <a:solidFill>
                  <a:srgbClr val="102C57"/>
                </a:solidFill>
                <a:latin typeface="Aptos"/>
              </a:rPr>
              <a:t>seules preuves juridiques</a:t>
            </a:r>
            <a:r>
              <a:rPr lang="fr-FR" sz="1000" b="0" noProof="0" dirty="0">
                <a:solidFill>
                  <a:srgbClr val="141E32"/>
                </a:solidFill>
                <a:latin typeface="Aptos"/>
              </a:rPr>
              <a:t> opposables.</a:t>
            </a:r>
          </a:p>
          <a:p>
            <a:pPr algn="l">
              <a:spcBef>
                <a:spcPts val="150"/>
              </a:spcBef>
              <a:spcAft>
                <a:spcPts val="80"/>
              </a:spcAft>
            </a:pPr>
            <a:endParaRPr lang="fr-FR" sz="1000" b="0" noProof="0" dirty="0">
              <a:solidFill>
                <a:srgbClr val="141E32"/>
              </a:solidFill>
              <a:latin typeface="Aptos"/>
            </a:endParaRPr>
          </a:p>
          <a:p>
            <a:pPr algn="l">
              <a:spcBef>
                <a:spcPts val="150"/>
              </a:spcBef>
              <a:spcAft>
                <a:spcPts val="80"/>
              </a:spcAft>
            </a:pPr>
            <a:r>
              <a:rPr lang="fr-FR" sz="1200" b="1" noProof="0" dirty="0">
                <a:solidFill>
                  <a:srgbClr val="102C57"/>
                </a:solidFill>
                <a:latin typeface="Aptos Display"/>
              </a:rPr>
              <a:t>Problématique de l'étude</a:t>
            </a:r>
          </a:p>
          <a:p>
            <a:pPr algn="l">
              <a:spcBef>
                <a:spcPts val="150"/>
              </a:spcBef>
              <a:spcAft>
                <a:spcPts val="80"/>
              </a:spcAft>
            </a:pPr>
            <a:r>
              <a:rPr lang="fr-FR" sz="1000" b="0" noProof="0" dirty="0">
                <a:solidFill>
                  <a:srgbClr val="141E32"/>
                </a:solidFill>
                <a:latin typeface="Aptos"/>
              </a:rPr>
              <a:t>La recherche manuelle dans les archives est un processus long, incertain et fastidieux. Ce projet répond à la problématique suivante :</a:t>
            </a:r>
          </a:p>
          <a:p>
            <a:pPr algn="l">
              <a:spcBef>
                <a:spcPts val="150"/>
              </a:spcBef>
              <a:spcAft>
                <a:spcPts val="80"/>
              </a:spcAft>
            </a:pPr>
            <a:r>
              <a:rPr lang="fr-FR" sz="980" b="1" noProof="0" dirty="0">
                <a:solidFill>
                  <a:srgbClr val="1B365D"/>
                </a:solidFill>
                <a:latin typeface="Aptos"/>
              </a:rPr>
              <a:t>« Dans quelle mesure est-il possible de concevoir un outil logiciel capable d'extraire avec fiabilité les données d'archives foncières très variées, tout en fonctionnant localement ? »</a:t>
            </a:r>
          </a:p>
          <a:p>
            <a:pPr algn="l">
              <a:spcBef>
                <a:spcPts val="150"/>
              </a:spcBef>
              <a:spcAft>
                <a:spcPts val="80"/>
              </a:spcAft>
            </a:pPr>
            <a:endParaRPr lang="fr-FR" sz="980" b="1" noProof="0" dirty="0">
              <a:solidFill>
                <a:srgbClr val="1B365D"/>
              </a:solidFill>
              <a:latin typeface="Aptos"/>
            </a:endParaRPr>
          </a:p>
          <a:p>
            <a:pPr algn="l">
              <a:spcBef>
                <a:spcPts val="150"/>
              </a:spcBef>
              <a:spcAft>
                <a:spcPts val="80"/>
              </a:spcAft>
            </a:pPr>
            <a:r>
              <a:rPr lang="fr-FR" sz="1200" b="1" noProof="0" dirty="0">
                <a:solidFill>
                  <a:srgbClr val="102C57"/>
                </a:solidFill>
                <a:latin typeface="Aptos Display"/>
              </a:rPr>
              <a:t>Objectifs opérationnels et contraintes</a:t>
            </a:r>
          </a:p>
          <a:p>
            <a:pPr algn="l">
              <a:spcBef>
                <a:spcPts val="150"/>
              </a:spcBef>
              <a:spcAft>
                <a:spcPts val="80"/>
              </a:spcAft>
            </a:pPr>
            <a:r>
              <a:rPr lang="fr-FR" sz="1000" b="0" noProof="0" dirty="0">
                <a:solidFill>
                  <a:srgbClr val="141E32"/>
                </a:solidFill>
                <a:latin typeface="Aptos"/>
              </a:rPr>
              <a:t>Le projet vise à développer une </a:t>
            </a:r>
            <a:r>
              <a:rPr lang="fr-FR" sz="1000" b="1" noProof="0" dirty="0">
                <a:solidFill>
                  <a:srgbClr val="102C57"/>
                </a:solidFill>
                <a:latin typeface="Aptos"/>
              </a:rPr>
              <a:t>chaîne de traitement automatisée</a:t>
            </a:r>
            <a:r>
              <a:rPr lang="fr-FR" sz="1000" b="0" noProof="0" dirty="0">
                <a:solidFill>
                  <a:srgbClr val="141E32"/>
                </a:solidFill>
                <a:latin typeface="Aptos"/>
              </a:rPr>
              <a:t> capable d'analyser les plans scannés et d'extraire les données foncières pour accélérer l'indexation. Pour garantir le secret professionnel et le respect du </a:t>
            </a:r>
            <a:r>
              <a:rPr lang="fr-FR" sz="1000" b="1" noProof="0" dirty="0">
                <a:solidFill>
                  <a:srgbClr val="102C57"/>
                </a:solidFill>
                <a:latin typeface="Aptos"/>
              </a:rPr>
              <a:t>RGPD</a:t>
            </a:r>
            <a:r>
              <a:rPr lang="fr-FR" sz="1000" b="0" noProof="0" dirty="0">
                <a:solidFill>
                  <a:srgbClr val="141E32"/>
                </a:solidFill>
                <a:latin typeface="Aptos"/>
              </a:rPr>
              <a:t>, l'ensemble des traitements s'exécute à </a:t>
            </a:r>
            <a:r>
              <a:rPr lang="fr-FR" sz="1000" b="1" noProof="0" dirty="0">
                <a:solidFill>
                  <a:srgbClr val="102C57"/>
                </a:solidFill>
                <a:latin typeface="Aptos"/>
              </a:rPr>
              <a:t>100 % en local</a:t>
            </a:r>
            <a:r>
              <a:rPr lang="fr-FR" sz="1000" b="0" noProof="0" dirty="0">
                <a:solidFill>
                  <a:srgbClr val="141E32"/>
                </a:solidFill>
                <a:latin typeface="Aptos"/>
              </a:rPr>
              <a:t> au cabinet, avant versement </a:t>
            </a:r>
            <a:r>
              <a:rPr lang="fr-FR" sz="1000" b="0" noProof="0" dirty="0">
                <a:solidFill>
                  <a:schemeClr val="tx1"/>
                </a:solidFill>
                <a:latin typeface="Aptos"/>
              </a:rPr>
              <a:t>direct </a:t>
            </a:r>
            <a:r>
              <a:rPr lang="fr-FR" sz="1000" noProof="0" dirty="0">
                <a:solidFill>
                  <a:schemeClr val="tx1"/>
                </a:solidFill>
                <a:latin typeface="Aptos"/>
              </a:rPr>
              <a:t>sur </a:t>
            </a:r>
            <a:r>
              <a:rPr lang="fr-FR" sz="1000" noProof="0" dirty="0" err="1">
                <a:solidFill>
                  <a:schemeClr val="tx1"/>
                </a:solidFill>
                <a:latin typeface="Aptos"/>
              </a:rPr>
              <a:t>Géofoncier</a:t>
            </a:r>
            <a:r>
              <a:rPr lang="fr-FR" sz="1000" b="1" noProof="0" dirty="0">
                <a:solidFill>
                  <a:schemeClr val="tx1"/>
                </a:solidFill>
                <a:latin typeface="Aptos"/>
              </a:rPr>
              <a:t>, </a:t>
            </a:r>
            <a:r>
              <a:rPr lang="fr-FR" sz="1000" noProof="0" dirty="0">
                <a:solidFill>
                  <a:schemeClr val="tx2"/>
                </a:solidFill>
                <a:latin typeface="Aptos"/>
              </a:rPr>
              <a:t>plateforme nationale</a:t>
            </a:r>
            <a:r>
              <a:rPr lang="fr-FR" sz="1000" b="0" noProof="0" dirty="0">
                <a:solidFill>
                  <a:srgbClr val="141E32"/>
                </a:solidFill>
                <a:latin typeface="Aptos"/>
              </a:rPr>
              <a:t>.</a:t>
            </a:r>
          </a:p>
        </p:txBody>
      </p:sp>
      <p:sp>
        <p:nvSpPr>
          <p:cNvPr id="194" name="Rounded Rectangle 193"/>
          <p:cNvSpPr/>
          <p:nvPr/>
        </p:nvSpPr>
        <p:spPr>
          <a:xfrm>
            <a:off x="6400000" y="5160000"/>
            <a:ext cx="4000000" cy="364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pic>
        <p:nvPicPr>
          <p:cNvPr id="195" name="Picture 194" descr="registre_crop_part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3060" y="5395403"/>
            <a:ext cx="3593877" cy="2833652"/>
          </a:xfrm>
          <a:prstGeom prst="rect">
            <a:avLst/>
          </a:prstGeom>
        </p:spPr>
      </p:pic>
      <p:sp>
        <p:nvSpPr>
          <p:cNvPr id="196" name="TextBox 195"/>
          <p:cNvSpPr txBox="1"/>
          <p:nvPr/>
        </p:nvSpPr>
        <p:spPr>
          <a:xfrm>
            <a:off x="6480000" y="8229198"/>
            <a:ext cx="3840000" cy="601447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lang="fr-FR" sz="1120" b="1" noProof="0" dirty="0">
                <a:solidFill>
                  <a:srgbClr val="102C57"/>
                </a:solidFill>
                <a:latin typeface="Aptos Display"/>
              </a:rPr>
              <a:t>Registre répertoriant les dossiers du cabinet (1979) </a:t>
            </a:r>
          </a:p>
          <a:p>
            <a:pPr algn="ctr">
              <a:spcBef>
                <a:spcPts val="300"/>
              </a:spcBef>
              <a:spcAft>
                <a:spcPts val="150"/>
              </a:spcAft>
            </a:pPr>
            <a:r>
              <a:rPr lang="fr-FR" sz="1019" b="0" noProof="0" dirty="0">
                <a:solidFill>
                  <a:srgbClr val="64748B"/>
                </a:solidFill>
                <a:latin typeface="Aptos"/>
              </a:rPr>
              <a:t>répertoire manuscrit associant client, commune et numéro de dossier.</a:t>
            </a:r>
          </a:p>
        </p:txBody>
      </p:sp>
      <p:sp>
        <p:nvSpPr>
          <p:cNvPr id="197" name="Rounded Rectangle 196"/>
          <p:cNvSpPr/>
          <p:nvPr/>
        </p:nvSpPr>
        <p:spPr>
          <a:xfrm>
            <a:off x="550000" y="10040000"/>
            <a:ext cx="9900000" cy="232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pic>
        <p:nvPicPr>
          <p:cNvPr id="198" name="Picture 197" descr="r4p_fig2_tight.png"/>
          <p:cNvPicPr>
            <a:picLocks noChangeAspect="1"/>
          </p:cNvPicPr>
          <p:nvPr/>
        </p:nvPicPr>
        <p:blipFill>
          <a:blip r:embed="rId6"/>
          <a:srcRect l="2174" b="995"/>
          <a:stretch>
            <a:fillRect/>
          </a:stretch>
        </p:blipFill>
        <p:spPr>
          <a:xfrm>
            <a:off x="816428" y="10080000"/>
            <a:ext cx="2275109" cy="2217713"/>
          </a:xfrm>
          <a:prstGeom prst="rect">
            <a:avLst/>
          </a:prstGeom>
        </p:spPr>
      </p:pic>
      <p:sp>
        <p:nvSpPr>
          <p:cNvPr id="199" name="TextBox 198"/>
          <p:cNvSpPr txBox="1"/>
          <p:nvPr/>
        </p:nvSpPr>
        <p:spPr>
          <a:xfrm>
            <a:off x="3250000" y="10331557"/>
            <a:ext cx="7120000" cy="1736886"/>
          </a:xfrm>
          <a:prstGeom prst="rect">
            <a:avLst/>
          </a:prstGeom>
          <a:noFill/>
        </p:spPr>
        <p:txBody>
          <a:bodyPr wrap="square" lIns="76200" tIns="38100" rIns="101600" bIns="38100" anchor="ctr">
            <a:spAutoFit/>
          </a:bodyPr>
          <a:lstStyle/>
          <a:p>
            <a:pPr algn="just">
              <a:spcBef>
                <a:spcPts val="0"/>
              </a:spcBef>
              <a:spcAft>
                <a:spcPts val="120"/>
              </a:spcAft>
            </a:pPr>
            <a:r>
              <a:rPr lang="fr-FR" sz="1380" b="1" noProof="0" dirty="0">
                <a:solidFill>
                  <a:srgbClr val="102C57"/>
                </a:solidFill>
                <a:latin typeface="Aptos Display"/>
              </a:rPr>
              <a:t>Découpage des zones d’intérêt par mots clés (YOLOv8)</a:t>
            </a:r>
          </a:p>
          <a:p>
            <a:pPr algn="just">
              <a:spcBef>
                <a:spcPts val="250"/>
              </a:spcBef>
              <a:spcAft>
                <a:spcPts val="120"/>
              </a:spcAft>
            </a:pPr>
            <a:r>
              <a:rPr lang="fr-FR" sz="1120" b="1" noProof="0" dirty="0">
                <a:solidFill>
                  <a:srgbClr val="0284C7"/>
                </a:solidFill>
                <a:latin typeface="Aptos"/>
              </a:rPr>
              <a:t>Localisation automatique des zones utiles</a:t>
            </a:r>
          </a:p>
          <a:p>
            <a:pPr algn="just">
              <a:spcBef>
                <a:spcPts val="250"/>
              </a:spcBef>
              <a:spcAft>
                <a:spcPts val="120"/>
              </a:spcAft>
            </a:pPr>
            <a:endParaRPr lang="fr-FR" sz="1120" b="1" noProof="0" dirty="0">
              <a:solidFill>
                <a:srgbClr val="0284C7"/>
              </a:solidFill>
              <a:latin typeface="Aptos"/>
            </a:endParaRPr>
          </a:p>
          <a:p>
            <a:pPr algn="just">
              <a:spcBef>
                <a:spcPts val="250"/>
              </a:spcBef>
              <a:spcAft>
                <a:spcPts val="120"/>
              </a:spcAft>
            </a:pPr>
            <a:r>
              <a:rPr lang="fr-FR" sz="1100" noProof="0" dirty="0">
                <a:solidFill>
                  <a:srgbClr val="141E32"/>
                </a:solidFill>
                <a:latin typeface="Aptos"/>
              </a:rPr>
              <a:t>Le modèle </a:t>
            </a:r>
            <a:r>
              <a:rPr lang="fr-FR" sz="1100" b="1" noProof="0" dirty="0">
                <a:solidFill>
                  <a:srgbClr val="102C57"/>
                </a:solidFill>
                <a:latin typeface="Aptos"/>
              </a:rPr>
              <a:t>YOLOv8</a:t>
            </a:r>
            <a:r>
              <a:rPr lang="fr-FR" sz="1100" b="0" noProof="0" dirty="0">
                <a:solidFill>
                  <a:srgbClr val="141E32"/>
                </a:solidFill>
                <a:latin typeface="Aptos"/>
              </a:rPr>
              <a:t> repère et isole automatiquement les régions d'intérêt : cartouches de titre, tampons, tableaux de contenance et même dans le corps du plan.</a:t>
            </a:r>
          </a:p>
          <a:p>
            <a:pPr algn="just">
              <a:spcBef>
                <a:spcPts val="250"/>
              </a:spcBef>
              <a:spcAft>
                <a:spcPts val="120"/>
              </a:spcAft>
            </a:pPr>
            <a:endParaRPr lang="fr-FR" sz="1100" b="0" noProof="0" dirty="0">
              <a:solidFill>
                <a:srgbClr val="141E32"/>
              </a:solidFill>
              <a:latin typeface="Aptos"/>
            </a:endParaRPr>
          </a:p>
          <a:p>
            <a:pPr algn="just">
              <a:spcBef>
                <a:spcPts val="250"/>
              </a:spcBef>
              <a:spcAft>
                <a:spcPts val="120"/>
              </a:spcAft>
            </a:pPr>
            <a:r>
              <a:rPr lang="fr-FR" sz="1100" b="0" noProof="0" dirty="0">
                <a:solidFill>
                  <a:srgbClr val="141E32"/>
                </a:solidFill>
                <a:latin typeface="Aptos"/>
              </a:rPr>
              <a:t>Ce découpage sépare les informations pertinentes du dessin. Il permet une détection robuste même sur des documents anciens présentant des pliures, des taches, des ratures ou encore des déformations du papier.</a:t>
            </a:r>
          </a:p>
        </p:txBody>
      </p:sp>
      <p:sp>
        <p:nvSpPr>
          <p:cNvPr id="200" name="Rounded Rectangle 199"/>
          <p:cNvSpPr/>
          <p:nvPr/>
        </p:nvSpPr>
        <p:spPr>
          <a:xfrm>
            <a:off x="550000" y="12460000"/>
            <a:ext cx="9900000" cy="232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01" name="TextBox 200"/>
          <p:cNvSpPr txBox="1"/>
          <p:nvPr/>
        </p:nvSpPr>
        <p:spPr>
          <a:xfrm>
            <a:off x="620000" y="12751556"/>
            <a:ext cx="6200000" cy="1736886"/>
          </a:xfrm>
          <a:prstGeom prst="rect">
            <a:avLst/>
          </a:prstGeom>
          <a:noFill/>
        </p:spPr>
        <p:txBody>
          <a:bodyPr wrap="square" lIns="76200" tIns="38100" rIns="101600" bIns="38100" anchor="ctr">
            <a:spAutoFit/>
          </a:bodyPr>
          <a:lstStyle/>
          <a:p>
            <a:pPr algn="just">
              <a:spcBef>
                <a:spcPts val="0"/>
              </a:spcBef>
              <a:spcAft>
                <a:spcPts val="120"/>
              </a:spcAft>
            </a:pPr>
            <a:r>
              <a:rPr lang="fr-FR" sz="1380" b="1" noProof="0" dirty="0">
                <a:solidFill>
                  <a:srgbClr val="102C57"/>
                </a:solidFill>
                <a:latin typeface="Aptos Display"/>
              </a:rPr>
              <a:t>Prétraitement de l’image (</a:t>
            </a:r>
            <a:r>
              <a:rPr lang="fr-FR" sz="1380" b="1" noProof="0" dirty="0" err="1">
                <a:solidFill>
                  <a:srgbClr val="102C57"/>
                </a:solidFill>
                <a:latin typeface="Aptos Display"/>
              </a:rPr>
              <a:t>OpenCV</a:t>
            </a:r>
            <a:r>
              <a:rPr lang="fr-FR" sz="1380" b="1" noProof="0" dirty="0">
                <a:solidFill>
                  <a:srgbClr val="102C57"/>
                </a:solidFill>
                <a:latin typeface="Aptos Display"/>
              </a:rPr>
              <a:t>)</a:t>
            </a:r>
          </a:p>
          <a:p>
            <a:pPr algn="just">
              <a:spcBef>
                <a:spcPts val="250"/>
              </a:spcBef>
              <a:spcAft>
                <a:spcPts val="120"/>
              </a:spcAft>
            </a:pPr>
            <a:r>
              <a:rPr lang="fr-FR" sz="1120" b="1" noProof="0" dirty="0">
                <a:solidFill>
                  <a:srgbClr val="0284C7"/>
                </a:solidFill>
                <a:latin typeface="Aptos"/>
              </a:rPr>
              <a:t>Restauration et redressement avant lecture</a:t>
            </a:r>
          </a:p>
          <a:p>
            <a:pPr algn="just">
              <a:spcBef>
                <a:spcPts val="250"/>
              </a:spcBef>
              <a:spcAft>
                <a:spcPts val="120"/>
              </a:spcAft>
            </a:pPr>
            <a:endParaRPr lang="fr-FR" sz="1120" b="1" noProof="0" dirty="0">
              <a:solidFill>
                <a:srgbClr val="0284C7"/>
              </a:solidFill>
              <a:latin typeface="Aptos"/>
            </a:endParaRPr>
          </a:p>
          <a:p>
            <a:pPr algn="just">
              <a:spcBef>
                <a:spcPts val="250"/>
              </a:spcBef>
              <a:spcAft>
                <a:spcPts val="120"/>
              </a:spcAft>
            </a:pPr>
            <a:r>
              <a:rPr lang="fr-FR" sz="1100" b="0" noProof="0" dirty="0">
                <a:solidFill>
                  <a:srgbClr val="141E32"/>
                </a:solidFill>
                <a:latin typeface="Aptos"/>
              </a:rPr>
              <a:t>Avant la transcription, l'orientation du document est analysée pour </a:t>
            </a:r>
            <a:r>
              <a:rPr lang="fr-FR" sz="1100" b="1" noProof="0" dirty="0">
                <a:solidFill>
                  <a:srgbClr val="102C57"/>
                </a:solidFill>
                <a:latin typeface="Aptos"/>
              </a:rPr>
              <a:t>redresser automatiquement l'image</a:t>
            </a:r>
            <a:r>
              <a:rPr lang="fr-FR" sz="1100" b="0" noProof="0" dirty="0">
                <a:solidFill>
                  <a:srgbClr val="141E32"/>
                </a:solidFill>
                <a:latin typeface="Aptos"/>
              </a:rPr>
              <a:t> et </a:t>
            </a:r>
            <a:r>
              <a:rPr lang="fr-FR" sz="1100" b="0" noProof="0">
                <a:solidFill>
                  <a:srgbClr val="141E32"/>
                </a:solidFill>
                <a:latin typeface="Aptos"/>
              </a:rPr>
              <a:t>remettre l’écriture à </a:t>
            </a:r>
            <a:r>
              <a:rPr lang="fr-FR" sz="1100" b="0" noProof="0" dirty="0">
                <a:solidFill>
                  <a:srgbClr val="141E32"/>
                </a:solidFill>
                <a:latin typeface="Aptos"/>
              </a:rPr>
              <a:t>l'horizontale.</a:t>
            </a:r>
          </a:p>
          <a:p>
            <a:pPr algn="just">
              <a:spcBef>
                <a:spcPts val="250"/>
              </a:spcBef>
              <a:spcAft>
                <a:spcPts val="120"/>
              </a:spcAft>
            </a:pPr>
            <a:endParaRPr lang="fr-FR" sz="1100" b="0" noProof="0" dirty="0">
              <a:solidFill>
                <a:srgbClr val="141E32"/>
              </a:solidFill>
              <a:latin typeface="Aptos"/>
            </a:endParaRPr>
          </a:p>
          <a:p>
            <a:pPr algn="just">
              <a:spcBef>
                <a:spcPts val="250"/>
              </a:spcBef>
              <a:spcAft>
                <a:spcPts val="120"/>
              </a:spcAft>
            </a:pPr>
            <a:r>
              <a:rPr lang="fr-FR" sz="1100" b="0" noProof="0" dirty="0">
                <a:solidFill>
                  <a:srgbClr val="141E32"/>
                </a:solidFill>
                <a:latin typeface="Aptos"/>
              </a:rPr>
              <a:t>Un </a:t>
            </a:r>
            <a:r>
              <a:rPr lang="fr-FR" sz="1100" b="1" noProof="0" dirty="0">
                <a:solidFill>
                  <a:srgbClr val="102C57"/>
                </a:solidFill>
                <a:latin typeface="Aptos"/>
              </a:rPr>
              <a:t>filtrage d'image adapté</a:t>
            </a:r>
            <a:r>
              <a:rPr lang="fr-FR" sz="1100" b="0" noProof="0" dirty="0">
                <a:solidFill>
                  <a:srgbClr val="141E32"/>
                </a:solidFill>
                <a:latin typeface="Aptos"/>
              </a:rPr>
              <a:t> sépare ensuite l'encre du fond et élimine les bruits de numérisation. Les tracés manuscrits fins sont consolidés pour rendre le texte  net et lisible avant la lecture optique.</a:t>
            </a:r>
          </a:p>
        </p:txBody>
      </p:sp>
      <p:pic>
        <p:nvPicPr>
          <p:cNvPr id="202" name="Picture 201" descr="pretraitement_vrai_plan.png"/>
          <p:cNvPicPr>
            <a:picLocks noChangeAspect="1"/>
          </p:cNvPicPr>
          <p:nvPr/>
        </p:nvPicPr>
        <p:blipFill>
          <a:blip r:embed="rId7"/>
          <a:srcRect t="3225" r="1974"/>
          <a:stretch>
            <a:fillRect/>
          </a:stretch>
        </p:blipFill>
        <p:spPr>
          <a:xfrm>
            <a:off x="6900000" y="12635654"/>
            <a:ext cx="3381920" cy="2036539"/>
          </a:xfrm>
          <a:prstGeom prst="rect">
            <a:avLst/>
          </a:prstGeom>
        </p:spPr>
      </p:pic>
      <p:sp>
        <p:nvSpPr>
          <p:cNvPr id="203" name="Rounded Rectangle 202"/>
          <p:cNvSpPr/>
          <p:nvPr/>
        </p:nvSpPr>
        <p:spPr>
          <a:xfrm>
            <a:off x="550000" y="14880000"/>
            <a:ext cx="9900000" cy="232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pic>
        <p:nvPicPr>
          <p:cNvPr id="204" name="Picture 203" descr="extraction_ocr_gliner.png"/>
          <p:cNvPicPr>
            <a:picLocks noChangeAspect="1"/>
          </p:cNvPicPr>
          <p:nvPr/>
        </p:nvPicPr>
        <p:blipFill>
          <a:blip r:embed="rId8"/>
          <a:srcRect l="2801" t="3201" b="1"/>
          <a:stretch>
            <a:fillRect/>
          </a:stretch>
        </p:blipFill>
        <p:spPr>
          <a:xfrm>
            <a:off x="857066" y="15001931"/>
            <a:ext cx="3693560" cy="2147137"/>
          </a:xfrm>
          <a:prstGeom prst="rect">
            <a:avLst/>
          </a:prstGeom>
        </p:spPr>
      </p:pic>
      <p:sp>
        <p:nvSpPr>
          <p:cNvPr id="205" name="TextBox 204"/>
          <p:cNvSpPr txBox="1"/>
          <p:nvPr/>
        </p:nvSpPr>
        <p:spPr>
          <a:xfrm>
            <a:off x="4550000" y="15209131"/>
            <a:ext cx="5820000" cy="1661737"/>
          </a:xfrm>
          <a:prstGeom prst="rect">
            <a:avLst/>
          </a:prstGeom>
          <a:noFill/>
        </p:spPr>
        <p:txBody>
          <a:bodyPr wrap="square" lIns="76200" tIns="50800" rIns="101600" bIns="50800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fr-FR" sz="1300" b="1" noProof="0" dirty="0">
                <a:solidFill>
                  <a:srgbClr val="102C57"/>
                </a:solidFill>
                <a:latin typeface="Aptos Display"/>
              </a:rPr>
              <a:t>Lecture optique et extraction d'entités (</a:t>
            </a:r>
            <a:r>
              <a:rPr lang="fr-FR" sz="1300" b="1" noProof="0" dirty="0" err="1">
                <a:solidFill>
                  <a:srgbClr val="102C57"/>
                </a:solidFill>
                <a:latin typeface="Aptos Display"/>
              </a:rPr>
              <a:t>TrOCR</a:t>
            </a:r>
            <a:r>
              <a:rPr lang="fr-FR" sz="1300" b="1" noProof="0" dirty="0">
                <a:solidFill>
                  <a:srgbClr val="102C57"/>
                </a:solidFill>
                <a:latin typeface="Aptos Display"/>
              </a:rPr>
              <a:t> et </a:t>
            </a:r>
            <a:r>
              <a:rPr lang="fr-FR" sz="1300" b="1" noProof="0" dirty="0" err="1">
                <a:solidFill>
                  <a:srgbClr val="102C57"/>
                </a:solidFill>
                <a:latin typeface="Aptos Display"/>
              </a:rPr>
              <a:t>GLiNER</a:t>
            </a:r>
            <a:r>
              <a:rPr lang="fr-FR" sz="1300" b="1" noProof="0" dirty="0">
                <a:solidFill>
                  <a:srgbClr val="102C57"/>
                </a:solidFill>
                <a:latin typeface="Aptos Display"/>
              </a:rPr>
              <a:t>)</a:t>
            </a:r>
          </a:p>
          <a:p>
            <a:pPr algn="l">
              <a:spcBef>
                <a:spcPts val="350"/>
              </a:spcBef>
              <a:spcAft>
                <a:spcPts val="100"/>
              </a:spcAft>
            </a:pPr>
            <a:r>
              <a:rPr lang="fr-FR" sz="1050" b="1" noProof="0" dirty="0">
                <a:solidFill>
                  <a:srgbClr val="0284C7"/>
                </a:solidFill>
                <a:latin typeface="Aptos"/>
              </a:rPr>
              <a:t>Reconnaissance conjointe de l'imprimé et du manuscrit</a:t>
            </a:r>
          </a:p>
          <a:p>
            <a:pPr algn="l">
              <a:spcBef>
                <a:spcPts val="350"/>
              </a:spcBef>
              <a:spcAft>
                <a:spcPts val="100"/>
              </a:spcAft>
            </a:pPr>
            <a:r>
              <a:rPr lang="fr-FR" sz="1019" b="0" noProof="0" dirty="0">
                <a:solidFill>
                  <a:srgbClr val="141E32"/>
                </a:solidFill>
                <a:latin typeface="Aptos"/>
              </a:rPr>
              <a:t>La lecture optique associe </a:t>
            </a:r>
            <a:r>
              <a:rPr lang="fr-FR" sz="1019" b="1" noProof="0" dirty="0" err="1">
                <a:solidFill>
                  <a:srgbClr val="102C57"/>
                </a:solidFill>
                <a:latin typeface="Aptos"/>
              </a:rPr>
              <a:t>EasyOCR</a:t>
            </a:r>
            <a:r>
              <a:rPr lang="fr-FR" sz="1019" b="0" noProof="0" dirty="0">
                <a:solidFill>
                  <a:srgbClr val="141E32"/>
                </a:solidFill>
                <a:latin typeface="Aptos"/>
              </a:rPr>
              <a:t> pour les textes imprimés et </a:t>
            </a:r>
            <a:r>
              <a:rPr lang="fr-FR" sz="1019" b="1" noProof="0" dirty="0" err="1">
                <a:solidFill>
                  <a:srgbClr val="102C57"/>
                </a:solidFill>
                <a:latin typeface="Aptos"/>
              </a:rPr>
              <a:t>TrOCR</a:t>
            </a:r>
            <a:r>
              <a:rPr lang="fr-FR" sz="1019" b="0" noProof="0" dirty="0">
                <a:solidFill>
                  <a:srgbClr val="141E32"/>
                </a:solidFill>
                <a:latin typeface="Aptos"/>
              </a:rPr>
              <a:t> pour les écritures manuscrites des géomètres. Le modèle  </a:t>
            </a:r>
            <a:r>
              <a:rPr lang="fr-FR" sz="1019" b="1" noProof="0" dirty="0" err="1">
                <a:solidFill>
                  <a:srgbClr val="102C57"/>
                </a:solidFill>
                <a:latin typeface="Aptos"/>
              </a:rPr>
              <a:t>GLiNER</a:t>
            </a:r>
            <a:r>
              <a:rPr lang="fr-FR" sz="1019" b="0" noProof="0" dirty="0">
                <a:solidFill>
                  <a:srgbClr val="141E32"/>
                </a:solidFill>
                <a:latin typeface="Aptos"/>
              </a:rPr>
              <a:t> extrait les entités clés (commune, section, parcelles, date, géomètre).</a:t>
            </a:r>
          </a:p>
          <a:p>
            <a:pPr algn="l">
              <a:spcBef>
                <a:spcPts val="350"/>
              </a:spcBef>
              <a:spcAft>
                <a:spcPts val="100"/>
              </a:spcAft>
            </a:pPr>
            <a:endParaRPr lang="fr-FR" sz="1019" b="0" noProof="0" dirty="0">
              <a:solidFill>
                <a:srgbClr val="141E32"/>
              </a:solidFill>
              <a:latin typeface="Aptos"/>
            </a:endParaRPr>
          </a:p>
          <a:p>
            <a:pPr algn="l">
              <a:spcBef>
                <a:spcPts val="350"/>
              </a:spcBef>
              <a:spcAft>
                <a:spcPts val="100"/>
              </a:spcAft>
            </a:pPr>
            <a:r>
              <a:rPr lang="fr-FR" sz="1019" b="0" noProof="0" dirty="0">
                <a:solidFill>
                  <a:srgbClr val="141E32"/>
                </a:solidFill>
                <a:latin typeface="Aptos"/>
              </a:rPr>
              <a:t>En cas de doute ou d'anomalie de lecture, le modèle VLM local sous </a:t>
            </a:r>
            <a:r>
              <a:rPr lang="fr-FR" sz="1019" b="1" noProof="0" dirty="0" err="1">
                <a:solidFill>
                  <a:srgbClr val="102C57"/>
                </a:solidFill>
                <a:latin typeface="Aptos"/>
              </a:rPr>
              <a:t>Ollama</a:t>
            </a:r>
            <a:r>
              <a:rPr lang="fr-FR" sz="1019" b="0" noProof="0" dirty="0">
                <a:solidFill>
                  <a:srgbClr val="141E32"/>
                </a:solidFill>
                <a:latin typeface="Aptos"/>
              </a:rPr>
              <a:t> intervient en </a:t>
            </a:r>
            <a:r>
              <a:rPr lang="fr-FR" sz="1019" b="1" noProof="0" dirty="0">
                <a:solidFill>
                  <a:srgbClr val="102C57"/>
                </a:solidFill>
                <a:latin typeface="Aptos"/>
              </a:rPr>
              <a:t>arbitre</a:t>
            </a:r>
            <a:r>
              <a:rPr lang="fr-FR" sz="1019" b="0" noProof="0" dirty="0">
                <a:solidFill>
                  <a:srgbClr val="141E32"/>
                </a:solidFill>
                <a:latin typeface="Aptos"/>
              </a:rPr>
              <a:t> pour trancher directement sur l'image de la zone.</a:t>
            </a:r>
          </a:p>
        </p:txBody>
      </p:sp>
      <p:pic>
        <p:nvPicPr>
          <p:cNvPr id="206" name="Picture 205" descr="f1_scores_char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0000" y="19909426"/>
            <a:ext cx="4750000" cy="2881147"/>
          </a:xfrm>
          <a:prstGeom prst="rect">
            <a:avLst/>
          </a:prstGeom>
        </p:spPr>
      </p:pic>
      <p:sp>
        <p:nvSpPr>
          <p:cNvPr id="207" name="Rectangle 206"/>
          <p:cNvSpPr/>
          <p:nvPr/>
        </p:nvSpPr>
        <p:spPr>
          <a:xfrm>
            <a:off x="600000" y="23160020"/>
            <a:ext cx="4750000" cy="2879797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t"/>
          <a:lstStyle/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lang="fr-FR" sz="1300" b="1" noProof="0" dirty="0">
                <a:solidFill>
                  <a:srgbClr val="102C57"/>
                </a:solidFill>
                <a:latin typeface="Aptos Display"/>
              </a:rPr>
              <a:t>Contrôle cadastral et filiation </a:t>
            </a:r>
            <a:r>
              <a:rPr lang="fr-FR" sz="1300" b="1" dirty="0">
                <a:solidFill>
                  <a:srgbClr val="102C57"/>
                </a:solidFill>
                <a:latin typeface="Aptos Display"/>
              </a:rPr>
              <a:t>parcellaire</a:t>
            </a:r>
          </a:p>
          <a:p>
            <a:pPr algn="l">
              <a:spcBef>
                <a:spcPts val="300"/>
              </a:spcBef>
              <a:spcAft>
                <a:spcPts val="150"/>
              </a:spcAft>
            </a:pPr>
            <a:endParaRPr lang="fr-FR" sz="1300" b="1" noProof="0" dirty="0">
              <a:solidFill>
                <a:srgbClr val="102C57"/>
              </a:solidFill>
              <a:latin typeface="Aptos Display"/>
            </a:endParaRPr>
          </a:p>
          <a:p>
            <a:pPr algn="l">
              <a:spcBef>
                <a:spcPts val="300"/>
              </a:spcBef>
              <a:spcAft>
                <a:spcPts val="150"/>
              </a:spcAft>
            </a:pPr>
            <a:r>
              <a:rPr lang="fr-FR" sz="1060" b="0" noProof="0" dirty="0">
                <a:solidFill>
                  <a:srgbClr val="141E32"/>
                </a:solidFill>
                <a:latin typeface="Aptos"/>
              </a:rPr>
              <a:t>Le contrôle spatial croise les informations avec le </a:t>
            </a:r>
            <a:r>
              <a:rPr lang="fr-FR" sz="1060" b="1" noProof="0" dirty="0">
                <a:solidFill>
                  <a:srgbClr val="0284C7"/>
                </a:solidFill>
                <a:latin typeface="Aptos"/>
              </a:rPr>
              <a:t>cadastre officiel (IGN et DGFiP)</a:t>
            </a:r>
            <a:r>
              <a:rPr lang="fr-FR" sz="1060" b="0" noProof="0" dirty="0">
                <a:solidFill>
                  <a:srgbClr val="141E32"/>
                </a:solidFill>
                <a:latin typeface="Aptos"/>
              </a:rPr>
              <a:t> pour attester de l'existence des parcelles et vérifier les opérations antérieures sur </a:t>
            </a:r>
            <a:r>
              <a:rPr lang="fr-FR" sz="1060" b="0" noProof="0" dirty="0" err="1">
                <a:solidFill>
                  <a:srgbClr val="141E32"/>
                </a:solidFill>
                <a:latin typeface="Aptos"/>
              </a:rPr>
              <a:t>GéofoncierEXPERT</a:t>
            </a:r>
            <a:r>
              <a:rPr lang="fr-FR" sz="1060" b="0" noProof="0" dirty="0">
                <a:solidFill>
                  <a:srgbClr val="141E32"/>
                </a:solidFill>
                <a:latin typeface="Aptos"/>
              </a:rPr>
              <a:t>.</a:t>
            </a:r>
          </a:p>
          <a:p>
            <a:pPr algn="l">
              <a:spcBef>
                <a:spcPts val="300"/>
              </a:spcBef>
              <a:spcAft>
                <a:spcPts val="150"/>
              </a:spcAft>
            </a:pPr>
            <a:endParaRPr lang="fr-FR" sz="1060" b="0" noProof="0" dirty="0">
              <a:solidFill>
                <a:srgbClr val="141E32"/>
              </a:solidFill>
              <a:latin typeface="Aptos"/>
            </a:endParaRPr>
          </a:p>
          <a:p>
            <a:pPr algn="l">
              <a:spcBef>
                <a:spcPts val="300"/>
              </a:spcBef>
              <a:spcAft>
                <a:spcPts val="150"/>
              </a:spcAft>
            </a:pPr>
            <a:r>
              <a:rPr lang="fr-FR" sz="1060" b="0" noProof="0" dirty="0">
                <a:solidFill>
                  <a:srgbClr val="141E32"/>
                </a:solidFill>
                <a:latin typeface="Aptos"/>
              </a:rPr>
              <a:t>En cas de division ancienne, le module retrace la </a:t>
            </a:r>
            <a:r>
              <a:rPr lang="fr-FR" sz="1060" b="1" noProof="0" dirty="0">
                <a:solidFill>
                  <a:srgbClr val="0284C7"/>
                </a:solidFill>
                <a:latin typeface="Aptos"/>
              </a:rPr>
              <a:t>filiation parcellaire</a:t>
            </a:r>
            <a:r>
              <a:rPr lang="fr-FR" sz="1060" b="0" noProof="0" dirty="0">
                <a:solidFill>
                  <a:srgbClr val="141E32"/>
                </a:solidFill>
                <a:latin typeface="Aptos"/>
              </a:rPr>
              <a:t> en reliant parcelles mères et filles. Un filtre </a:t>
            </a:r>
            <a:r>
              <a:rPr lang="fr-FR" sz="1060" b="1" noProof="0" dirty="0">
                <a:solidFill>
                  <a:srgbClr val="0284C7"/>
                </a:solidFill>
                <a:latin typeface="Aptos"/>
              </a:rPr>
              <a:t>anti-doublon</a:t>
            </a:r>
            <a:r>
              <a:rPr lang="fr-FR" sz="1060" b="0" noProof="0" dirty="0">
                <a:solidFill>
                  <a:srgbClr val="141E32"/>
                </a:solidFill>
                <a:latin typeface="Aptos"/>
              </a:rPr>
              <a:t> avertit l'opérateur pour prévenir tout risque de double versement.</a:t>
            </a:r>
          </a:p>
          <a:p>
            <a:pPr algn="l">
              <a:spcBef>
                <a:spcPts val="300"/>
              </a:spcBef>
              <a:spcAft>
                <a:spcPts val="150"/>
              </a:spcAft>
            </a:pPr>
            <a:endParaRPr lang="fr-FR" sz="1060" b="0" noProof="0" dirty="0">
              <a:solidFill>
                <a:srgbClr val="141E32"/>
              </a:solidFill>
              <a:latin typeface="Aptos"/>
            </a:endParaRPr>
          </a:p>
          <a:p>
            <a:pPr algn="l">
              <a:spcBef>
                <a:spcPts val="300"/>
              </a:spcBef>
              <a:spcAft>
                <a:spcPts val="150"/>
              </a:spcAft>
            </a:pPr>
            <a:r>
              <a:rPr lang="fr-FR" sz="1060" b="0" noProof="0" dirty="0">
                <a:solidFill>
                  <a:srgbClr val="141E32"/>
                </a:solidFill>
                <a:latin typeface="Aptos"/>
              </a:rPr>
              <a:t>Ce croisement automatique fiabilise le </a:t>
            </a:r>
            <a:r>
              <a:rPr lang="fr-FR" sz="1060" b="1" noProof="0" dirty="0">
                <a:solidFill>
                  <a:srgbClr val="102C57"/>
                </a:solidFill>
                <a:latin typeface="Aptos"/>
              </a:rPr>
              <a:t>positionnement géographique</a:t>
            </a:r>
            <a:r>
              <a:rPr lang="fr-FR" sz="1060" b="0" noProof="0" dirty="0">
                <a:solidFill>
                  <a:srgbClr val="141E32"/>
                </a:solidFill>
                <a:latin typeface="Aptos"/>
              </a:rPr>
              <a:t> et prépare le dossier pour la validation finale par l'opérateur.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5550000" y="19850000"/>
            <a:ext cx="4850000" cy="750000"/>
          </a:xfrm>
          <a:prstGeom prst="rect">
            <a:avLst/>
          </a:prstGeom>
          <a:noFill/>
        </p:spPr>
        <p:txBody>
          <a:bodyPr wrap="square" lIns="50800" tIns="0" rIns="5080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fr-FR" sz="1450" b="1" noProof="0" dirty="0">
                <a:solidFill>
                  <a:srgbClr val="102C57"/>
                </a:solidFill>
                <a:latin typeface="Aptos Display"/>
              </a:rPr>
              <a:t>17 règles de cohérence métier avant validation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lang="fr-FR" sz="1120" b="1" noProof="0" dirty="0">
                <a:solidFill>
                  <a:srgbClr val="0284C7"/>
                </a:solidFill>
                <a:latin typeface="Aptos"/>
              </a:rPr>
              <a:t>Contrôles automatiques préalables à la relecture opérateur :</a:t>
            </a:r>
          </a:p>
        </p:txBody>
      </p:sp>
      <p:sp>
        <p:nvSpPr>
          <p:cNvPr id="209" name="Rounded Rectangle 208"/>
          <p:cNvSpPr/>
          <p:nvPr/>
        </p:nvSpPr>
        <p:spPr>
          <a:xfrm>
            <a:off x="5550000" y="20700000"/>
            <a:ext cx="4850000" cy="128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38100" rIns="101600" bIns="381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fr-FR" sz="1200" b="1" noProof="0" dirty="0">
                <a:solidFill>
                  <a:srgbClr val="102C57"/>
                </a:solidFill>
                <a:latin typeface="Aptos Display"/>
              </a:rPr>
              <a:t>Cohérence des dates (4 règles)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lang="fr-FR" sz="1050" b="0" noProof="0" dirty="0">
                <a:solidFill>
                  <a:srgbClr val="141E32"/>
                </a:solidFill>
                <a:latin typeface="Aptos"/>
              </a:rPr>
              <a:t>Contrôle du format standard, vérification de l'antériorité de l'acte et concordance avec les années d'exercice du géomètre au cabinet.</a:t>
            </a:r>
          </a:p>
        </p:txBody>
      </p:sp>
      <p:sp>
        <p:nvSpPr>
          <p:cNvPr id="210" name="Rounded Rectangle 209"/>
          <p:cNvSpPr/>
          <p:nvPr/>
        </p:nvSpPr>
        <p:spPr>
          <a:xfrm>
            <a:off x="5550000" y="22100000"/>
            <a:ext cx="4850000" cy="128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38100" rIns="101600" bIns="381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fr-FR" sz="1200" b="1" noProof="0" dirty="0">
                <a:solidFill>
                  <a:srgbClr val="102C57"/>
                </a:solidFill>
                <a:latin typeface="Aptos Display"/>
              </a:rPr>
              <a:t>Contrôles cadastraux (5 règles)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lang="fr-FR" sz="1050" b="0" noProof="0" dirty="0">
                <a:solidFill>
                  <a:srgbClr val="141E32"/>
                </a:solidFill>
                <a:latin typeface="Aptos"/>
              </a:rPr>
              <a:t>Validation du code officiel INSEE, cohérence des sections, normalisation des numéros de parcelles et rejet des incohérences.</a:t>
            </a:r>
          </a:p>
        </p:txBody>
      </p:sp>
      <p:sp>
        <p:nvSpPr>
          <p:cNvPr id="211" name="Rounded Rectangle 210"/>
          <p:cNvSpPr/>
          <p:nvPr/>
        </p:nvSpPr>
        <p:spPr>
          <a:xfrm>
            <a:off x="5550000" y="23500000"/>
            <a:ext cx="4850000" cy="128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38100" rIns="101600" bIns="381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fr-FR" sz="1200" b="1" noProof="0" dirty="0">
                <a:solidFill>
                  <a:srgbClr val="102C57"/>
                </a:solidFill>
                <a:latin typeface="Aptos Display"/>
              </a:rPr>
              <a:t>Contrôles des personnes (4 règles)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lang="fr-FR" sz="1050" b="0" noProof="0" dirty="0">
                <a:solidFill>
                  <a:srgbClr val="141E32"/>
                </a:solidFill>
                <a:latin typeface="Aptos"/>
              </a:rPr>
              <a:t>Authentification du géomètre signataire dans l'annuaire du cabinet, vérification des parties et tri entre vendeur et acquéreur.</a:t>
            </a:r>
          </a:p>
        </p:txBody>
      </p:sp>
      <p:sp>
        <p:nvSpPr>
          <p:cNvPr id="212" name="Rounded Rectangle 211"/>
          <p:cNvSpPr/>
          <p:nvPr/>
        </p:nvSpPr>
        <p:spPr>
          <a:xfrm>
            <a:off x="5550000" y="24900000"/>
            <a:ext cx="4850000" cy="13800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38100" rIns="101600" bIns="381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fr-FR" sz="1200" b="1" noProof="0" dirty="0">
                <a:solidFill>
                  <a:srgbClr val="16A34A"/>
                </a:solidFill>
                <a:latin typeface="Aptos Display"/>
              </a:rPr>
              <a:t>Contrôles de dossier et anti-doublon (4 règles)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lang="fr-FR" sz="1050" b="0" noProof="0" dirty="0">
                <a:solidFill>
                  <a:srgbClr val="141E32"/>
                </a:solidFill>
                <a:latin typeface="Aptos"/>
              </a:rPr>
              <a:t>Validation de la référence par recherche d'antériorités sur la même parcelle, ou compréhension de la mission par un opérateur dans les cas les plus complexes.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600000" y="27680000"/>
            <a:ext cx="3100000" cy="980000"/>
          </a:xfrm>
          <a:prstGeom prst="rect">
            <a:avLst/>
          </a:prstGeom>
          <a:solidFill>
            <a:srgbClr val="E0F2FE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lang="fr-FR" sz="1350" b="1" noProof="0" dirty="0">
                <a:solidFill>
                  <a:srgbClr val="102C57"/>
                </a:solidFill>
                <a:latin typeface="Aptos Display"/>
              </a:rPr>
              <a:t>TEMPS DIVISÉ PAR 8</a:t>
            </a:r>
          </a:p>
          <a:p>
            <a:pPr algn="ctr">
              <a:spcBef>
                <a:spcPts val="300"/>
              </a:spcBef>
              <a:spcAft>
                <a:spcPts val="150"/>
              </a:spcAft>
            </a:pPr>
            <a:r>
              <a:rPr lang="fr-FR" sz="1200" b="1" noProof="0" dirty="0">
                <a:solidFill>
                  <a:srgbClr val="0284C7"/>
                </a:solidFill>
                <a:latin typeface="Aptos Display"/>
              </a:rPr>
              <a:t>De 25 min à 2 min 40 s (moyenne)</a:t>
            </a:r>
          </a:p>
          <a:p>
            <a:pPr algn="ctr">
              <a:spcBef>
                <a:spcPts val="300"/>
              </a:spcBef>
              <a:spcAft>
                <a:spcPts val="150"/>
              </a:spcAft>
            </a:pPr>
            <a:r>
              <a:rPr lang="fr-FR" sz="1019" b="0" noProof="0" dirty="0">
                <a:solidFill>
                  <a:srgbClr val="141E32"/>
                </a:solidFill>
                <a:latin typeface="Aptos"/>
              </a:rPr>
              <a:t>par dossier d'arpentage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3950000" y="27680000"/>
            <a:ext cx="3100000" cy="980000"/>
          </a:xfrm>
          <a:prstGeom prst="rect">
            <a:avLst/>
          </a:prstGeom>
          <a:solidFill>
            <a:srgbClr val="DCFCE7"/>
          </a:solidFill>
          <a:ln w="1778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lang="fr-FR" sz="1350" b="1" noProof="0" dirty="0">
                <a:solidFill>
                  <a:srgbClr val="16A34A"/>
                </a:solidFill>
                <a:latin typeface="Aptos Display"/>
              </a:rPr>
              <a:t>82 % SANS CORRECTION</a:t>
            </a:r>
          </a:p>
          <a:p>
            <a:pPr algn="ctr">
              <a:spcBef>
                <a:spcPts val="300"/>
              </a:spcBef>
              <a:spcAft>
                <a:spcPts val="150"/>
              </a:spcAft>
            </a:pPr>
            <a:r>
              <a:rPr lang="fr-FR" sz="1200" b="1" noProof="0" dirty="0">
                <a:solidFill>
                  <a:srgbClr val="102C57"/>
                </a:solidFill>
                <a:latin typeface="Aptos Display"/>
              </a:rPr>
              <a:t>27 sur 33 dossiers validés</a:t>
            </a:r>
          </a:p>
          <a:p>
            <a:pPr algn="ctr">
              <a:spcBef>
                <a:spcPts val="300"/>
              </a:spcBef>
              <a:spcAft>
                <a:spcPts val="150"/>
              </a:spcAft>
            </a:pPr>
            <a:r>
              <a:rPr lang="fr-FR" sz="1019" b="0" noProof="0" dirty="0">
                <a:solidFill>
                  <a:srgbClr val="141E32"/>
                </a:solidFill>
                <a:latin typeface="Aptos"/>
              </a:rPr>
              <a:t>dès le premier passage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7300000" y="27680000"/>
            <a:ext cx="3100000" cy="980000"/>
          </a:xfrm>
          <a:prstGeom prst="rect">
            <a:avLst/>
          </a:prstGeom>
          <a:solidFill>
            <a:srgbClr val="E0F2FE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lang="fr-FR" sz="1350" b="1" noProof="0" dirty="0">
                <a:solidFill>
                  <a:srgbClr val="102C57"/>
                </a:solidFill>
                <a:latin typeface="Aptos Display"/>
              </a:rPr>
              <a:t>23 600 DOSSIERS TRAITABLES</a:t>
            </a:r>
          </a:p>
          <a:p>
            <a:pPr algn="ctr">
              <a:spcBef>
                <a:spcPts val="300"/>
              </a:spcBef>
              <a:spcAft>
                <a:spcPts val="150"/>
              </a:spcAft>
            </a:pPr>
            <a:r>
              <a:rPr lang="fr-FR" sz="1200" b="1" noProof="0" dirty="0">
                <a:solidFill>
                  <a:srgbClr val="0284C7"/>
                </a:solidFill>
                <a:latin typeface="Aptos Display"/>
              </a:rPr>
              <a:t>Fonds historique valorisé</a:t>
            </a:r>
          </a:p>
          <a:p>
            <a:pPr algn="ctr">
              <a:spcBef>
                <a:spcPts val="300"/>
              </a:spcBef>
              <a:spcAft>
                <a:spcPts val="150"/>
              </a:spcAft>
            </a:pPr>
            <a:r>
              <a:rPr lang="fr-FR" sz="1019" b="0" noProof="0" dirty="0">
                <a:solidFill>
                  <a:srgbClr val="141E32"/>
                </a:solidFill>
                <a:latin typeface="Aptos"/>
              </a:rPr>
              <a:t>directement au cabinet</a:t>
            </a:r>
          </a:p>
        </p:txBody>
      </p:sp>
      <p:sp>
        <p:nvSpPr>
          <p:cNvPr id="216" name="Rounded Rectangle 215"/>
          <p:cNvSpPr/>
          <p:nvPr/>
        </p:nvSpPr>
        <p:spPr>
          <a:xfrm>
            <a:off x="600000" y="28740000"/>
            <a:ext cx="9800000" cy="114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17" name="TextBox 216"/>
          <p:cNvSpPr txBox="1"/>
          <p:nvPr/>
        </p:nvSpPr>
        <p:spPr>
          <a:xfrm>
            <a:off x="600000" y="28799604"/>
            <a:ext cx="9800000" cy="1020792"/>
          </a:xfrm>
          <a:prstGeom prst="rect">
            <a:avLst/>
          </a:prstGeom>
          <a:noFill/>
        </p:spPr>
        <p:txBody>
          <a:bodyPr wrap="square" lIns="152400" tIns="50800" rIns="152400" bIns="50800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fr-FR" sz="1060" b="0" noProof="0" dirty="0">
                <a:solidFill>
                  <a:srgbClr val="141E32"/>
                </a:solidFill>
                <a:latin typeface="Aptos"/>
              </a:rPr>
              <a:t>Ce projet répond à une exigence actuelle du cabinet </a:t>
            </a:r>
            <a:r>
              <a:rPr lang="fr-FR" sz="1060" b="1" noProof="0" dirty="0">
                <a:solidFill>
                  <a:srgbClr val="102C57"/>
                </a:solidFill>
                <a:latin typeface="Aptos"/>
              </a:rPr>
              <a:t>GEO-SIAPP</a:t>
            </a:r>
            <a:r>
              <a:rPr lang="fr-FR" sz="1060" b="0" noProof="0" dirty="0">
                <a:solidFill>
                  <a:srgbClr val="141E32"/>
                </a:solidFill>
                <a:latin typeface="Aptos"/>
              </a:rPr>
              <a:t>. En fiabilisant l'accès aux anciens travaux mais aussi à d’anciennes bases de données du cadastre par exemple, l'outil permet de rétablir les limites réelles sans risque de litige du fait d’anciennes interventions.</a:t>
            </a:r>
          </a:p>
          <a:p>
            <a:pPr algn="l">
              <a:spcBef>
                <a:spcPts val="250"/>
              </a:spcBef>
              <a:spcAft>
                <a:spcPts val="100"/>
              </a:spcAft>
            </a:pPr>
            <a:endParaRPr lang="fr-FR" sz="1060" b="0" noProof="0" dirty="0">
              <a:solidFill>
                <a:srgbClr val="141E32"/>
              </a:solidFill>
              <a:latin typeface="Aptos"/>
            </a:endParaRPr>
          </a:p>
          <a:p>
            <a:pPr algn="l">
              <a:spcBef>
                <a:spcPts val="250"/>
              </a:spcBef>
              <a:spcAft>
                <a:spcPts val="100"/>
              </a:spcAft>
            </a:pPr>
            <a:r>
              <a:rPr lang="fr-FR" sz="1060" b="0" noProof="0" dirty="0">
                <a:solidFill>
                  <a:srgbClr val="141E32"/>
                </a:solidFill>
                <a:latin typeface="Aptos"/>
              </a:rPr>
              <a:t>L'architecture </a:t>
            </a:r>
            <a:r>
              <a:rPr lang="fr-FR" sz="1060" b="1" noProof="0" dirty="0">
                <a:solidFill>
                  <a:srgbClr val="102C57"/>
                </a:solidFill>
                <a:latin typeface="Aptos"/>
              </a:rPr>
              <a:t>100 % locale</a:t>
            </a:r>
            <a:r>
              <a:rPr lang="fr-FR" sz="1060" b="0" noProof="0" dirty="0">
                <a:solidFill>
                  <a:srgbClr val="141E32"/>
                </a:solidFill>
                <a:latin typeface="Aptos"/>
              </a:rPr>
              <a:t> garantit le respect du secret professionnel et la conformité au </a:t>
            </a:r>
            <a:r>
              <a:rPr lang="fr-FR" sz="1060" b="1" noProof="0" dirty="0">
                <a:solidFill>
                  <a:srgbClr val="102C57"/>
                </a:solidFill>
                <a:latin typeface="Aptos"/>
              </a:rPr>
              <a:t>RGPD</a:t>
            </a:r>
            <a:r>
              <a:rPr lang="fr-FR" sz="1060" b="0" noProof="0" dirty="0">
                <a:solidFill>
                  <a:srgbClr val="141E32"/>
                </a:solidFill>
                <a:latin typeface="Aptos"/>
              </a:rPr>
              <a:t>. Les plans d'archives deviennent consultables et s'insèrent directement sur </a:t>
            </a:r>
            <a:r>
              <a:rPr lang="fr-FR" sz="1060" b="1" noProof="0" dirty="0" err="1">
                <a:solidFill>
                  <a:schemeClr val="accent1"/>
                </a:solidFill>
                <a:latin typeface="Aptos"/>
              </a:rPr>
              <a:t>Géofoncier</a:t>
            </a:r>
            <a:r>
              <a:rPr lang="fr-FR" sz="1060" b="0" noProof="0" dirty="0">
                <a:solidFill>
                  <a:schemeClr val="accent1"/>
                </a:solidFill>
                <a:latin typeface="Aptos"/>
              </a:rPr>
              <a:t>.</a:t>
            </a:r>
          </a:p>
        </p:txBody>
      </p:sp>
      <p:sp>
        <p:nvSpPr>
          <p:cNvPr id="218" name="Down Arrow 217"/>
          <p:cNvSpPr/>
          <p:nvPr/>
        </p:nvSpPr>
        <p:spPr>
          <a:xfrm rot="5400000">
            <a:off x="12607413" y="10601989"/>
            <a:ext cx="420000" cy="260000"/>
          </a:xfrm>
          <a:prstGeom prst="notchedRightArrow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20" name="Down Arrow 219"/>
          <p:cNvSpPr/>
          <p:nvPr/>
        </p:nvSpPr>
        <p:spPr>
          <a:xfrm rot="5400000">
            <a:off x="18912155" y="9098123"/>
            <a:ext cx="360000" cy="280905"/>
          </a:xfrm>
          <a:prstGeom prst="notchedRightArrow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21" name="Down Arrow 220"/>
          <p:cNvSpPr/>
          <p:nvPr/>
        </p:nvSpPr>
        <p:spPr>
          <a:xfrm rot="5400000">
            <a:off x="18912155" y="10328842"/>
            <a:ext cx="360000" cy="280905"/>
          </a:xfrm>
          <a:prstGeom prst="notchedRightArrow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22" name="Rounded Rectangle 221"/>
          <p:cNvSpPr/>
          <p:nvPr/>
        </p:nvSpPr>
        <p:spPr>
          <a:xfrm>
            <a:off x="11100000" y="18950000"/>
            <a:ext cx="4450000" cy="22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23" name="Rounded Rectangle 222"/>
          <p:cNvSpPr/>
          <p:nvPr/>
        </p:nvSpPr>
        <p:spPr>
          <a:xfrm>
            <a:off x="11101388" y="18951375"/>
            <a:ext cx="4462774" cy="260000"/>
          </a:xfrm>
          <a:prstGeom prst="round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lang="fr-FR" sz="1050" b="1" noProof="0" dirty="0">
                <a:solidFill>
                  <a:srgbClr val="FFFFFF"/>
                </a:solidFill>
                <a:latin typeface="Aptos Display"/>
              </a:rPr>
              <a:t>Aperçu de l’interface de contrôle</a:t>
            </a:r>
          </a:p>
        </p:txBody>
      </p:sp>
      <p:pic>
        <p:nvPicPr>
          <p:cNvPr id="224" name="Picture 223" descr="interface_haut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447476" y="19300000"/>
            <a:ext cx="3755047" cy="1850000"/>
          </a:xfrm>
          <a:prstGeom prst="rect">
            <a:avLst/>
          </a:prstGeom>
        </p:spPr>
      </p:pic>
      <p:sp>
        <p:nvSpPr>
          <p:cNvPr id="225" name="Rounded Rectangle 224"/>
          <p:cNvSpPr/>
          <p:nvPr/>
        </p:nvSpPr>
        <p:spPr>
          <a:xfrm>
            <a:off x="15650000" y="18950000"/>
            <a:ext cx="5250000" cy="226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26" name="TextBox 225"/>
          <p:cNvSpPr txBox="1"/>
          <p:nvPr/>
        </p:nvSpPr>
        <p:spPr>
          <a:xfrm>
            <a:off x="15650000" y="18995857"/>
            <a:ext cx="5250000" cy="2168286"/>
          </a:xfrm>
          <a:prstGeom prst="rect">
            <a:avLst/>
          </a:prstGeom>
          <a:noFill/>
        </p:spPr>
        <p:txBody>
          <a:bodyPr wrap="square" lIns="127000" tIns="50800" rIns="127000" bIns="50800" anchor="ctr">
            <a:spAutoFit/>
          </a:bodyPr>
          <a:lstStyle/>
          <a:p>
            <a:pPr algn="l">
              <a:spcBef>
                <a:spcPts val="0"/>
              </a:spcBef>
              <a:spcAft>
                <a:spcPts val="120"/>
              </a:spcAft>
            </a:pPr>
            <a:r>
              <a:rPr lang="fr-FR" sz="1250" b="1" noProof="0" dirty="0">
                <a:solidFill>
                  <a:srgbClr val="102C57"/>
                </a:solidFill>
                <a:latin typeface="Aptos Display"/>
              </a:rPr>
              <a:t>      Interface web développée via le langage de programmation Python :</a:t>
            </a:r>
          </a:p>
          <a:p>
            <a:pPr algn="l">
              <a:spcBef>
                <a:spcPts val="250"/>
              </a:spcBef>
              <a:spcAft>
                <a:spcPts val="120"/>
              </a:spcAft>
            </a:pPr>
            <a:r>
              <a:rPr lang="fr-FR" sz="1120" b="1" noProof="0" dirty="0">
                <a:solidFill>
                  <a:srgbClr val="0284C7"/>
                </a:solidFill>
                <a:latin typeface="Aptos"/>
              </a:rPr>
              <a:t>Supervision interactive et validation humaine</a:t>
            </a:r>
          </a:p>
          <a:p>
            <a:pPr algn="just">
              <a:spcBef>
                <a:spcPts val="250"/>
              </a:spcBef>
              <a:spcAft>
                <a:spcPts val="120"/>
              </a:spcAft>
            </a:pPr>
            <a:r>
              <a:rPr lang="fr-FR" sz="1080" b="0" noProof="0" dirty="0">
                <a:solidFill>
                  <a:srgbClr val="141E32"/>
                </a:solidFill>
                <a:latin typeface="Aptos"/>
              </a:rPr>
              <a:t>L'application offre une </a:t>
            </a:r>
            <a:r>
              <a:rPr lang="fr-FR" sz="1080" b="1" noProof="0" dirty="0">
                <a:solidFill>
                  <a:srgbClr val="102C57"/>
                </a:solidFill>
                <a:latin typeface="Aptos"/>
              </a:rPr>
              <a:t>double vue synchronisée</a:t>
            </a:r>
            <a:r>
              <a:rPr lang="fr-FR" sz="1080" b="0" noProof="0" dirty="0">
                <a:solidFill>
                  <a:srgbClr val="141E32"/>
                </a:solidFill>
                <a:latin typeface="Aptos"/>
              </a:rPr>
              <a:t> associant le plan scanné avec zoom dynamique et le formulaire des données extraites. Des </a:t>
            </a:r>
            <a:r>
              <a:rPr lang="fr-FR" sz="1080" b="1" noProof="0" dirty="0">
                <a:solidFill>
                  <a:schemeClr val="tx2"/>
                </a:solidFill>
                <a:latin typeface="Aptos"/>
              </a:rPr>
              <a:t>pastilles de couleur </a:t>
            </a:r>
            <a:r>
              <a:rPr lang="fr-FR" sz="1080" b="0" noProof="0" dirty="0">
                <a:solidFill>
                  <a:srgbClr val="141E32"/>
                </a:solidFill>
                <a:latin typeface="Aptos"/>
              </a:rPr>
              <a:t>signalent instantanément l'état des contrôles : vert pour les données conformes, orange ou rouge dès qu'une règle métier présente un problème.</a:t>
            </a:r>
          </a:p>
          <a:p>
            <a:pPr algn="just">
              <a:spcBef>
                <a:spcPts val="250"/>
              </a:spcBef>
              <a:spcAft>
                <a:spcPts val="120"/>
              </a:spcAft>
            </a:pPr>
            <a:endParaRPr lang="fr-FR" sz="1080" b="0" noProof="0" dirty="0">
              <a:solidFill>
                <a:srgbClr val="141E32"/>
              </a:solidFill>
              <a:latin typeface="Aptos"/>
            </a:endParaRPr>
          </a:p>
          <a:p>
            <a:pPr algn="just">
              <a:spcBef>
                <a:spcPts val="250"/>
              </a:spcBef>
              <a:spcAft>
                <a:spcPts val="120"/>
              </a:spcAft>
            </a:pPr>
            <a:r>
              <a:rPr lang="fr-FR" sz="1080" b="0" noProof="0" dirty="0">
                <a:solidFill>
                  <a:srgbClr val="141E32"/>
                </a:solidFill>
                <a:latin typeface="Aptos"/>
              </a:rPr>
              <a:t>Chaque correction est mémorisée localement pour assister la saisie des pages suivantes du même dossier. Conformément aux exigences déontologiques du cabinet, la </a:t>
            </a:r>
            <a:r>
              <a:rPr lang="fr-FR" sz="1080" b="1" noProof="0" dirty="0">
                <a:solidFill>
                  <a:srgbClr val="102C57"/>
                </a:solidFill>
                <a:latin typeface="Aptos"/>
              </a:rPr>
              <a:t>validation humaine reste obligatoire</a:t>
            </a:r>
            <a:r>
              <a:rPr lang="fr-FR" sz="1080" b="0" noProof="0" dirty="0">
                <a:solidFill>
                  <a:srgbClr val="141E32"/>
                </a:solidFill>
                <a:latin typeface="Aptos"/>
              </a:rPr>
              <a:t> : aucun dossier n'est versé sur </a:t>
            </a:r>
            <a:r>
              <a:rPr lang="fr-FR" sz="1080" b="0" noProof="0" dirty="0" err="1">
                <a:solidFill>
                  <a:srgbClr val="141E32"/>
                </a:solidFill>
                <a:latin typeface="Aptos"/>
              </a:rPr>
              <a:t>Géofoncier</a:t>
            </a:r>
            <a:r>
              <a:rPr lang="fr-FR" sz="1080" b="0" noProof="0" dirty="0">
                <a:solidFill>
                  <a:srgbClr val="141E32"/>
                </a:solidFill>
                <a:latin typeface="Aptos"/>
              </a:rPr>
              <a:t> sans vérification par l'opérateur.</a:t>
            </a:r>
          </a:p>
        </p:txBody>
      </p:sp>
      <p:sp>
        <p:nvSpPr>
          <p:cNvPr id="227" name="Rounded Rectangle 226"/>
          <p:cNvSpPr/>
          <p:nvPr/>
        </p:nvSpPr>
        <p:spPr>
          <a:xfrm>
            <a:off x="11100000" y="22350000"/>
            <a:ext cx="4750000" cy="36000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lang="fr-FR" sz="1120" b="1" noProof="0" dirty="0">
                <a:solidFill>
                  <a:srgbClr val="B91C1C"/>
                </a:solidFill>
                <a:latin typeface="Aptos Display"/>
              </a:rPr>
              <a:t>DIFFICULTÉS RENCONTRÉES DANS LE PROJET</a:t>
            </a:r>
          </a:p>
        </p:txBody>
      </p:sp>
      <p:sp>
        <p:nvSpPr>
          <p:cNvPr id="228" name="Rounded Rectangle 227"/>
          <p:cNvSpPr/>
          <p:nvPr/>
        </p:nvSpPr>
        <p:spPr>
          <a:xfrm>
            <a:off x="16130000" y="22350000"/>
            <a:ext cx="4750000" cy="36000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lang="fr-FR" sz="1120" b="1" noProof="0" dirty="0">
                <a:solidFill>
                  <a:srgbClr val="166534"/>
                </a:solidFill>
                <a:latin typeface="Aptos Display"/>
              </a:rPr>
              <a:t>SOLUTIONS DÉVELOPPÉES</a:t>
            </a:r>
          </a:p>
        </p:txBody>
      </p:sp>
      <p:sp>
        <p:nvSpPr>
          <p:cNvPr id="229" name="Rounded Rectangle 228"/>
          <p:cNvSpPr/>
          <p:nvPr/>
        </p:nvSpPr>
        <p:spPr>
          <a:xfrm>
            <a:off x="11100000" y="22800000"/>
            <a:ext cx="4750000" cy="9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38100" rIns="127000" bIns="38100" rtlCol="0" anchor="ctr"/>
          <a:lstStyle/>
          <a:p>
            <a:pPr algn="l">
              <a:spcBef>
                <a:spcPts val="0"/>
              </a:spcBef>
              <a:spcAft>
                <a:spcPts val="80"/>
              </a:spcAft>
            </a:pPr>
            <a:r>
              <a:rPr lang="fr-FR" sz="1080" b="1" noProof="0" dirty="0">
                <a:solidFill>
                  <a:srgbClr val="B91C1C"/>
                </a:solidFill>
                <a:latin typeface="Aptos Display"/>
              </a:rPr>
              <a:t>Plans sans numéro de dossier</a:t>
            </a:r>
          </a:p>
          <a:p>
            <a:pPr algn="l">
              <a:spcBef>
                <a:spcPts val="150"/>
              </a:spcBef>
              <a:spcAft>
                <a:spcPts val="80"/>
              </a:spcAft>
            </a:pPr>
            <a:endParaRPr lang="fr-FR" sz="1080" b="1" noProof="0" dirty="0">
              <a:solidFill>
                <a:srgbClr val="B91C1C"/>
              </a:solidFill>
              <a:latin typeface="Aptos Display"/>
            </a:endParaRPr>
          </a:p>
          <a:p>
            <a:pPr algn="l">
              <a:spcBef>
                <a:spcPts val="150"/>
              </a:spcBef>
              <a:spcAft>
                <a:spcPts val="80"/>
              </a:spcAft>
            </a:pPr>
            <a:r>
              <a:rPr lang="fr-FR" sz="960" b="0" noProof="0" dirty="0">
                <a:solidFill>
                  <a:srgbClr val="141E32"/>
                </a:solidFill>
                <a:latin typeface="Aptos"/>
              </a:rPr>
              <a:t>Les numéros de dossiers n'apparaissent presque jamais sur les plans, rendant l'indexation directe impossible à partir du seul document.</a:t>
            </a:r>
          </a:p>
        </p:txBody>
      </p:sp>
      <p:sp>
        <p:nvSpPr>
          <p:cNvPr id="230" name="Right Arrow 229"/>
          <p:cNvSpPr/>
          <p:nvPr/>
        </p:nvSpPr>
        <p:spPr>
          <a:xfrm>
            <a:off x="15870000" y="23140000"/>
            <a:ext cx="240000" cy="300000"/>
          </a:xfrm>
          <a:prstGeom prst="rightArrow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31" name="Rounded Rectangle 230"/>
          <p:cNvSpPr/>
          <p:nvPr/>
        </p:nvSpPr>
        <p:spPr>
          <a:xfrm>
            <a:off x="16130000" y="22800000"/>
            <a:ext cx="4750000" cy="9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38100" rIns="127000" bIns="38100" rtlCol="0" anchor="ctr"/>
          <a:lstStyle/>
          <a:p>
            <a:pPr algn="l">
              <a:spcBef>
                <a:spcPts val="0"/>
              </a:spcBef>
              <a:spcAft>
                <a:spcPts val="80"/>
              </a:spcAft>
            </a:pPr>
            <a:r>
              <a:rPr lang="fr-FR" sz="1080" b="1" noProof="0" dirty="0">
                <a:solidFill>
                  <a:srgbClr val="16A34A"/>
                </a:solidFill>
                <a:latin typeface="Aptos Display"/>
              </a:rPr>
              <a:t>Croisement avec les répertoires</a:t>
            </a:r>
          </a:p>
          <a:p>
            <a:pPr algn="l">
              <a:spcBef>
                <a:spcPts val="0"/>
              </a:spcBef>
              <a:spcAft>
                <a:spcPts val="80"/>
              </a:spcAft>
            </a:pPr>
            <a:endParaRPr lang="fr-FR" sz="1080" b="1" noProof="0" dirty="0">
              <a:solidFill>
                <a:srgbClr val="16A34A"/>
              </a:solidFill>
              <a:latin typeface="Aptos Display"/>
            </a:endParaRPr>
          </a:p>
          <a:p>
            <a:pPr algn="l">
              <a:spcBef>
                <a:spcPts val="150"/>
              </a:spcBef>
              <a:spcAft>
                <a:spcPts val="80"/>
              </a:spcAft>
            </a:pPr>
            <a:r>
              <a:rPr lang="fr-FR" sz="960" b="0" noProof="0" dirty="0">
                <a:solidFill>
                  <a:srgbClr val="141E32"/>
                </a:solidFill>
                <a:latin typeface="Aptos"/>
              </a:rPr>
              <a:t>Rapprochement automatique avec les registres d'actes numérisés du cabinet pour réassocier le dossier, le client et la date au plan, via un script dédié. </a:t>
            </a:r>
          </a:p>
        </p:txBody>
      </p:sp>
      <p:sp>
        <p:nvSpPr>
          <p:cNvPr id="232" name="Rounded Rectangle 231"/>
          <p:cNvSpPr/>
          <p:nvPr/>
        </p:nvSpPr>
        <p:spPr>
          <a:xfrm>
            <a:off x="11100000" y="23880000"/>
            <a:ext cx="4750000" cy="9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38100" rIns="127000" bIns="38100" rtlCol="0" anchor="ctr"/>
          <a:lstStyle/>
          <a:p>
            <a:pPr algn="l">
              <a:spcBef>
                <a:spcPts val="0"/>
              </a:spcBef>
              <a:spcAft>
                <a:spcPts val="80"/>
              </a:spcAft>
            </a:pPr>
            <a:r>
              <a:rPr lang="fr-FR" sz="1080" b="1" noProof="0" dirty="0">
                <a:solidFill>
                  <a:srgbClr val="B91C1C"/>
                </a:solidFill>
                <a:latin typeface="Aptos Display"/>
              </a:rPr>
              <a:t>Évolution cadastrale et parcelles disparues</a:t>
            </a:r>
          </a:p>
          <a:p>
            <a:pPr algn="l">
              <a:spcBef>
                <a:spcPts val="150"/>
              </a:spcBef>
              <a:spcAft>
                <a:spcPts val="80"/>
              </a:spcAft>
            </a:pPr>
            <a:endParaRPr lang="fr-FR" sz="1080" b="1" noProof="0" dirty="0">
              <a:solidFill>
                <a:srgbClr val="B91C1C"/>
              </a:solidFill>
              <a:latin typeface="Aptos Display"/>
            </a:endParaRPr>
          </a:p>
          <a:p>
            <a:pPr algn="l">
              <a:spcBef>
                <a:spcPts val="150"/>
              </a:spcBef>
              <a:spcAft>
                <a:spcPts val="80"/>
              </a:spcAft>
            </a:pPr>
            <a:r>
              <a:rPr lang="fr-FR" sz="960" b="0" noProof="0" dirty="0">
                <a:solidFill>
                  <a:srgbClr val="141E32"/>
                </a:solidFill>
                <a:latin typeface="Aptos"/>
              </a:rPr>
              <a:t>Les remembrements et divisions successives depuis 1959 ont fait disparaître du cadastre actuel les numéros de parcelles d'origine et présents sur les plans de l’étude.</a:t>
            </a:r>
          </a:p>
        </p:txBody>
      </p:sp>
      <p:sp>
        <p:nvSpPr>
          <p:cNvPr id="233" name="Right Arrow 232"/>
          <p:cNvSpPr/>
          <p:nvPr/>
        </p:nvSpPr>
        <p:spPr>
          <a:xfrm>
            <a:off x="15870000" y="24220000"/>
            <a:ext cx="240000" cy="300000"/>
          </a:xfrm>
          <a:prstGeom prst="rightArrow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34" name="Rounded Rectangle 233"/>
          <p:cNvSpPr/>
          <p:nvPr/>
        </p:nvSpPr>
        <p:spPr>
          <a:xfrm>
            <a:off x="16130000" y="23880000"/>
            <a:ext cx="4750000" cy="9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38100" rIns="127000" bIns="38100" rtlCol="0" anchor="ctr"/>
          <a:lstStyle/>
          <a:p>
            <a:pPr algn="l">
              <a:spcBef>
                <a:spcPts val="0"/>
              </a:spcBef>
              <a:spcAft>
                <a:spcPts val="80"/>
              </a:spcAft>
            </a:pPr>
            <a:r>
              <a:rPr lang="fr-FR" sz="1080" b="1" noProof="0" dirty="0">
                <a:solidFill>
                  <a:srgbClr val="16A34A"/>
                </a:solidFill>
                <a:latin typeface="Aptos Display"/>
              </a:rPr>
              <a:t>Filiation parcellaire et flux DGFiP</a:t>
            </a:r>
          </a:p>
          <a:p>
            <a:pPr algn="l">
              <a:spcBef>
                <a:spcPts val="150"/>
              </a:spcBef>
              <a:spcAft>
                <a:spcPts val="80"/>
              </a:spcAft>
            </a:pPr>
            <a:endParaRPr lang="fr-FR" sz="1080" b="1" noProof="0" dirty="0">
              <a:solidFill>
                <a:srgbClr val="16A34A"/>
              </a:solidFill>
              <a:latin typeface="Aptos Display"/>
            </a:endParaRPr>
          </a:p>
          <a:p>
            <a:pPr algn="l">
              <a:spcBef>
                <a:spcPts val="150"/>
              </a:spcBef>
              <a:spcAft>
                <a:spcPts val="80"/>
              </a:spcAft>
            </a:pPr>
            <a:r>
              <a:rPr lang="fr-FR" sz="960" b="0" noProof="0" dirty="0">
                <a:solidFill>
                  <a:srgbClr val="141E32"/>
                </a:solidFill>
                <a:latin typeface="Aptos"/>
              </a:rPr>
              <a:t>Remontée automatique de la chaîne généalogique des parcelles mères via le cadastre officiel pour rattacher l'acte historique au terrain.</a:t>
            </a:r>
          </a:p>
        </p:txBody>
      </p:sp>
      <p:sp>
        <p:nvSpPr>
          <p:cNvPr id="235" name="Rounded Rectangle 234"/>
          <p:cNvSpPr/>
          <p:nvPr/>
        </p:nvSpPr>
        <p:spPr>
          <a:xfrm>
            <a:off x="11100000" y="24960000"/>
            <a:ext cx="4750000" cy="9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38100" rIns="127000" bIns="38100" rtlCol="0" anchor="ctr"/>
          <a:lstStyle/>
          <a:p>
            <a:pPr algn="l">
              <a:spcBef>
                <a:spcPts val="0"/>
              </a:spcBef>
              <a:spcAft>
                <a:spcPts val="80"/>
              </a:spcAft>
            </a:pPr>
            <a:r>
              <a:rPr lang="fr-FR" sz="1080" b="1" noProof="0" dirty="0">
                <a:solidFill>
                  <a:srgbClr val="B91C1C"/>
                </a:solidFill>
                <a:latin typeface="Aptos Display"/>
              </a:rPr>
              <a:t>Risque de doublon et publication erronée</a:t>
            </a:r>
          </a:p>
          <a:p>
            <a:pPr algn="l">
              <a:spcBef>
                <a:spcPts val="150"/>
              </a:spcBef>
              <a:spcAft>
                <a:spcPts val="80"/>
              </a:spcAft>
            </a:pPr>
            <a:endParaRPr lang="fr-FR" sz="1080" b="1" noProof="0" dirty="0">
              <a:solidFill>
                <a:srgbClr val="B91C1C"/>
              </a:solidFill>
              <a:latin typeface="Aptos Display"/>
            </a:endParaRPr>
          </a:p>
          <a:p>
            <a:pPr algn="l">
              <a:spcBef>
                <a:spcPts val="150"/>
              </a:spcBef>
              <a:spcAft>
                <a:spcPts val="80"/>
              </a:spcAft>
            </a:pPr>
            <a:r>
              <a:rPr lang="fr-FR" sz="960" b="0" noProof="0" dirty="0">
                <a:solidFill>
                  <a:srgbClr val="141E32"/>
                </a:solidFill>
                <a:latin typeface="Aptos"/>
              </a:rPr>
              <a:t>La publication sur le portail national </a:t>
            </a:r>
            <a:r>
              <a:rPr lang="fr-FR" sz="960" b="0" noProof="0" dirty="0" err="1">
                <a:solidFill>
                  <a:srgbClr val="141E32"/>
                </a:solidFill>
                <a:latin typeface="Aptos"/>
              </a:rPr>
              <a:t>Géofoncier</a:t>
            </a:r>
            <a:r>
              <a:rPr lang="fr-FR" sz="960" b="0" noProof="0" dirty="0">
                <a:solidFill>
                  <a:srgbClr val="141E32"/>
                </a:solidFill>
                <a:latin typeface="Aptos"/>
              </a:rPr>
              <a:t> engage la responsabilité du cabinet et ne tolère aucun doublon d'acte foncier.</a:t>
            </a:r>
          </a:p>
        </p:txBody>
      </p:sp>
      <p:sp>
        <p:nvSpPr>
          <p:cNvPr id="236" name="Right Arrow 235"/>
          <p:cNvSpPr/>
          <p:nvPr/>
        </p:nvSpPr>
        <p:spPr>
          <a:xfrm>
            <a:off x="15870000" y="25300000"/>
            <a:ext cx="240000" cy="300000"/>
          </a:xfrm>
          <a:prstGeom prst="rightArrow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37" name="Rounded Rectangle 236"/>
          <p:cNvSpPr/>
          <p:nvPr/>
        </p:nvSpPr>
        <p:spPr>
          <a:xfrm>
            <a:off x="16130000" y="24960000"/>
            <a:ext cx="4750000" cy="9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38100" rIns="127000" bIns="38100" rtlCol="0" anchor="ctr"/>
          <a:lstStyle/>
          <a:p>
            <a:pPr algn="l">
              <a:spcBef>
                <a:spcPts val="0"/>
              </a:spcBef>
              <a:spcAft>
                <a:spcPts val="80"/>
              </a:spcAft>
            </a:pPr>
            <a:r>
              <a:rPr lang="fr-FR" sz="1080" b="1" noProof="0" dirty="0">
                <a:solidFill>
                  <a:srgbClr val="16A34A"/>
                </a:solidFill>
                <a:latin typeface="Aptos Display"/>
              </a:rPr>
              <a:t>Contrôle anti-doublon et validation humaine</a:t>
            </a:r>
          </a:p>
          <a:p>
            <a:pPr algn="l">
              <a:spcBef>
                <a:spcPts val="150"/>
              </a:spcBef>
              <a:spcAft>
                <a:spcPts val="80"/>
              </a:spcAft>
            </a:pPr>
            <a:endParaRPr lang="fr-FR" sz="1080" b="1" noProof="0" dirty="0">
              <a:solidFill>
                <a:srgbClr val="16A34A"/>
              </a:solidFill>
              <a:latin typeface="Aptos Display"/>
            </a:endParaRPr>
          </a:p>
          <a:p>
            <a:pPr algn="l">
              <a:spcBef>
                <a:spcPts val="150"/>
              </a:spcBef>
              <a:spcAft>
                <a:spcPts val="80"/>
              </a:spcAft>
            </a:pPr>
            <a:r>
              <a:rPr lang="fr-FR" sz="960" b="0" noProof="0" dirty="0">
                <a:solidFill>
                  <a:srgbClr val="141E32"/>
                </a:solidFill>
                <a:latin typeface="Aptos"/>
              </a:rPr>
              <a:t>Empreinte numérique unique du document, contrôle d'antériorités en base et relecture humaine obligatoire avant versement API.</a:t>
            </a:r>
          </a:p>
        </p:txBody>
      </p:sp>
      <p:sp>
        <p:nvSpPr>
          <p:cNvPr id="238" name="Rounded Rectangle 237"/>
          <p:cNvSpPr/>
          <p:nvPr/>
        </p:nvSpPr>
        <p:spPr>
          <a:xfrm>
            <a:off x="11100000" y="27050000"/>
            <a:ext cx="5280000" cy="290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39" name="TextBox 238"/>
          <p:cNvSpPr txBox="1"/>
          <p:nvPr/>
        </p:nvSpPr>
        <p:spPr>
          <a:xfrm>
            <a:off x="11100000" y="27182331"/>
            <a:ext cx="5280000" cy="2635337"/>
          </a:xfrm>
          <a:prstGeom prst="rect">
            <a:avLst/>
          </a:prstGeom>
          <a:noFill/>
        </p:spPr>
        <p:txBody>
          <a:bodyPr wrap="square" lIns="177800" tIns="76200" rIns="177800" bIns="76200" anchor="ctr">
            <a:spAutoFit/>
          </a:bodyPr>
          <a:lstStyle/>
          <a:p>
            <a:pPr algn="just">
              <a:spcBef>
                <a:spcPts val="0"/>
              </a:spcBef>
              <a:spcAft>
                <a:spcPts val="100"/>
              </a:spcAft>
            </a:pPr>
            <a:r>
              <a:rPr lang="fr-FR" sz="1200" b="1" noProof="0" dirty="0">
                <a:solidFill>
                  <a:srgbClr val="102C57"/>
                </a:solidFill>
                <a:latin typeface="Aptos Display"/>
              </a:rPr>
              <a:t>Apprentissage actif local :</a:t>
            </a:r>
          </a:p>
          <a:p>
            <a:pPr algn="just">
              <a:spcBef>
                <a:spcPts val="250"/>
              </a:spcBef>
              <a:spcAft>
                <a:spcPts val="100"/>
              </a:spcAft>
            </a:pPr>
            <a:r>
              <a:rPr lang="fr-FR" sz="1019" b="0" noProof="0" dirty="0">
                <a:solidFill>
                  <a:srgbClr val="141E32"/>
                </a:solidFill>
                <a:latin typeface="Aptos"/>
              </a:rPr>
              <a:t>Les corrections validées par l'opérateur alimentent une base d'apprentissage locale pour réentraîner périodiquement YOLOv8 et </a:t>
            </a:r>
            <a:r>
              <a:rPr lang="fr-FR" sz="1019" b="0" noProof="0" dirty="0" err="1">
                <a:solidFill>
                  <a:srgbClr val="141E32"/>
                </a:solidFill>
                <a:latin typeface="Aptos"/>
              </a:rPr>
              <a:t>TrOCR</a:t>
            </a:r>
            <a:r>
              <a:rPr lang="fr-FR" sz="1019" b="0" noProof="0" dirty="0">
                <a:solidFill>
                  <a:srgbClr val="141E32"/>
                </a:solidFill>
                <a:latin typeface="Aptos"/>
              </a:rPr>
              <a:t> sans aucune dépendance au serveur.</a:t>
            </a:r>
          </a:p>
          <a:p>
            <a:pPr algn="just">
              <a:spcBef>
                <a:spcPts val="250"/>
              </a:spcBef>
              <a:spcAft>
                <a:spcPts val="100"/>
              </a:spcAft>
            </a:pPr>
            <a:endParaRPr lang="fr-FR" sz="1019" b="0" noProof="0" dirty="0">
              <a:solidFill>
                <a:srgbClr val="141E32"/>
              </a:solidFill>
              <a:latin typeface="Aptos"/>
            </a:endParaRPr>
          </a:p>
          <a:p>
            <a:pPr algn="just">
              <a:spcBef>
                <a:spcPts val="250"/>
              </a:spcBef>
              <a:spcAft>
                <a:spcPts val="100"/>
              </a:spcAft>
            </a:pPr>
            <a:r>
              <a:rPr lang="fr-FR" sz="1200" b="1" noProof="0" dirty="0">
                <a:solidFill>
                  <a:srgbClr val="102C57"/>
                </a:solidFill>
                <a:latin typeface="Aptos Display"/>
              </a:rPr>
              <a:t>Automatisation WFS et intégration SIG :</a:t>
            </a:r>
          </a:p>
          <a:p>
            <a:pPr algn="just">
              <a:spcBef>
                <a:spcPts val="250"/>
              </a:spcBef>
              <a:spcAft>
                <a:spcPts val="100"/>
              </a:spcAft>
            </a:pPr>
            <a:r>
              <a:rPr lang="fr-FR" sz="1019" b="0" noProof="0" dirty="0">
                <a:solidFill>
                  <a:srgbClr val="141E32"/>
                </a:solidFill>
                <a:latin typeface="Aptos"/>
              </a:rPr>
              <a:t>Connexion aux flux WFS pour calculer directement le centroïde parcellaire et développement d'un plugin QGIS dédié pour les géomètres du cabinet, au lieu d’avoir plusieurs petits scripts à lancer au fur et à mesure de l’avancement du dossier.</a:t>
            </a:r>
          </a:p>
          <a:p>
            <a:pPr algn="just">
              <a:spcBef>
                <a:spcPts val="250"/>
              </a:spcBef>
              <a:spcAft>
                <a:spcPts val="100"/>
              </a:spcAft>
            </a:pPr>
            <a:endParaRPr lang="fr-FR" sz="1019" b="0" noProof="0" dirty="0">
              <a:solidFill>
                <a:srgbClr val="141E32"/>
              </a:solidFill>
              <a:latin typeface="Aptos"/>
            </a:endParaRPr>
          </a:p>
          <a:p>
            <a:pPr algn="just">
              <a:spcBef>
                <a:spcPts val="250"/>
              </a:spcBef>
              <a:spcAft>
                <a:spcPts val="100"/>
              </a:spcAft>
            </a:pPr>
            <a:r>
              <a:rPr lang="fr-FR" sz="1200" b="1" noProof="0" dirty="0">
                <a:solidFill>
                  <a:srgbClr val="102C57"/>
                </a:solidFill>
                <a:latin typeface="Aptos Display"/>
              </a:rPr>
              <a:t>Déploiement sur toutes les agences :</a:t>
            </a:r>
          </a:p>
          <a:p>
            <a:pPr algn="just">
              <a:spcBef>
                <a:spcPts val="250"/>
              </a:spcBef>
              <a:spcAft>
                <a:spcPts val="100"/>
              </a:spcAft>
            </a:pPr>
            <a:r>
              <a:rPr lang="fr-FR" sz="1019" b="0" noProof="0" dirty="0">
                <a:solidFill>
                  <a:srgbClr val="141E32"/>
                </a:solidFill>
                <a:latin typeface="Aptos"/>
              </a:rPr>
              <a:t>Extension de l'outil aux 4 agences du cabinet GEO-SIAPP et possibilité de l’utiliser avec  d'autres fonds d'archives par réentraînement ciblé.</a:t>
            </a:r>
          </a:p>
        </p:txBody>
      </p:sp>
      <p:sp>
        <p:nvSpPr>
          <p:cNvPr id="240" name="Rounded Rectangle 239"/>
          <p:cNvSpPr/>
          <p:nvPr/>
        </p:nvSpPr>
        <p:spPr>
          <a:xfrm>
            <a:off x="16500000" y="27050000"/>
            <a:ext cx="4380000" cy="2900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41" name="Rounded Rectangle 240"/>
          <p:cNvSpPr/>
          <p:nvPr/>
        </p:nvSpPr>
        <p:spPr>
          <a:xfrm>
            <a:off x="16500000" y="27050000"/>
            <a:ext cx="4380000" cy="320000"/>
          </a:xfrm>
          <a:prstGeom prst="round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lang="fr-FR" sz="1150" b="1" noProof="0" dirty="0">
                <a:solidFill>
                  <a:srgbClr val="FFFFFF"/>
                </a:solidFill>
                <a:latin typeface="Aptos Display"/>
              </a:rPr>
              <a:t>▶  DÉMONSTRATION VIDÉO DU PFE</a:t>
            </a:r>
          </a:p>
        </p:txBody>
      </p:sp>
      <p:pic>
        <p:nvPicPr>
          <p:cNvPr id="242" name="Picture 241" descr="qr_code_demo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890000" y="27480000"/>
            <a:ext cx="1600000" cy="1600000"/>
          </a:xfrm>
          <a:prstGeom prst="rect">
            <a:avLst/>
          </a:prstGeom>
        </p:spPr>
      </p:pic>
      <p:sp>
        <p:nvSpPr>
          <p:cNvPr id="243" name="TextBox 242"/>
          <p:cNvSpPr txBox="1"/>
          <p:nvPr/>
        </p:nvSpPr>
        <p:spPr>
          <a:xfrm>
            <a:off x="16600000" y="29231843"/>
            <a:ext cx="4180000" cy="586314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lang="fr-FR" sz="1100" b="1" noProof="0" dirty="0">
                <a:solidFill>
                  <a:srgbClr val="102C57"/>
                </a:solidFill>
                <a:latin typeface="Aptos Display"/>
              </a:rPr>
              <a:t>Scannez pour lancer la vidéo :</a:t>
            </a:r>
          </a:p>
          <a:p>
            <a:pPr algn="ctr">
              <a:spcBef>
                <a:spcPts val="300"/>
              </a:spcBef>
              <a:spcAft>
                <a:spcPts val="150"/>
              </a:spcAft>
            </a:pPr>
            <a:r>
              <a:rPr lang="fr-FR" sz="980" b="0" noProof="0" dirty="0">
                <a:solidFill>
                  <a:srgbClr val="141E32"/>
                </a:solidFill>
                <a:latin typeface="Aptos"/>
              </a:rPr>
              <a:t>Démonstration du logiciel en conditions réelles (extraction, contrôle et versement). Les données sont modifiées ou fictives.</a:t>
            </a:r>
          </a:p>
        </p:txBody>
      </p:sp>
      <p:sp>
        <p:nvSpPr>
          <p:cNvPr id="6" name="Flèche : angle droit 5">
            <a:extLst>
              <a:ext uri="{FF2B5EF4-FFF2-40B4-BE49-F238E27FC236}">
                <a16:creationId xmlns:a16="http://schemas.microsoft.com/office/drawing/2014/main" id="{B9C76546-7038-017A-94CC-002038E29E73}"/>
              </a:ext>
            </a:extLst>
          </p:cNvPr>
          <p:cNvSpPr/>
          <p:nvPr/>
        </p:nvSpPr>
        <p:spPr>
          <a:xfrm rot="16200000" flipH="1">
            <a:off x="16008597" y="11472943"/>
            <a:ext cx="573234" cy="5939473"/>
          </a:xfrm>
          <a:prstGeom prst="bentUpArrow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9266970-676B-03C5-E9A8-410EF3BAE80E}"/>
              </a:ext>
            </a:extLst>
          </p:cNvPr>
          <p:cNvSpPr/>
          <p:nvPr/>
        </p:nvSpPr>
        <p:spPr>
          <a:xfrm>
            <a:off x="9756860" y="1459776"/>
            <a:ext cx="5807302" cy="2157780"/>
          </a:xfrm>
          <a:prstGeom prst="rect">
            <a:avLst/>
          </a:prstGeom>
          <a:solidFill>
            <a:srgbClr val="F8FAFD"/>
          </a:solidFill>
          <a:ln w="15240">
            <a:solidFill>
              <a:srgbClr val="102C57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lang="fr-FR" sz="1450" b="1" noProof="0" dirty="0">
                <a:solidFill>
                  <a:srgbClr val="102C57"/>
                </a:solidFill>
                <a:latin typeface="Aptos Display"/>
              </a:rPr>
              <a:t>Structure d'accueil :</a:t>
            </a:r>
          </a:p>
          <a:p>
            <a:pPr algn="ctr">
              <a:spcBef>
                <a:spcPts val="300"/>
              </a:spcBef>
              <a:spcAft>
                <a:spcPts val="150"/>
              </a:spcAft>
            </a:pPr>
            <a:r>
              <a:rPr lang="fr-FR" sz="1350" b="1" noProof="0" dirty="0">
                <a:solidFill>
                  <a:srgbClr val="1B365D"/>
                </a:solidFill>
                <a:latin typeface="Aptos"/>
              </a:rPr>
              <a:t>Cabinet GEO-SIAPP</a:t>
            </a:r>
          </a:p>
          <a:p>
            <a:pPr algn="ctr">
              <a:spcBef>
                <a:spcPts val="300"/>
              </a:spcBef>
              <a:spcAft>
                <a:spcPts val="150"/>
              </a:spcAft>
            </a:pPr>
            <a:r>
              <a:rPr lang="fr-FR" sz="1200" b="0" noProof="0" dirty="0">
                <a:solidFill>
                  <a:srgbClr val="141E32"/>
                </a:solidFill>
                <a:latin typeface="Aptos"/>
              </a:rPr>
              <a:t>2 Avenue Jean Monnet, 07200 Aubenas</a:t>
            </a:r>
          </a:p>
          <a:p>
            <a:pPr algn="ctr">
              <a:spcBef>
                <a:spcPts val="300"/>
              </a:spcBef>
              <a:spcAft>
                <a:spcPts val="150"/>
              </a:spcAft>
            </a:pPr>
            <a:r>
              <a:rPr lang="fr-FR" sz="1200" b="0" noProof="0" dirty="0">
                <a:solidFill>
                  <a:srgbClr val="141E32"/>
                </a:solidFill>
                <a:latin typeface="Aptos"/>
              </a:rPr>
              <a:t>04 75 35 07 50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F84F2906-8D4D-E17A-EFD2-21880DC7854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574173" y="1548083"/>
            <a:ext cx="1662808" cy="1935056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110378D5-71D1-91CA-24B7-4A7DDB06B99D}"/>
              </a:ext>
            </a:extLst>
          </p:cNvPr>
          <p:cNvCxnSpPr/>
          <p:nvPr/>
        </p:nvCxnSpPr>
        <p:spPr>
          <a:xfrm>
            <a:off x="21691600" y="7595848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4" name="Rounded Rectangle 243"/>
          <p:cNvSpPr/>
          <p:nvPr/>
        </p:nvSpPr>
        <p:spPr>
          <a:xfrm>
            <a:off x="14552917" y="6356491"/>
            <a:ext cx="2752249" cy="564578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100"/>
              </a:spcBef>
              <a:spcAft>
                <a:spcPts val="50"/>
              </a:spcAft>
            </a:pPr>
            <a:r>
              <a:rPr lang="fr-FR" sz="1050" b="1" noProof="0" dirty="0">
                <a:solidFill>
                  <a:srgbClr val="B91C1C"/>
                </a:solidFill>
                <a:latin typeface="Arial"/>
              </a:rPr>
              <a:t>Documents non pertinents</a:t>
            </a:r>
          </a:p>
          <a:p>
            <a:pPr algn="ctr">
              <a:spcBef>
                <a:spcPts val="100"/>
              </a:spcBef>
              <a:spcAft>
                <a:spcPts val="50"/>
              </a:spcAft>
            </a:pPr>
            <a:r>
              <a:rPr lang="fr-FR" sz="850" b="0" noProof="0" dirty="0">
                <a:solidFill>
                  <a:srgbClr val="334155"/>
                </a:solidFill>
                <a:latin typeface="Arial"/>
              </a:rPr>
              <a:t>Factures, devis, dessins d'exemple</a:t>
            </a:r>
          </a:p>
          <a:p>
            <a:pPr algn="ctr">
              <a:spcBef>
                <a:spcPts val="100"/>
              </a:spcBef>
              <a:spcAft>
                <a:spcPts val="50"/>
              </a:spcAft>
            </a:pPr>
            <a:r>
              <a:rPr lang="fr-FR" sz="800" b="1" noProof="0" dirty="0">
                <a:solidFill>
                  <a:srgbClr val="B91C1C"/>
                </a:solidFill>
                <a:latin typeface="Arial"/>
              </a:rPr>
              <a:t>Suppression automatique (non traités)</a:t>
            </a:r>
          </a:p>
        </p:txBody>
      </p:sp>
      <p:sp>
        <p:nvSpPr>
          <p:cNvPr id="245" name="Notched Right Arrow 244"/>
          <p:cNvSpPr/>
          <p:nvPr/>
        </p:nvSpPr>
        <p:spPr>
          <a:xfrm rot="5400000">
            <a:off x="15804042" y="6097918"/>
            <a:ext cx="220000" cy="250000"/>
          </a:xfrm>
          <a:prstGeom prst="notchedRightArrow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46" name="Rounded Rectangle 245"/>
          <p:cNvSpPr/>
          <p:nvPr/>
        </p:nvSpPr>
        <p:spPr>
          <a:xfrm>
            <a:off x="14619226" y="11327755"/>
            <a:ext cx="2752249" cy="564578"/>
          </a:xfrm>
          <a:prstGeom prst="roundRect">
            <a:avLst/>
          </a:prstGeom>
          <a:solidFill>
            <a:srgbClr val="F0F9FF"/>
          </a:solidFill>
          <a:ln w="1778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>
              <a:spcBef>
                <a:spcPts val="150"/>
              </a:spcBef>
              <a:spcAft>
                <a:spcPts val="50"/>
              </a:spcAft>
            </a:pPr>
            <a:r>
              <a:rPr lang="fr-FR" sz="980" b="1" noProof="0" dirty="0">
                <a:solidFill>
                  <a:srgbClr val="0F172A"/>
                </a:solidFill>
                <a:latin typeface="Arial"/>
              </a:rPr>
              <a:t>Croisement des informations </a:t>
            </a:r>
          </a:p>
          <a:p>
            <a:pPr algn="ctr">
              <a:spcBef>
                <a:spcPts val="150"/>
              </a:spcBef>
              <a:spcAft>
                <a:spcPts val="50"/>
              </a:spcAft>
            </a:pPr>
            <a:r>
              <a:rPr lang="fr-FR" sz="850" b="0" noProof="0" dirty="0">
                <a:solidFill>
                  <a:srgbClr val="64748B"/>
                </a:solidFill>
                <a:latin typeface="Arial"/>
              </a:rPr>
              <a:t>Plan, registres</a:t>
            </a:r>
            <a:r>
              <a:rPr lang="fr-FR" sz="850" dirty="0">
                <a:solidFill>
                  <a:srgbClr val="64748B"/>
                </a:solidFill>
                <a:latin typeface="Arial"/>
              </a:rPr>
              <a:t>, </a:t>
            </a:r>
            <a:r>
              <a:rPr lang="fr-FR" sz="850" b="0" noProof="0" dirty="0">
                <a:solidFill>
                  <a:srgbClr val="64748B"/>
                </a:solidFill>
                <a:latin typeface="Arial"/>
              </a:rPr>
              <a:t>cadastre… </a:t>
            </a:r>
          </a:p>
        </p:txBody>
      </p:sp>
      <p:sp>
        <p:nvSpPr>
          <p:cNvPr id="247" name="Notched Right Arrow 246"/>
          <p:cNvSpPr/>
          <p:nvPr/>
        </p:nvSpPr>
        <p:spPr>
          <a:xfrm>
            <a:off x="14240000" y="11500044"/>
            <a:ext cx="320000" cy="220000"/>
          </a:xfrm>
          <a:prstGeom prst="notchedRightArrow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48" name="Notched Right Arrow 247"/>
          <p:cNvSpPr/>
          <p:nvPr/>
        </p:nvSpPr>
        <p:spPr>
          <a:xfrm rot="10800000">
            <a:off x="17420000" y="11500044"/>
            <a:ext cx="320000" cy="220000"/>
          </a:xfrm>
          <a:prstGeom prst="notchedRightArrow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418434778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hèm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1009</TotalTime>
  <Words>1487</Words>
  <Application>Microsoft Office PowerPoint</Application>
  <PresentationFormat>Personnalisé</PresentationFormat>
  <Paragraphs>165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DÉVELOPPEMENT D'UN OUTIL PERMETTANT LE TRAITEMENT ET L'INSERTION DES ARCHIVES NUMÉRIQUES SUR GÉOFONCIER AU SEIN D'UN CABINET DE GÉOMÈTRE-EXPERT</dc:title>
  <dc:subject>Projet de Fin d'Études - INSA Strasbourg - Spécialité Topographie</dc:subject>
  <dc:creator>Adrien TRAVAILLÉ</dc:creator>
  <cp:keywords>archivage numérique, reconnaissance de texte manuscrit (HTR), traitement automatisé, Géofoncier, intelligence artificielle, géomètre-expert, vision par ordinateur</cp:keywords>
  <dc:description>Cabinet GEO-SIAPP à Aubenas - Tuteur entreprise : Gaëtan HAGUE - Directeur PFE : Mathieu KOEHL</dc:description>
  <cp:lastModifiedBy>TRAVAILLE Adrien</cp:lastModifiedBy>
  <cp:revision>81</cp:revision>
  <dcterms:created xsi:type="dcterms:W3CDTF">2026-09-02T06:42:08Z</dcterms:created>
  <dcterms:modified xsi:type="dcterms:W3CDTF">2026-09-16T20:36:28Z</dcterms:modified>
  <cp:category>Poster PFE Ingénieur</cp:category>
</cp:coreProperties>
</file>