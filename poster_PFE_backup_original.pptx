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5F5F61"/>
    <a:srgbClr val="EC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3" autoAdjust="0"/>
    <p:restoredTop sz="94660"/>
  </p:normalViewPr>
  <p:slideViewPr>
    <p:cSldViewPr snapToGrid="0">
      <p:cViewPr>
        <p:scale>
          <a:sx n="66" d="100"/>
          <a:sy n="66" d="100"/>
        </p:scale>
        <p:origin x="-420" y="-8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B8373-02C5-4C63-82D8-606F9474E44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08581-D894-4F45-BD77-1A199A7B91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84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08581-D894-4F45-BD77-1A199A7B91C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83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8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31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9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24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5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30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22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2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20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78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3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A43CE2B-597E-7D94-91AB-B6BAF068EB7E}"/>
              </a:ext>
            </a:extLst>
          </p:cNvPr>
          <p:cNvSpPr/>
          <p:nvPr/>
        </p:nvSpPr>
        <p:spPr>
          <a:xfrm>
            <a:off x="10968846" y="4372089"/>
            <a:ext cx="1005380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b="1" dirty="0">
                <a:solidFill>
                  <a:srgbClr val="FFFFFF"/>
                </a:solidFill>
                <a:latin typeface="Aptos Display"/>
              </a:rPr>
              <a:t>ORGANIGRAMME</a:t>
            </a: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 DE LA SOLUTION PROPOSÉE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FD2F82-85D0-3FF1-8D1A-F02ECD8B7989}"/>
              </a:ext>
            </a:extLst>
          </p:cNvPr>
          <p:cNvSpPr/>
          <p:nvPr/>
        </p:nvSpPr>
        <p:spPr>
          <a:xfrm>
            <a:off x="-12538" y="3617699"/>
            <a:ext cx="21408699" cy="479345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102C57"/>
                </a:solidFill>
                <a:latin typeface="Aptos Display"/>
              </a:rPr>
              <a:t>Mots-clés : </a:t>
            </a:r>
            <a:r>
              <a:rPr lang="fr-FR" sz="1650" b="0" noProof="0" dirty="0">
                <a:solidFill>
                  <a:srgbClr val="141E32"/>
                </a:solidFill>
                <a:latin typeface="Aptos"/>
              </a:rPr>
              <a:t>archivage numérique, reconnaissance de texte manuscrit (HTR), traitement automatisé, </a:t>
            </a:r>
            <a:r>
              <a:rPr lang="fr-FR" sz="165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1650" b="0" noProof="0" dirty="0">
                <a:solidFill>
                  <a:srgbClr val="141E32"/>
                </a:solidFill>
                <a:latin typeface="Aptos"/>
              </a:rPr>
              <a:t>, intelligence artificielle, géomètre-expert, vision par ordinateur.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77510B-A9DF-B6EE-87A7-1BA65B9F6859}"/>
              </a:ext>
            </a:extLst>
          </p:cNvPr>
          <p:cNvSpPr/>
          <p:nvPr/>
        </p:nvSpPr>
        <p:spPr>
          <a:xfrm>
            <a:off x="15564162" y="1462008"/>
            <a:ext cx="5832000" cy="2153112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102C57"/>
                </a:solidFill>
                <a:latin typeface="Aptos Display"/>
              </a:rPr>
              <a:t> Auteur : </a:t>
            </a: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TRAVAILLÉ Adrien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endParaRPr lang="fr-FR" sz="1550" b="1" noProof="0" dirty="0">
              <a:solidFill>
                <a:srgbClr val="0284C7"/>
              </a:solidFill>
              <a:latin typeface="Aptos Display"/>
            </a:endParaRP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Date de soutenance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24 septembre 2026 (10h30)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Tuteur entreprise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M. Gaëtan HAGUE (GEO-SIAPP)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Correcteur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M. Mathieu KOEHL (INSA Strasbourg)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A14CA-1223-0E89-D63D-3F3EEBE6D784}"/>
              </a:ext>
            </a:extLst>
          </p:cNvPr>
          <p:cNvSpPr/>
          <p:nvPr/>
        </p:nvSpPr>
        <p:spPr>
          <a:xfrm>
            <a:off x="29633" y="-1"/>
            <a:ext cx="21346594" cy="1440215"/>
          </a:xfrm>
          <a:prstGeom prst="rect">
            <a:avLst/>
          </a:prstGeom>
          <a:solidFill>
            <a:srgbClr val="102C57"/>
          </a:solidFill>
          <a:ln w="5715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ptos Display"/>
              </a:rPr>
              <a:t>DÉVELOPPEMENT D'UN OUTIL PERMETTANT LE TRAITEMENT ET L'INSERTION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2300" b="1" noProof="0" dirty="0">
                <a:solidFill>
                  <a:srgbClr val="FFFFFF"/>
                </a:solidFill>
                <a:latin typeface="Aptos Display"/>
              </a:rPr>
              <a:t>DES ARCHIVES NUMÉRIQUES SUR GÉOFONCIER AU SEIN D'UN CABINET DE GÉOMÈTRE-EXPERT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FE42F-C37F-BF21-43CB-EF5BC6E50149}"/>
              </a:ext>
            </a:extLst>
          </p:cNvPr>
          <p:cNvSpPr/>
          <p:nvPr/>
        </p:nvSpPr>
        <p:spPr>
          <a:xfrm>
            <a:off x="-12537" y="1445900"/>
            <a:ext cx="21384000" cy="216000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808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291B7-7F3A-6B24-11C8-E005D0449A6E}"/>
              </a:ext>
            </a:extLst>
          </p:cNvPr>
          <p:cNvSpPr/>
          <p:nvPr/>
        </p:nvSpPr>
        <p:spPr>
          <a:xfrm>
            <a:off x="12162" y="1440000"/>
            <a:ext cx="9720000" cy="217179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pic>
        <p:nvPicPr>
          <p:cNvPr id="11" name="Image 10" descr="Logo Insa Strasbourg - Alsace Tech">
            <a:extLst>
              <a:ext uri="{FF2B5EF4-FFF2-40B4-BE49-F238E27FC236}">
                <a16:creationId xmlns:a16="http://schemas.microsoft.com/office/drawing/2014/main" id="{D9C9E6EF-E8A6-D073-09A1-9508964B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897611"/>
            <a:ext cx="4473107" cy="125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34E924-BFA8-C884-218E-08B0BC17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32" y="1879766"/>
            <a:ext cx="1539119" cy="15186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5F47ADF-896F-181B-6556-45A0E815F7B8}"/>
              </a:ext>
            </a:extLst>
          </p:cNvPr>
          <p:cNvSpPr/>
          <p:nvPr/>
        </p:nvSpPr>
        <p:spPr>
          <a:xfrm>
            <a:off x="471487" y="9220505"/>
            <a:ext cx="10048249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TECHNOLOGIES </a:t>
            </a:r>
            <a:r>
              <a:rPr lang="fr-FR" b="1" dirty="0">
                <a:solidFill>
                  <a:srgbClr val="FFFFFF"/>
                </a:solidFill>
                <a:latin typeface="Aptos Display"/>
              </a:rPr>
              <a:t>ET </a:t>
            </a: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EXTRACTION DES DONNÉES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F61F6-AAE1-CAA5-8952-7AE503ED2EA2}"/>
              </a:ext>
            </a:extLst>
          </p:cNvPr>
          <p:cNvSpPr/>
          <p:nvPr/>
        </p:nvSpPr>
        <p:spPr>
          <a:xfrm>
            <a:off x="457199" y="9940505"/>
            <a:ext cx="10080000" cy="7380216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A016C7-9D21-3D53-BE13-33C5A3073877}"/>
              </a:ext>
            </a:extLst>
          </p:cNvPr>
          <p:cNvSpPr/>
          <p:nvPr/>
        </p:nvSpPr>
        <p:spPr>
          <a:xfrm>
            <a:off x="471488" y="4390644"/>
            <a:ext cx="10048248" cy="677822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CONTEXTE MÉTIER ET PROBLÉMATIQUE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E38E0-3669-221C-C358-580A31DA740F}"/>
              </a:ext>
            </a:extLst>
          </p:cNvPr>
          <p:cNvSpPr/>
          <p:nvPr/>
        </p:nvSpPr>
        <p:spPr>
          <a:xfrm>
            <a:off x="457199" y="5092089"/>
            <a:ext cx="10080000" cy="382698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5D9145-7C72-8F44-84A1-4A33117A92E5}"/>
              </a:ext>
            </a:extLst>
          </p:cNvPr>
          <p:cNvSpPr/>
          <p:nvPr/>
        </p:nvSpPr>
        <p:spPr>
          <a:xfrm>
            <a:off x="498475" y="17567713"/>
            <a:ext cx="10053012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VERIFICATION ET FIABILISATION DES DONNÉES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6FA398-7900-8DD8-786A-080670447FB5}"/>
              </a:ext>
            </a:extLst>
          </p:cNvPr>
          <p:cNvSpPr/>
          <p:nvPr/>
        </p:nvSpPr>
        <p:spPr>
          <a:xfrm>
            <a:off x="482752" y="18287713"/>
            <a:ext cx="10080000" cy="8283422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C09D84-B211-26FA-7172-089521ED66A2}"/>
              </a:ext>
            </a:extLst>
          </p:cNvPr>
          <p:cNvSpPr/>
          <p:nvPr/>
        </p:nvSpPr>
        <p:spPr>
          <a:xfrm>
            <a:off x="10970419" y="18210275"/>
            <a:ext cx="10045883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INTERFACE DE VALIDATION / CONTRÔLE OPÉRATEUR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224A6D-DD8D-B30A-FF9A-64A37AF8DF58}"/>
              </a:ext>
            </a:extLst>
          </p:cNvPr>
          <p:cNvSpPr/>
          <p:nvPr/>
        </p:nvSpPr>
        <p:spPr>
          <a:xfrm>
            <a:off x="10955352" y="18928388"/>
            <a:ext cx="10080000" cy="2342700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95F335-E2FC-8E68-36B5-898CC9E2C70E}"/>
              </a:ext>
            </a:extLst>
          </p:cNvPr>
          <p:cNvSpPr/>
          <p:nvPr/>
        </p:nvSpPr>
        <p:spPr>
          <a:xfrm>
            <a:off x="10955352" y="5092089"/>
            <a:ext cx="10080000" cy="12800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EEF0F7-FD7A-6538-A5C9-B51EBAE5B468}"/>
              </a:ext>
            </a:extLst>
          </p:cNvPr>
          <p:cNvSpPr/>
          <p:nvPr/>
        </p:nvSpPr>
        <p:spPr>
          <a:xfrm>
            <a:off x="10974405" y="26230562"/>
            <a:ext cx="1004824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PERSPECTIVES D'ÉVOLUTION ET DÉMONSTRATION VIDÉO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C5B40C-13E7-5B86-3A1B-8B1D2A4D65CB}"/>
              </a:ext>
            </a:extLst>
          </p:cNvPr>
          <p:cNvSpPr/>
          <p:nvPr/>
        </p:nvSpPr>
        <p:spPr>
          <a:xfrm>
            <a:off x="10955352" y="26948674"/>
            <a:ext cx="10080000" cy="307770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E3554C-D155-C3B7-9E36-A9A34496E0E2}"/>
              </a:ext>
            </a:extLst>
          </p:cNvPr>
          <p:cNvSpPr/>
          <p:nvPr/>
        </p:nvSpPr>
        <p:spPr>
          <a:xfrm>
            <a:off x="14619227" y="5505420"/>
            <a:ext cx="2752249" cy="564578"/>
          </a:xfrm>
          <a:prstGeom prst="rect">
            <a:avLst/>
          </a:prstGeom>
          <a:solidFill>
            <a:srgbClr val="F0F9FF"/>
          </a:solidFill>
          <a:ln w="1778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Archives papier du cabinet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Fonds historique de 1959 à 2007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C422AE-6F28-569D-C102-FA6230DCD180}"/>
              </a:ext>
            </a:extLst>
          </p:cNvPr>
          <p:cNvSpPr/>
          <p:nvPr/>
        </p:nvSpPr>
        <p:spPr>
          <a:xfrm>
            <a:off x="11389798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Répertoires 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Actes, dates et noms de clients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5A2570-4C19-296F-51E3-3FBBBA202139}"/>
              </a:ext>
            </a:extLst>
          </p:cNvPr>
          <p:cNvSpPr/>
          <p:nvPr/>
        </p:nvSpPr>
        <p:spPr>
          <a:xfrm>
            <a:off x="17716037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DMPC et plans d'arpentage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Procès-verbaux, croqui</a:t>
            </a:r>
            <a:r>
              <a:rPr lang="fr-FR" sz="880" noProof="0" dirty="0">
                <a:solidFill>
                  <a:srgbClr val="64748B"/>
                </a:solidFill>
                <a:latin typeface="Aptos"/>
              </a:rPr>
              <a:t>s, feuille…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65" name="Flèche : bas 64">
            <a:extLst>
              <a:ext uri="{FF2B5EF4-FFF2-40B4-BE49-F238E27FC236}">
                <a16:creationId xmlns:a16="http://schemas.microsoft.com/office/drawing/2014/main" id="{80BC46B5-A9B9-BE62-F094-52589373C37D}"/>
              </a:ext>
            </a:extLst>
          </p:cNvPr>
          <p:cNvSpPr/>
          <p:nvPr/>
        </p:nvSpPr>
        <p:spPr>
          <a:xfrm rot="8660010">
            <a:off x="13818642" y="5866412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7" name="Flèche : bas 66">
            <a:extLst>
              <a:ext uri="{FF2B5EF4-FFF2-40B4-BE49-F238E27FC236}">
                <a16:creationId xmlns:a16="http://schemas.microsoft.com/office/drawing/2014/main" id="{5C9578CC-0C28-91BB-1750-34E3F2E38E5A}"/>
              </a:ext>
            </a:extLst>
          </p:cNvPr>
          <p:cNvSpPr/>
          <p:nvPr/>
        </p:nvSpPr>
        <p:spPr>
          <a:xfrm rot="2293019">
            <a:off x="17604925" y="5856039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0E76C0-F8D6-C2E0-7B74-BAC82AF6992E}"/>
              </a:ext>
            </a:extLst>
          </p:cNvPr>
          <p:cNvSpPr/>
          <p:nvPr/>
        </p:nvSpPr>
        <p:spPr>
          <a:xfrm>
            <a:off x="14619226" y="7383113"/>
            <a:ext cx="2752249" cy="564578"/>
          </a:xfrm>
          <a:prstGeom prst="rect">
            <a:avLst/>
          </a:prstGeom>
          <a:solidFill>
            <a:srgbClr val="FFFFFF"/>
          </a:solidFill>
          <a:ln w="1651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Numérisation et tri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Scanné et </a:t>
            </a:r>
            <a:r>
              <a:rPr lang="fr-FR" sz="880" noProof="0" dirty="0">
                <a:solidFill>
                  <a:srgbClr val="64748B"/>
                </a:solidFill>
                <a:latin typeface="Aptos"/>
              </a:rPr>
              <a:t>orienté vers le traitement adéquat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73" name="Flèche : bas 72">
            <a:extLst>
              <a:ext uri="{FF2B5EF4-FFF2-40B4-BE49-F238E27FC236}">
                <a16:creationId xmlns:a16="http://schemas.microsoft.com/office/drawing/2014/main" id="{7852E481-22F0-F300-3F35-368DF6017E5C}"/>
              </a:ext>
            </a:extLst>
          </p:cNvPr>
          <p:cNvSpPr/>
          <p:nvPr/>
        </p:nvSpPr>
        <p:spPr>
          <a:xfrm rot="2293019">
            <a:off x="13821196" y="7176694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5" name="Flèche : bas 74">
            <a:extLst>
              <a:ext uri="{FF2B5EF4-FFF2-40B4-BE49-F238E27FC236}">
                <a16:creationId xmlns:a16="http://schemas.microsoft.com/office/drawing/2014/main" id="{F38D359E-682D-7DE0-A116-4765F5BF8C46}"/>
              </a:ext>
            </a:extLst>
          </p:cNvPr>
          <p:cNvSpPr/>
          <p:nvPr/>
        </p:nvSpPr>
        <p:spPr>
          <a:xfrm rot="8660010">
            <a:off x="17602371" y="7176695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7" name="Flèche : bas 76">
            <a:extLst>
              <a:ext uri="{FF2B5EF4-FFF2-40B4-BE49-F238E27FC236}">
                <a16:creationId xmlns:a16="http://schemas.microsoft.com/office/drawing/2014/main" id="{0A729E50-300D-63E3-BECB-E26DB4BD1590}"/>
              </a:ext>
            </a:extLst>
          </p:cNvPr>
          <p:cNvSpPr/>
          <p:nvPr/>
        </p:nvSpPr>
        <p:spPr>
          <a:xfrm rot="8660010">
            <a:off x="13859758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9" name="Flèche : bas 78">
            <a:extLst>
              <a:ext uri="{FF2B5EF4-FFF2-40B4-BE49-F238E27FC236}">
                <a16:creationId xmlns:a16="http://schemas.microsoft.com/office/drawing/2014/main" id="{F471A0C3-921E-8DE0-C317-44F1F7C51D77}"/>
              </a:ext>
            </a:extLst>
          </p:cNvPr>
          <p:cNvSpPr/>
          <p:nvPr/>
        </p:nvSpPr>
        <p:spPr>
          <a:xfrm rot="2293019">
            <a:off x="17604926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E1BDC9F-E4B1-FC48-58F7-68DBD4CCCFE4}"/>
              </a:ext>
            </a:extLst>
          </p:cNvPr>
          <p:cNvSpPr/>
          <p:nvPr/>
        </p:nvSpPr>
        <p:spPr>
          <a:xfrm>
            <a:off x="11441291" y="8340927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Recherche d'antériorité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Recherche si page déjà scannée</a:t>
            </a:r>
          </a:p>
        </p:txBody>
      </p:sp>
      <p:sp>
        <p:nvSpPr>
          <p:cNvPr id="83" name="Flèche : bas 82">
            <a:extLst>
              <a:ext uri="{FF2B5EF4-FFF2-40B4-BE49-F238E27FC236}">
                <a16:creationId xmlns:a16="http://schemas.microsoft.com/office/drawing/2014/main" id="{DDB85A23-1B0C-2E45-5A85-FC960C8104F2}"/>
              </a:ext>
            </a:extLst>
          </p:cNvPr>
          <p:cNvSpPr/>
          <p:nvPr/>
        </p:nvSpPr>
        <p:spPr>
          <a:xfrm rot="5400000">
            <a:off x="12637413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BE0BFB8-8788-50F1-ED46-24E6101EFAD9}"/>
              </a:ext>
            </a:extLst>
          </p:cNvPr>
          <p:cNvSpPr/>
          <p:nvPr/>
        </p:nvSpPr>
        <p:spPr>
          <a:xfrm>
            <a:off x="11441288" y="11327755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Cadastre IGN et DGFiP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Filiation parcellaire (flux WFS)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FBF62E-6ACD-DF2A-175C-FF3A494E7C33}"/>
              </a:ext>
            </a:extLst>
          </p:cNvPr>
          <p:cNvSpPr/>
          <p:nvPr/>
        </p:nvSpPr>
        <p:spPr>
          <a:xfrm>
            <a:off x="11441291" y="9571646"/>
            <a:ext cx="2752249" cy="564578"/>
          </a:xfrm>
          <a:prstGeom prst="rect">
            <a:avLst/>
          </a:prstGeom>
          <a:solidFill>
            <a:srgbClr val="E0F2FE"/>
          </a:solidFill>
          <a:ln w="1778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Recherche automatique des informations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880" noProof="0" dirty="0">
                <a:solidFill>
                  <a:srgbClr val="102C57"/>
                </a:solidFill>
                <a:latin typeface="Aptos Display"/>
              </a:rPr>
              <a:t>Programme propre à chaque registre</a:t>
            </a:r>
            <a:endParaRPr lang="fr-FR" sz="880" noProof="0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784DCF5-9B4B-BF17-8148-0B5FF94B7878}"/>
              </a:ext>
            </a:extLst>
          </p:cNvPr>
          <p:cNvSpPr/>
          <p:nvPr/>
        </p:nvSpPr>
        <p:spPr>
          <a:xfrm>
            <a:off x="17716036" y="8340927"/>
            <a:ext cx="2752249" cy="564578"/>
          </a:xfrm>
          <a:prstGeom prst="rect">
            <a:avLst/>
          </a:prstGeom>
          <a:solidFill>
            <a:srgbClr val="F5F8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Découpage visuel YOLOv8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spatial_extracteur.py</a:t>
            </a: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0CDF88A6-B0EC-20D2-D173-C4E191155ECE}"/>
              </a:ext>
            </a:extLst>
          </p:cNvPr>
          <p:cNvSpPr/>
          <p:nvPr/>
        </p:nvSpPr>
        <p:spPr>
          <a:xfrm>
            <a:off x="17716036" y="9571646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Prétraitement </a:t>
            </a:r>
            <a:r>
              <a:rPr lang="fr-FR" sz="1050" b="1" noProof="0" dirty="0" err="1">
                <a:solidFill>
                  <a:srgbClr val="102C57"/>
                </a:solidFill>
                <a:latin typeface="Aptos Display"/>
              </a:rPr>
              <a:t>OpenCV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Redressement et binarisation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89E6787-D115-C55F-CDA0-6B93EF9E8220}"/>
              </a:ext>
            </a:extLst>
          </p:cNvPr>
          <p:cNvSpPr/>
          <p:nvPr/>
        </p:nvSpPr>
        <p:spPr>
          <a:xfrm>
            <a:off x="17716036" y="10802364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Lecture OCR et HTR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TrOCR</a:t>
            </a: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 et </a:t>
            </a: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EasyOCR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6" name="Flèche : bas 95">
            <a:extLst>
              <a:ext uri="{FF2B5EF4-FFF2-40B4-BE49-F238E27FC236}">
                <a16:creationId xmlns:a16="http://schemas.microsoft.com/office/drawing/2014/main" id="{3EE14149-EBDE-5977-67B6-960896C68ED4}"/>
              </a:ext>
            </a:extLst>
          </p:cNvPr>
          <p:cNvSpPr/>
          <p:nvPr/>
        </p:nvSpPr>
        <p:spPr>
          <a:xfrm rot="5400000">
            <a:off x="18912155" y="11559560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F451E00-B0DC-1AA2-7D8E-600B17FE3C0A}"/>
              </a:ext>
            </a:extLst>
          </p:cNvPr>
          <p:cNvSpPr/>
          <p:nvPr/>
        </p:nvSpPr>
        <p:spPr>
          <a:xfrm>
            <a:off x="17716036" y="13263801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45309"/>
                </a:solidFill>
                <a:latin typeface="Aptos Display"/>
              </a:rPr>
              <a:t>Rôle d'arbitre de l’intelligence artificielle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Arbitre VLM local sur les cas difficiles</a:t>
            </a:r>
          </a:p>
        </p:txBody>
      </p:sp>
      <p:sp>
        <p:nvSpPr>
          <p:cNvPr id="100" name="Flèche : bas 99">
            <a:extLst>
              <a:ext uri="{FF2B5EF4-FFF2-40B4-BE49-F238E27FC236}">
                <a16:creationId xmlns:a16="http://schemas.microsoft.com/office/drawing/2014/main" id="{E164889F-B172-E0E0-97E8-AB1BEE460AF6}"/>
              </a:ext>
            </a:extLst>
          </p:cNvPr>
          <p:cNvSpPr/>
          <p:nvPr/>
        </p:nvSpPr>
        <p:spPr>
          <a:xfrm rot="5400000">
            <a:off x="18912155" y="12790279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16E55B-CD04-AC6B-A345-AA20A3CA56CE}"/>
              </a:ext>
            </a:extLst>
          </p:cNvPr>
          <p:cNvSpPr/>
          <p:nvPr/>
        </p:nvSpPr>
        <p:spPr>
          <a:xfrm>
            <a:off x="17716036" y="12033083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Extraction d'entités </a:t>
            </a:r>
            <a:r>
              <a:rPr lang="fr-FR" sz="1050" b="1" noProof="0" dirty="0" err="1">
                <a:solidFill>
                  <a:srgbClr val="102C57"/>
                </a:solidFill>
                <a:latin typeface="Aptos Display"/>
              </a:rPr>
              <a:t>GLiNER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noProof="0" dirty="0">
                <a:solidFill>
                  <a:srgbClr val="64748B"/>
                </a:solidFill>
                <a:latin typeface="Aptos"/>
              </a:rPr>
              <a:t>Uniquement pour les entités nécessaires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7EBA16-AB41-9698-2F02-E97039759397}"/>
              </a:ext>
            </a:extLst>
          </p:cNvPr>
          <p:cNvSpPr/>
          <p:nvPr/>
        </p:nvSpPr>
        <p:spPr>
          <a:xfrm>
            <a:off x="11441291" y="13263801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Métadonnées de référence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Bases de données  de contrôle</a:t>
            </a:r>
          </a:p>
        </p:txBody>
      </p:sp>
      <p:sp>
        <p:nvSpPr>
          <p:cNvPr id="106" name="Flèche : bas 105">
            <a:extLst>
              <a:ext uri="{FF2B5EF4-FFF2-40B4-BE49-F238E27FC236}">
                <a16:creationId xmlns:a16="http://schemas.microsoft.com/office/drawing/2014/main" id="{5929544B-9214-0D06-DC74-78DD312169F1}"/>
              </a:ext>
            </a:extLst>
          </p:cNvPr>
          <p:cNvSpPr/>
          <p:nvPr/>
        </p:nvSpPr>
        <p:spPr>
          <a:xfrm rot="5400000">
            <a:off x="12607413" y="12448067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0" name="Flèche : bas 109">
            <a:extLst>
              <a:ext uri="{FF2B5EF4-FFF2-40B4-BE49-F238E27FC236}">
                <a16:creationId xmlns:a16="http://schemas.microsoft.com/office/drawing/2014/main" id="{42C78BD8-6E06-B44F-45E4-9B517FA4EFEB}"/>
              </a:ext>
            </a:extLst>
          </p:cNvPr>
          <p:cNvSpPr/>
          <p:nvPr/>
        </p:nvSpPr>
        <p:spPr>
          <a:xfrm rot="5400000">
            <a:off x="12577413" y="14152466"/>
            <a:ext cx="48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A8610CB-A58D-61F9-86E7-5A5EC45E2C81}"/>
              </a:ext>
            </a:extLst>
          </p:cNvPr>
          <p:cNvSpPr/>
          <p:nvPr/>
        </p:nvSpPr>
        <p:spPr>
          <a:xfrm>
            <a:off x="11441290" y="14825199"/>
            <a:ext cx="2752249" cy="56457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Contrôles manuels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Croisement texte et cadastre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282853-F5B3-7F5B-48D5-1521E0BDBF65}"/>
              </a:ext>
            </a:extLst>
          </p:cNvPr>
          <p:cNvSpPr/>
          <p:nvPr/>
        </p:nvSpPr>
        <p:spPr>
          <a:xfrm>
            <a:off x="14611692" y="14825199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45309"/>
                </a:solidFill>
                <a:latin typeface="Aptos Display"/>
              </a:rPr>
              <a:t>Cohérence avec 17 règles métier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565494E-C8B1-DD91-FDCD-268D9C06E7A5}"/>
              </a:ext>
            </a:extLst>
          </p:cNvPr>
          <p:cNvSpPr/>
          <p:nvPr/>
        </p:nvSpPr>
        <p:spPr>
          <a:xfrm>
            <a:off x="17716029" y="14850487"/>
            <a:ext cx="2752249" cy="564578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Validation opérateur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Interface </a:t>
            </a: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Streamlit</a:t>
            </a: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 </a:t>
            </a:r>
          </a:p>
        </p:txBody>
      </p:sp>
      <p:sp>
        <p:nvSpPr>
          <p:cNvPr id="120" name="Flèche : bas 119">
            <a:extLst>
              <a:ext uri="{FF2B5EF4-FFF2-40B4-BE49-F238E27FC236}">
                <a16:creationId xmlns:a16="http://schemas.microsoft.com/office/drawing/2014/main" id="{D8D6F09A-D259-A918-0896-24CEC69FDAC0}"/>
              </a:ext>
            </a:extLst>
          </p:cNvPr>
          <p:cNvSpPr/>
          <p:nvPr/>
        </p:nvSpPr>
        <p:spPr>
          <a:xfrm>
            <a:off x="14287730" y="149530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2" name="Flèche : bas 121">
            <a:extLst>
              <a:ext uri="{FF2B5EF4-FFF2-40B4-BE49-F238E27FC236}">
                <a16:creationId xmlns:a16="http://schemas.microsoft.com/office/drawing/2014/main" id="{8FADC2A0-39AE-C3AA-50B5-901157283496}"/>
              </a:ext>
            </a:extLst>
          </p:cNvPr>
          <p:cNvSpPr/>
          <p:nvPr/>
        </p:nvSpPr>
        <p:spPr>
          <a:xfrm>
            <a:off x="17411037" y="149558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4" name="Flèche : bas 123">
            <a:extLst>
              <a:ext uri="{FF2B5EF4-FFF2-40B4-BE49-F238E27FC236}">
                <a16:creationId xmlns:a16="http://schemas.microsoft.com/office/drawing/2014/main" id="{F43F3865-6877-5C88-3DD5-9D5897D42789}"/>
              </a:ext>
            </a:extLst>
          </p:cNvPr>
          <p:cNvSpPr/>
          <p:nvPr/>
        </p:nvSpPr>
        <p:spPr>
          <a:xfrm rot="5400000">
            <a:off x="15760157" y="1603975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64F6D7A-21CA-DD6E-A5EB-DB0808D18443}"/>
              </a:ext>
            </a:extLst>
          </p:cNvPr>
          <p:cNvSpPr/>
          <p:nvPr/>
        </p:nvSpPr>
        <p:spPr>
          <a:xfrm>
            <a:off x="14658788" y="16857086"/>
            <a:ext cx="2752249" cy="564578"/>
          </a:xfrm>
          <a:prstGeom prst="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6A34A"/>
                </a:solidFill>
                <a:latin typeface="Aptos Display"/>
              </a:rPr>
              <a:t>Versement sur </a:t>
            </a:r>
            <a:r>
              <a:rPr lang="fr-FR" sz="1050" b="1" noProof="0" dirty="0" err="1">
                <a:solidFill>
                  <a:srgbClr val="16A34A"/>
                </a:solidFill>
                <a:latin typeface="Aptos Display"/>
              </a:rPr>
              <a:t>Géofoncier</a:t>
            </a:r>
            <a:endParaRPr lang="fr-FR" sz="1050" b="1" noProof="0" dirty="0">
              <a:solidFill>
                <a:srgbClr val="16A34A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Transmission à l’API et archivage (Excel local)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46E6776-1AFB-0699-3407-3E400DEE731C}"/>
              </a:ext>
            </a:extLst>
          </p:cNvPr>
          <p:cNvSpPr/>
          <p:nvPr/>
        </p:nvSpPr>
        <p:spPr>
          <a:xfrm>
            <a:off x="471487" y="26846789"/>
            <a:ext cx="10053011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RÉSULTATS  ET IMPACTS DU PROJET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5FA14C6-6539-4756-1C85-F2565C99DC90}"/>
              </a:ext>
            </a:extLst>
          </p:cNvPr>
          <p:cNvSpPr/>
          <p:nvPr/>
        </p:nvSpPr>
        <p:spPr>
          <a:xfrm>
            <a:off x="457519" y="27564901"/>
            <a:ext cx="10079680" cy="2461481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99B31E2-5BC7-4395-F480-5635B8F8FECB}"/>
              </a:ext>
            </a:extLst>
          </p:cNvPr>
          <p:cNvSpPr/>
          <p:nvPr/>
        </p:nvSpPr>
        <p:spPr>
          <a:xfrm>
            <a:off x="-12538" y="4125288"/>
            <a:ext cx="21384000" cy="26136000"/>
          </a:xfrm>
          <a:prstGeom prst="rect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32684-AB8D-A19E-A837-AEDDEA278575}"/>
              </a:ext>
            </a:extLst>
          </p:cNvPr>
          <p:cNvSpPr/>
          <p:nvPr/>
        </p:nvSpPr>
        <p:spPr>
          <a:xfrm>
            <a:off x="60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Résolution communale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95 % Résolus direct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Correction automatique et code INSEE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9FE7F7-0544-A8AF-0B0E-9C58BC593CDC}"/>
              </a:ext>
            </a:extLst>
          </p:cNvPr>
          <p:cNvSpPr/>
          <p:nvPr/>
        </p:nvSpPr>
        <p:spPr>
          <a:xfrm>
            <a:off x="395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Contrôles de cohérence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17 Règles métier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Dates, cadastre, acteurs, doublons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6C916-1C32-BAD8-1F29-EB66D740C156}"/>
              </a:ext>
            </a:extLst>
          </p:cNvPr>
          <p:cNvSpPr/>
          <p:nvPr/>
        </p:nvSpPr>
        <p:spPr>
          <a:xfrm>
            <a:off x="7300000" y="18450000"/>
            <a:ext cx="3100000" cy="125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Fiabilité globale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16A34A"/>
                </a:solidFill>
                <a:latin typeface="Aptos Display"/>
              </a:rPr>
              <a:t>Jusqu'à 88 % de conformité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Évaluation sur dossiers réels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FC76F2-8D39-99F9-341A-5A6D9DBE7F2D}"/>
              </a:ext>
            </a:extLst>
          </p:cNvPr>
          <p:cNvSpPr/>
          <p:nvPr/>
        </p:nvSpPr>
        <p:spPr>
          <a:xfrm>
            <a:off x="10968845" y="21509125"/>
            <a:ext cx="10053807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DIFFICULTÉS RENCONTRÉES ET SOLUTIONS APPORTÉES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E04008-D4FD-6B97-1DE1-A1F7F9824AE6}"/>
              </a:ext>
            </a:extLst>
          </p:cNvPr>
          <p:cNvSpPr/>
          <p:nvPr/>
        </p:nvSpPr>
        <p:spPr>
          <a:xfrm>
            <a:off x="10955352" y="22227237"/>
            <a:ext cx="10080000" cy="3804587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3" name="Rounded Rectangle 192"/>
          <p:cNvSpPr/>
          <p:nvPr/>
        </p:nvSpPr>
        <p:spPr>
          <a:xfrm>
            <a:off x="550000" y="5160000"/>
            <a:ext cx="57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t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Cadre juridique et recherche d'antériorités</a:t>
            </a:r>
          </a:p>
          <a:p>
            <a:pPr algn="just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En vertu de l’obligation déontologique de recherche d’antériorités (art 646 C du code civil), le géomètre-expert doit retrouver les opérations passées pour rétablir les </a:t>
            </a:r>
            <a:r>
              <a:rPr lang="fr-FR" sz="1000" b="0" noProof="0" dirty="0" err="1">
                <a:solidFill>
                  <a:srgbClr val="141E32"/>
                </a:solidFill>
                <a:latin typeface="Aptos"/>
              </a:rPr>
              <a:t>limit</a:t>
            </a:r>
            <a:r>
              <a:rPr lang="fr-FR" sz="1000" dirty="0">
                <a:solidFill>
                  <a:srgbClr val="141E32"/>
                </a:solidFill>
                <a:latin typeface="Aptos"/>
              </a:rPr>
              <a:t>es réelles déjà fixées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. Le plan cadastral n'ayant qu'une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valeur fiscale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, les archives papier du cabinet constituent les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seules preuves juridiques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opposables.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0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Problématique de l'étude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La recherche manuelle dans les archives est un processus long, incertain et fastidieux. Ce projet répond à la problématique suivante :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80" b="1" noProof="0" dirty="0">
                <a:solidFill>
                  <a:srgbClr val="1B365D"/>
                </a:solidFill>
                <a:latin typeface="Aptos"/>
              </a:rPr>
              <a:t>« Dans quelle mesure est-il possible de concevoir un outil logiciel capable d'extraire avec fiabilité les données d'archives foncières très variées, tout en fonctionnant localement ? »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980" b="1" noProof="0" dirty="0">
              <a:solidFill>
                <a:srgbClr val="1B365D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Objectifs opérationnels et contraintes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Le projet vise à développer une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chaîne de traitement automatisée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capable d'analyser les plans scannés et d'extraire les données foncières pour accélérer l'indexation. Pour garantir le secret professionnel et le respect du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RGPD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, l'ensemble des traitements s'exécute à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100 % en local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au cabinet, avant versement </a:t>
            </a:r>
            <a:r>
              <a:rPr lang="fr-FR" sz="1000" b="0" noProof="0" dirty="0">
                <a:solidFill>
                  <a:schemeClr val="tx1"/>
                </a:solidFill>
                <a:latin typeface="Aptos"/>
              </a:rPr>
              <a:t>direct </a:t>
            </a:r>
            <a:r>
              <a:rPr lang="fr-FR" sz="1000" noProof="0" dirty="0">
                <a:solidFill>
                  <a:schemeClr val="tx1"/>
                </a:solidFill>
                <a:latin typeface="Aptos"/>
              </a:rPr>
              <a:t>sur </a:t>
            </a:r>
            <a:r>
              <a:rPr lang="fr-FR" sz="1000" noProof="0" dirty="0" err="1">
                <a:solidFill>
                  <a:schemeClr val="tx1"/>
                </a:solidFill>
                <a:latin typeface="Aptos"/>
              </a:rPr>
              <a:t>Géofoncier</a:t>
            </a:r>
            <a:r>
              <a:rPr lang="fr-FR" sz="1000" b="1" noProof="0" dirty="0">
                <a:solidFill>
                  <a:schemeClr val="tx1"/>
                </a:solidFill>
                <a:latin typeface="Aptos"/>
              </a:rPr>
              <a:t>, </a:t>
            </a:r>
            <a:r>
              <a:rPr lang="fr-FR" sz="1000" noProof="0" dirty="0">
                <a:solidFill>
                  <a:schemeClr val="tx2"/>
                </a:solidFill>
                <a:latin typeface="Aptos"/>
              </a:rPr>
              <a:t>plateforme nationale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400000" y="5160000"/>
            <a:ext cx="40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5" name="Picture 194" descr="registre_crop_part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60" y="5395403"/>
            <a:ext cx="3593877" cy="283365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6480000" y="8229198"/>
            <a:ext cx="3840000" cy="60144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102C57"/>
                </a:solidFill>
                <a:latin typeface="Aptos Display"/>
              </a:rPr>
              <a:t>Registre répertoriant les dossiers du cabinet (1979) 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64748B"/>
                </a:solidFill>
                <a:latin typeface="Aptos"/>
              </a:rPr>
              <a:t>répertoire manuscrit associant client, commune et numéro de dossier.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50000" y="1004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8" name="Picture 197" descr="r4p_fig2_tight.png"/>
          <p:cNvPicPr>
            <a:picLocks noChangeAspect="1"/>
          </p:cNvPicPr>
          <p:nvPr/>
        </p:nvPicPr>
        <p:blipFill>
          <a:blip r:embed="rId6"/>
          <a:srcRect l="2174" b="995"/>
          <a:stretch>
            <a:fillRect/>
          </a:stretch>
        </p:blipFill>
        <p:spPr>
          <a:xfrm>
            <a:off x="816428" y="10080000"/>
            <a:ext cx="2275109" cy="221771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3250000" y="10331557"/>
            <a:ext cx="7120000" cy="1736886"/>
          </a:xfrm>
          <a:prstGeom prst="rect">
            <a:avLst/>
          </a:prstGeom>
          <a:noFill/>
        </p:spPr>
        <p:txBody>
          <a:bodyPr wrap="square" lIns="76200" tIns="38100" rIns="101600" bIns="381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20"/>
              </a:spcAft>
            </a:pP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Découpage des zones d’intérêt par mots clés (YOLOv8)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Localisation automatique des zones utiles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20" b="1" noProof="0" dirty="0">
              <a:solidFill>
                <a:srgbClr val="0284C7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noProof="0" dirty="0">
                <a:solidFill>
                  <a:srgbClr val="141E32"/>
                </a:solidFill>
                <a:latin typeface="Aptos"/>
              </a:rPr>
              <a:t>Le modèle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YOLOv8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repère et isole automatiquement les régions d'intérêt : cartouches de titre, tampons, tableaux de contenance et même dans le corps du plan.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0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Ce découpage sépare les informations pertinentes du dessin. Il permet une détection robuste même sur des documents anciens présentant des pliures, des taches, des ratures ou encore des déformations du papier.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550000" y="1246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1" name="TextBox 200"/>
          <p:cNvSpPr txBox="1"/>
          <p:nvPr/>
        </p:nvSpPr>
        <p:spPr>
          <a:xfrm>
            <a:off x="620000" y="12751556"/>
            <a:ext cx="6200000" cy="1736886"/>
          </a:xfrm>
          <a:prstGeom prst="rect">
            <a:avLst/>
          </a:prstGeom>
          <a:noFill/>
        </p:spPr>
        <p:txBody>
          <a:bodyPr wrap="square" lIns="76200" tIns="38100" rIns="101600" bIns="381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20"/>
              </a:spcAft>
            </a:pP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Prétraitement de l’image (</a:t>
            </a:r>
            <a:r>
              <a:rPr lang="fr-FR" sz="1380" b="1" noProof="0" dirty="0" err="1">
                <a:solidFill>
                  <a:srgbClr val="102C57"/>
                </a:solidFill>
                <a:latin typeface="Aptos Display"/>
              </a:rPr>
              <a:t>OpenCV</a:t>
            </a: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)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Restauration et redressement avant lecture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20" b="1" noProof="0" dirty="0">
              <a:solidFill>
                <a:srgbClr val="0284C7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Avant la transcription, l'orientation du document est analysée pour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redresser automatiquement l'image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et </a:t>
            </a:r>
            <a:r>
              <a:rPr lang="fr-FR" sz="1100" b="0" noProof="0">
                <a:solidFill>
                  <a:srgbClr val="141E32"/>
                </a:solidFill>
                <a:latin typeface="Aptos"/>
              </a:rPr>
              <a:t>remettre l’écriture à 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l'horizontale.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0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Un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filtrage d'image adapté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sépare ensuite l'encre du fond et élimine les bruits de numérisation. Les tracés manuscrits fins sont consolidés pour rendre le texte  net et lisible avant la lecture optique.</a:t>
            </a:r>
          </a:p>
        </p:txBody>
      </p:sp>
      <p:pic>
        <p:nvPicPr>
          <p:cNvPr id="202" name="Picture 201" descr="pretraitement_vrai_plan.png"/>
          <p:cNvPicPr>
            <a:picLocks noChangeAspect="1"/>
          </p:cNvPicPr>
          <p:nvPr/>
        </p:nvPicPr>
        <p:blipFill>
          <a:blip r:embed="rId7"/>
          <a:srcRect t="3225" r="1974"/>
          <a:stretch>
            <a:fillRect/>
          </a:stretch>
        </p:blipFill>
        <p:spPr>
          <a:xfrm>
            <a:off x="6900000" y="12635654"/>
            <a:ext cx="3381920" cy="2036539"/>
          </a:xfrm>
          <a:prstGeom prst="rect">
            <a:avLst/>
          </a:prstGeom>
        </p:spPr>
      </p:pic>
      <p:sp>
        <p:nvSpPr>
          <p:cNvPr id="203" name="Rounded Rectangle 202"/>
          <p:cNvSpPr/>
          <p:nvPr/>
        </p:nvSpPr>
        <p:spPr>
          <a:xfrm>
            <a:off x="550000" y="1488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04" name="Picture 203" descr="extraction_ocr_gliner.png"/>
          <p:cNvPicPr>
            <a:picLocks noChangeAspect="1"/>
          </p:cNvPicPr>
          <p:nvPr/>
        </p:nvPicPr>
        <p:blipFill>
          <a:blip r:embed="rId8"/>
          <a:srcRect l="2801" t="3201" b="1"/>
          <a:stretch>
            <a:fillRect/>
          </a:stretch>
        </p:blipFill>
        <p:spPr>
          <a:xfrm>
            <a:off x="857066" y="15001931"/>
            <a:ext cx="3693560" cy="214713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4550000" y="15209131"/>
            <a:ext cx="5820000" cy="1661737"/>
          </a:xfrm>
          <a:prstGeom prst="rect">
            <a:avLst/>
          </a:prstGeom>
          <a:noFill/>
        </p:spPr>
        <p:txBody>
          <a:bodyPr wrap="square" lIns="76200" tIns="50800" rIns="1016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Lecture optique et extraction d'entités (</a:t>
            </a:r>
            <a:r>
              <a:rPr lang="fr-FR" sz="1300" b="1" noProof="0" dirty="0" err="1">
                <a:solidFill>
                  <a:srgbClr val="102C57"/>
                </a:solidFill>
                <a:latin typeface="Aptos Display"/>
              </a:rPr>
              <a:t>TrOCR</a:t>
            </a: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 et </a:t>
            </a:r>
            <a:r>
              <a:rPr lang="fr-FR" sz="1300" b="1" noProof="0" dirty="0" err="1">
                <a:solidFill>
                  <a:srgbClr val="102C57"/>
                </a:solidFill>
                <a:latin typeface="Aptos Display"/>
              </a:rPr>
              <a:t>GLiNER</a:t>
            </a: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)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50" b="1" noProof="0" dirty="0">
                <a:solidFill>
                  <a:srgbClr val="0284C7"/>
                </a:solidFill>
                <a:latin typeface="Aptos"/>
              </a:rPr>
              <a:t>Reconnaissance conjointe de l'imprimé et du manuscrit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La lecture optique associe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EasyOCR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les textes imprimés et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TrOCR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les écritures manuscrites des géomètres. Le modèle 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GLiNER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extrait les entités clés (commune, section, parcelles, date, géomètre).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En cas de doute ou d'anomalie de lecture, le modèle VLM local sous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Ollama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intervient en </a:t>
            </a:r>
            <a:r>
              <a:rPr lang="fr-FR" sz="1019" b="1" noProof="0" dirty="0">
                <a:solidFill>
                  <a:srgbClr val="102C57"/>
                </a:solidFill>
                <a:latin typeface="Aptos"/>
              </a:rPr>
              <a:t>arbitre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trancher directement sur l'image de la zone.</a:t>
            </a:r>
          </a:p>
        </p:txBody>
      </p:sp>
      <p:pic>
        <p:nvPicPr>
          <p:cNvPr id="206" name="Picture 205" descr="f1_scores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00" y="19909426"/>
            <a:ext cx="4750000" cy="2881147"/>
          </a:xfrm>
          <a:prstGeom prst="rect">
            <a:avLst/>
          </a:prstGeom>
        </p:spPr>
      </p:pic>
      <p:sp>
        <p:nvSpPr>
          <p:cNvPr id="207" name="Rectangle 206"/>
          <p:cNvSpPr/>
          <p:nvPr/>
        </p:nvSpPr>
        <p:spPr>
          <a:xfrm>
            <a:off x="600000" y="23160020"/>
            <a:ext cx="4750000" cy="28797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Contrôle cadastral et filiation parcellaire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Le contrôle spatial croise les informations avec le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cadastre officiel (IGN et DGFiP)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pour attester de l'existence des parcelles et vérifier les opérations antérieures sur </a:t>
            </a:r>
            <a:r>
              <a:rPr lang="fr-FR" sz="1060" b="0" noProof="0" dirty="0" err="1">
                <a:solidFill>
                  <a:srgbClr val="141E32"/>
                </a:solidFill>
                <a:latin typeface="Aptos"/>
              </a:rPr>
              <a:t>GéofoncierEXPERT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En cas de division ancienne, le module retrace la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filiation parcellaire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en reliant parcelles mères et filles. Un filtre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anti-doublon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avertit l'opérateur pour prévenir tout risque de double versement.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Ce croisement automatique fiabilise le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positionnement géographique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et prépare le dossier pour la validation finale par l'opérateur.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550000" y="19850000"/>
            <a:ext cx="4850000" cy="750000"/>
          </a:xfrm>
          <a:prstGeom prst="rect">
            <a:avLst/>
          </a:prstGeom>
          <a:noFill/>
        </p:spPr>
        <p:txBody>
          <a:bodyPr wrap="square" lIns="50800" tIns="0" rIns="5080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450" b="1" noProof="0" dirty="0">
                <a:solidFill>
                  <a:srgbClr val="102C57"/>
                </a:solidFill>
                <a:latin typeface="Aptos Display"/>
              </a:rPr>
              <a:t>17 règles de cohérence métier avant validation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Contrôles automatiques préalables à la relecture opérateur :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550000" y="207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Cohérence des dates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Contrôle du format standard, vérification de l'antériorité de l'acte et concordance avec les années d'exercice du géomètre au cabinet.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550000" y="221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Contrôles cadastraux (5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Validation du code officiel INSEE, cohérence des sections, normalisation des numéros de parcelles et rejet des incohérences.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550000" y="235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Contrôles des personnes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Authentification du géomètre signataire dans l'annuaire du cabinet, vérification des parties et tri entre vendeur et acquéreur.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550000" y="24900000"/>
            <a:ext cx="4850000" cy="138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6A34A"/>
                </a:solidFill>
                <a:latin typeface="Aptos Display"/>
              </a:rPr>
              <a:t>Contrôles de dossier et anti-doublon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Validation de la référence par recherche d'antériorités sur la même parcelle, ou compréhension de la mission par un opérateur dans les cas les plus complexes.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02C57"/>
                </a:solidFill>
                <a:latin typeface="Aptos Display"/>
              </a:rPr>
              <a:t>TEMPS DIVISÉ PAR 8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0284C7"/>
                </a:solidFill>
                <a:latin typeface="Aptos Display"/>
              </a:rPr>
              <a:t>De 25 min à 2 min 40 s (moyenne)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par dossier d'arpentage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950000" y="27680000"/>
            <a:ext cx="3100000" cy="980000"/>
          </a:xfrm>
          <a:prstGeom prst="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6A34A"/>
                </a:solidFill>
                <a:latin typeface="Aptos Display"/>
              </a:rPr>
              <a:t>82 % SANS CORRECTION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27 sur 33 dossiers validés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dès le premier passage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02C57"/>
                </a:solidFill>
                <a:latin typeface="Aptos Display"/>
              </a:rPr>
              <a:t>23 600 DOSSIERS TRAITABLES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0284C7"/>
                </a:solidFill>
                <a:latin typeface="Aptos Display"/>
              </a:rPr>
              <a:t>Fonds historique valorisé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directement au cabinet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00000" y="28740000"/>
            <a:ext cx="9800000" cy="11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7" name="TextBox 216"/>
          <p:cNvSpPr txBox="1"/>
          <p:nvPr/>
        </p:nvSpPr>
        <p:spPr>
          <a:xfrm>
            <a:off x="600000" y="28799604"/>
            <a:ext cx="9800000" cy="1020792"/>
          </a:xfrm>
          <a:prstGeom prst="rect">
            <a:avLst/>
          </a:prstGeom>
          <a:noFill/>
        </p:spPr>
        <p:txBody>
          <a:bodyPr wrap="square" lIns="152400" tIns="50800" rIns="1524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Ce projet répond à une exigence actuelle du cabinet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GEO-SIAPP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 En fiabilisant l'accès aux anciens travaux mais aussi à d’anciennes bases de données du cadastre par exemple, l'outil permet de rétablir les limites réelles sans risque de litige du fait d’anciennes interventions.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L'architecture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100 % locale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garantit le respect du secret professionnel et la conformité au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RGPD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 Les plans d'archives deviennent consultables et s'insèrent directement sur </a:t>
            </a:r>
            <a:r>
              <a:rPr lang="fr-FR" sz="1060" b="1" noProof="0" dirty="0" err="1">
                <a:solidFill>
                  <a:schemeClr val="accent1"/>
                </a:solidFill>
                <a:latin typeface="Aptos"/>
              </a:rPr>
              <a:t>Géofoncier</a:t>
            </a:r>
            <a:r>
              <a:rPr lang="fr-FR" sz="1060" b="0" noProof="0" dirty="0">
                <a:solidFill>
                  <a:schemeClr val="accent1"/>
                </a:solidFill>
                <a:latin typeface="Aptos"/>
              </a:rPr>
              <a:t>.</a:t>
            </a:r>
          </a:p>
        </p:txBody>
      </p:sp>
      <p:sp>
        <p:nvSpPr>
          <p:cNvPr id="218" name="Down Arrow 217"/>
          <p:cNvSpPr/>
          <p:nvPr/>
        </p:nvSpPr>
        <p:spPr>
          <a:xfrm rot="5400000">
            <a:off x="12607413" y="10601989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0" name="Down Arrow 219"/>
          <p:cNvSpPr/>
          <p:nvPr/>
        </p:nvSpPr>
        <p:spPr>
          <a:xfrm rot="5400000">
            <a:off x="18912155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1" name="Down Arrow 220"/>
          <p:cNvSpPr/>
          <p:nvPr/>
        </p:nvSpPr>
        <p:spPr>
          <a:xfrm rot="5400000">
            <a:off x="18912155" y="10328842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2" name="Rounded Rectangle 221"/>
          <p:cNvSpPr/>
          <p:nvPr/>
        </p:nvSpPr>
        <p:spPr>
          <a:xfrm>
            <a:off x="11100000" y="18950000"/>
            <a:ext cx="4450000" cy="2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3" name="Rounded Rectangle 222"/>
          <p:cNvSpPr/>
          <p:nvPr/>
        </p:nvSpPr>
        <p:spPr>
          <a:xfrm>
            <a:off x="11101388" y="18951375"/>
            <a:ext cx="4462774" cy="26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050" b="1" noProof="0" dirty="0">
                <a:solidFill>
                  <a:srgbClr val="FFFFFF"/>
                </a:solidFill>
                <a:latin typeface="Aptos Display"/>
              </a:rPr>
              <a:t>Aperçu de l’interface de contrôle</a:t>
            </a:r>
          </a:p>
        </p:txBody>
      </p:sp>
      <p:pic>
        <p:nvPicPr>
          <p:cNvPr id="224" name="Picture 223" descr="interface_ha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476" y="19300000"/>
            <a:ext cx="3755047" cy="1850000"/>
          </a:xfrm>
          <a:prstGeom prst="rect">
            <a:avLst/>
          </a:prstGeom>
        </p:spPr>
      </p:pic>
      <p:sp>
        <p:nvSpPr>
          <p:cNvPr id="225" name="Rounded Rectangle 224"/>
          <p:cNvSpPr/>
          <p:nvPr/>
        </p:nvSpPr>
        <p:spPr>
          <a:xfrm>
            <a:off x="15650000" y="18950000"/>
            <a:ext cx="5250000" cy="2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6" name="TextBox 225"/>
          <p:cNvSpPr txBox="1"/>
          <p:nvPr/>
        </p:nvSpPr>
        <p:spPr>
          <a:xfrm>
            <a:off x="15650000" y="18995857"/>
            <a:ext cx="5250000" cy="2168286"/>
          </a:xfrm>
          <a:prstGeom prst="rect">
            <a:avLst/>
          </a:prstGeom>
          <a:noFill/>
        </p:spPr>
        <p:txBody>
          <a:bodyPr wrap="square" lIns="127000" tIns="50800" rIns="1270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 Display"/>
              </a:rPr>
              <a:t>      Interface web développée via le langage de programmation Python :</a:t>
            </a:r>
          </a:p>
          <a:p>
            <a:pPr algn="l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Supervision interactive et validation humaine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L'application offre une </a:t>
            </a:r>
            <a:r>
              <a:rPr lang="fr-FR" sz="1080" b="1" noProof="0" dirty="0">
                <a:solidFill>
                  <a:srgbClr val="102C57"/>
                </a:solidFill>
                <a:latin typeface="Aptos"/>
              </a:rPr>
              <a:t>double vue synchronisée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associant le plan scanné avec zoom dynamique et le formulaire des données extraites. Des </a:t>
            </a:r>
            <a:r>
              <a:rPr lang="fr-FR" sz="1080" b="1" noProof="0" dirty="0">
                <a:solidFill>
                  <a:schemeClr val="tx2"/>
                </a:solidFill>
                <a:latin typeface="Aptos"/>
              </a:rPr>
              <a:t>pastilles de couleur 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signalent instantanément l'état des contrôles : vert pour les données conformes, orange ou rouge dès qu'une règle métier présente un problème.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08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Chaque correction est mémorisée localement pour assister la saisie des pages suivantes du même dossier. Conformément aux exigences déontologiques du cabinet, la </a:t>
            </a:r>
            <a:r>
              <a:rPr lang="fr-FR" sz="1080" b="1" noProof="0" dirty="0">
                <a:solidFill>
                  <a:srgbClr val="102C57"/>
                </a:solidFill>
                <a:latin typeface="Aptos"/>
              </a:rPr>
              <a:t>validation humaine reste obligatoire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: aucun dossier n'est versé sur </a:t>
            </a:r>
            <a:r>
              <a:rPr lang="fr-FR" sz="108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sans vérification par l'opérateur.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100000" y="22350000"/>
            <a:ext cx="4750000" cy="360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B91C1C"/>
                </a:solidFill>
                <a:latin typeface="Aptos Display"/>
              </a:rPr>
              <a:t>DIFFICULTÉS RENCONTRÉES DANS LE PROJET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6130000" y="22350000"/>
            <a:ext cx="4750000" cy="360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166534"/>
                </a:solidFill>
                <a:latin typeface="Aptos Display"/>
              </a:rPr>
              <a:t>SOLUTIONS DÉVELOPPÉES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10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Plans sans numéro de dossier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Les numéros de dossiers n'apparaissent presque jamais sur les plans, rendant l'indexation directe impossible à partir du seul document.</a:t>
            </a:r>
          </a:p>
        </p:txBody>
      </p:sp>
      <p:sp>
        <p:nvSpPr>
          <p:cNvPr id="230" name="Right Arrow 229"/>
          <p:cNvSpPr/>
          <p:nvPr/>
        </p:nvSpPr>
        <p:spPr>
          <a:xfrm>
            <a:off x="15870000" y="2314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1" name="Rounded Rectangle 230"/>
          <p:cNvSpPr/>
          <p:nvPr/>
        </p:nvSpPr>
        <p:spPr>
          <a:xfrm>
            <a:off x="1613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Croisement avec les répertoires</a:t>
            </a:r>
          </a:p>
          <a:p>
            <a:pPr algn="l">
              <a:spcBef>
                <a:spcPts val="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Rapprochement automatique avec les registres d'actes numérisés du cabinet pour réassocier le dossier, le client et la date au plan, via un script dédié. 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110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Évolution cadastrale et parcelles disparues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Les remembrements et divisions successives depuis 1959 ont fait disparaître du cadastre actuel les numéros de parcelles d'origine et présents sur les plans de l’étude.</a:t>
            </a:r>
          </a:p>
        </p:txBody>
      </p:sp>
      <p:sp>
        <p:nvSpPr>
          <p:cNvPr id="233" name="Right Arrow 232"/>
          <p:cNvSpPr/>
          <p:nvPr/>
        </p:nvSpPr>
        <p:spPr>
          <a:xfrm>
            <a:off x="15870000" y="2422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4" name="Rounded Rectangle 233"/>
          <p:cNvSpPr/>
          <p:nvPr/>
        </p:nvSpPr>
        <p:spPr>
          <a:xfrm>
            <a:off x="1613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Filiation parcellaire et flux DGFiP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Remontée automatique de la chaîne généalogique des parcelles mères via le cadastre officiel pour rattacher l'acte historique au terrain.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10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Risque de doublon et publication erronée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La publication sur le portail national </a:t>
            </a:r>
            <a:r>
              <a:rPr lang="fr-FR" sz="96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 engage la responsabilité du cabinet et ne tolère aucun doublon d'acte foncier.</a:t>
            </a:r>
          </a:p>
        </p:txBody>
      </p:sp>
      <p:sp>
        <p:nvSpPr>
          <p:cNvPr id="236" name="Right Arrow 235"/>
          <p:cNvSpPr/>
          <p:nvPr/>
        </p:nvSpPr>
        <p:spPr>
          <a:xfrm>
            <a:off x="15870000" y="2530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7" name="Rounded Rectangle 236"/>
          <p:cNvSpPr/>
          <p:nvPr/>
        </p:nvSpPr>
        <p:spPr>
          <a:xfrm>
            <a:off x="1613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Contrôle anti-doublon et validation humaine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Empreinte numérique unique du document, contrôle d'antériorités en base et relecture humaine obligatoire avant versement API.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100000" y="27050000"/>
            <a:ext cx="5280000" cy="2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9" name="TextBox 238"/>
          <p:cNvSpPr txBox="1"/>
          <p:nvPr/>
        </p:nvSpPr>
        <p:spPr>
          <a:xfrm>
            <a:off x="11100000" y="27182331"/>
            <a:ext cx="5280000" cy="2635337"/>
          </a:xfrm>
          <a:prstGeom prst="rect">
            <a:avLst/>
          </a:prstGeom>
          <a:noFill/>
        </p:spPr>
        <p:txBody>
          <a:bodyPr wrap="square" lIns="177800" tIns="76200" rIns="177800" bIns="762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Apprentissage actif local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Les corrections validées par l'opérateur alimentent une base d'apprentissage locale pour réentraîner périodiquement YOLOv8 et </a:t>
            </a:r>
            <a:r>
              <a:rPr lang="fr-FR" sz="1019" b="0" noProof="0" dirty="0" err="1">
                <a:solidFill>
                  <a:srgbClr val="141E32"/>
                </a:solidFill>
                <a:latin typeface="Aptos"/>
              </a:rPr>
              <a:t>TrOCR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sans aucune dépendance au serveur.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Automatisation WFS et intégration SIG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Connexion aux flux WFS pour calculer directement le centroïde parcellaire et développement d'un plugin QGIS dédié pour les géomètres du cabinet, au lieu d’avoir plusieurs petits scripts à lancer au fur et à mesure de l’avancement du dossier.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Déploiement sur toutes les agences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Extension de l'outil aux 4 agences du cabinet GEO-SIAPP et possibilité de l’utiliser avec  d'autres fonds d'archives par réentraînement ciblé.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6500000" y="27050000"/>
            <a:ext cx="4380000" cy="2900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1" name="Rounded Rectangle 240"/>
          <p:cNvSpPr/>
          <p:nvPr/>
        </p:nvSpPr>
        <p:spPr>
          <a:xfrm>
            <a:off x="16500000" y="27050000"/>
            <a:ext cx="4380000" cy="32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50" b="1" noProof="0" dirty="0">
                <a:solidFill>
                  <a:srgbClr val="FFFFFF"/>
                </a:solidFill>
                <a:latin typeface="Aptos Display"/>
              </a:rPr>
              <a:t>▶  DÉMONSTRATION VIDÉO DU PFE</a:t>
            </a:r>
          </a:p>
        </p:txBody>
      </p:sp>
      <p:pic>
        <p:nvPicPr>
          <p:cNvPr id="242" name="Picture 241" descr="qr_code_dem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90000" y="27480000"/>
            <a:ext cx="1600000" cy="16000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6600000" y="29231843"/>
            <a:ext cx="4180000" cy="58631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00" b="1" noProof="0" dirty="0">
                <a:solidFill>
                  <a:srgbClr val="102C57"/>
                </a:solidFill>
                <a:latin typeface="Aptos Display"/>
              </a:rPr>
              <a:t>Scannez pour lancer la vidéo :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980" b="0" noProof="0" dirty="0">
                <a:solidFill>
                  <a:srgbClr val="141E32"/>
                </a:solidFill>
                <a:latin typeface="Aptos"/>
              </a:rPr>
              <a:t>Démonstration du logiciel en conditions réelles (extraction, contrôle et versement). Les données sont modifiées ou fictives.</a:t>
            </a: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9C76546-7038-017A-94CC-002038E29E73}"/>
              </a:ext>
            </a:extLst>
          </p:cNvPr>
          <p:cNvSpPr/>
          <p:nvPr/>
        </p:nvSpPr>
        <p:spPr>
          <a:xfrm rot="16200000" flipH="1">
            <a:off x="16008597" y="11472943"/>
            <a:ext cx="573234" cy="5939473"/>
          </a:xfrm>
          <a:prstGeom prst="bentUp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66970-676B-03C5-E9A8-410EF3BAE80E}"/>
              </a:ext>
            </a:extLst>
          </p:cNvPr>
          <p:cNvSpPr/>
          <p:nvPr/>
        </p:nvSpPr>
        <p:spPr>
          <a:xfrm>
            <a:off x="9756860" y="1459776"/>
            <a:ext cx="5807302" cy="2157780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450" b="1" noProof="0" dirty="0">
                <a:solidFill>
                  <a:srgbClr val="102C57"/>
                </a:solidFill>
                <a:latin typeface="Aptos Display"/>
              </a:rPr>
              <a:t>Structure d'accueil :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B365D"/>
                </a:solidFill>
                <a:latin typeface="Aptos"/>
              </a:rPr>
              <a:t>Cabinet GEO-SIAPP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0" noProof="0" dirty="0">
                <a:solidFill>
                  <a:srgbClr val="141E32"/>
                </a:solidFill>
                <a:latin typeface="Aptos"/>
              </a:rPr>
              <a:t>2 Avenue Jean Monnet, 07200 Aubenas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0" noProof="0" dirty="0">
                <a:solidFill>
                  <a:srgbClr val="141E32"/>
                </a:solidFill>
                <a:latin typeface="Aptos"/>
              </a:rPr>
              <a:t>04 75 35 07 50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4F2906-8D4D-E17A-EFD2-21880DC785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74173" y="1548083"/>
            <a:ext cx="1662808" cy="193505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10378D5-71D1-91CA-24B7-4A7DDB06B99D}"/>
              </a:ext>
            </a:extLst>
          </p:cNvPr>
          <p:cNvCxnSpPr/>
          <p:nvPr/>
        </p:nvCxnSpPr>
        <p:spPr>
          <a:xfrm>
            <a:off x="21691600" y="75958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14552917" y="6356491"/>
            <a:ext cx="2752249" cy="56457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91C1C"/>
                </a:solidFill>
                <a:latin typeface="Arial"/>
              </a:rPr>
              <a:t>Documents non pertinents</a:t>
            </a:r>
          </a:p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850" b="0" noProof="0" dirty="0">
                <a:solidFill>
                  <a:srgbClr val="334155"/>
                </a:solidFill>
                <a:latin typeface="Arial"/>
              </a:rPr>
              <a:t>Factures, devis, dessins d'exemple</a:t>
            </a:r>
          </a:p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800" b="1" noProof="0" dirty="0">
                <a:solidFill>
                  <a:srgbClr val="B91C1C"/>
                </a:solidFill>
                <a:latin typeface="Arial"/>
              </a:rPr>
              <a:t>Suppression automatique (non traités)</a:t>
            </a:r>
          </a:p>
        </p:txBody>
      </p:sp>
      <p:sp>
        <p:nvSpPr>
          <p:cNvPr id="245" name="Notched Right Arrow 244"/>
          <p:cNvSpPr/>
          <p:nvPr/>
        </p:nvSpPr>
        <p:spPr>
          <a:xfrm rot="5400000">
            <a:off x="15804042" y="6097918"/>
            <a:ext cx="220000" cy="25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6" name="Rounded Rectangle 245"/>
          <p:cNvSpPr/>
          <p:nvPr/>
        </p:nvSpPr>
        <p:spPr>
          <a:xfrm>
            <a:off x="14619226" y="11327755"/>
            <a:ext cx="2752249" cy="56457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980" b="1" noProof="0" dirty="0">
                <a:solidFill>
                  <a:srgbClr val="0F172A"/>
                </a:solidFill>
                <a:latin typeface="Arial"/>
              </a:rPr>
              <a:t>Croisement des informations 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50" b="0" noProof="0" dirty="0">
                <a:solidFill>
                  <a:srgbClr val="64748B"/>
                </a:solidFill>
                <a:latin typeface="Arial"/>
              </a:rPr>
              <a:t>Plan, registres</a:t>
            </a:r>
            <a:r>
              <a:rPr lang="fr-FR" sz="850" dirty="0">
                <a:solidFill>
                  <a:srgbClr val="64748B"/>
                </a:solidFill>
                <a:latin typeface="Arial"/>
              </a:rPr>
              <a:t>, </a:t>
            </a:r>
            <a:r>
              <a:rPr lang="fr-FR" sz="850" b="0" noProof="0" dirty="0">
                <a:solidFill>
                  <a:srgbClr val="64748B"/>
                </a:solidFill>
                <a:latin typeface="Arial"/>
              </a:rPr>
              <a:t>cadastre… </a:t>
            </a:r>
          </a:p>
        </p:txBody>
      </p:sp>
      <p:sp>
        <p:nvSpPr>
          <p:cNvPr id="247" name="Notched Right Arrow 246"/>
          <p:cNvSpPr/>
          <p:nvPr/>
        </p:nvSpPr>
        <p:spPr>
          <a:xfrm>
            <a:off x="1424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8" name="Notched Right Arrow 247"/>
          <p:cNvSpPr/>
          <p:nvPr/>
        </p:nvSpPr>
        <p:spPr>
          <a:xfrm rot="10800000">
            <a:off x="1742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843477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</TotalTime>
  <Words>1486</Words>
  <Application>Microsoft Office PowerPoint</Application>
  <PresentationFormat>Personnalisé</PresentationFormat>
  <Paragraphs>165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D'UN OUTIL PERMETTANT LE TRAITEMENT ET L'INSERTION DES ARCHIVES NUMÉRIQUES SUR GÉOFONCIER AU SEIN D'UN CABINET DE GÉOMÈTRE-EXPERT</dc:title>
  <dc:subject>Projet de Fin d'Études - INSA Strasbourg - Spécialité Topographie</dc:subject>
  <dc:creator>Adrien TRAVAILLÉ</dc:creator>
  <cp:keywords>archivage numérique, reconnaissance de texte manuscrit (HTR), traitement automatisé, Géofoncier, intelligence artificielle, géomètre-expert, vision par ordinateur</cp:keywords>
  <dc:description>Cabinet GEO-SIAPP à Aubenas - Tuteur entreprise : Gaëtan HAGUE - Directeur PFE : Mathieu KOEHL</dc:description>
  <cp:lastModifiedBy>TRAVAILLE Adrien</cp:lastModifiedBy>
  <cp:revision>80</cp:revision>
  <dcterms:created xsi:type="dcterms:W3CDTF">2026-09-02T06:42:08Z</dcterms:created>
  <dcterms:modified xsi:type="dcterms:W3CDTF">2026-09-15T21:35:09Z</dcterms:modified>
  <cp:category>Poster PFE Ingénieur</cp:category>
</cp:coreProperties>
</file>