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Monsieur le Président du jury, mesdames et messieurs les membres du jury.</a:t>
            </a:r>
          </a:p>
          <a:p>
            <a:r>
              <a:t>J'ai le plaisir de vous présenter aujourd'hui mes travaux de Projet de Fin d'Études intitulé : Traitement automatisé et versement des archives foncières sur Géofoncier au sein d'un cabinet de Géomètre-Expert.</a:t>
            </a:r>
          </a:p>
          <a:p>
            <a:r>
              <a:t>Ce projet a été réalisé de février à juillet 2026 au sein du cabinet GEO-SIAPP à Aubenas, en Ardèche, sous la direction de M. Mathieu Koehl et le tutorat de M. Gaëtan Hague.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de ma présentation, organisé en 8 chapitres fidèles à mon mémoire.</a:t>
            </a:r>
          </a:p>
          <a:p>
            <a:r>
              <a:t>Je commencerai par le contexte et la structure d'accueil, puis je détaillerai l'analyse du métier et des données, avant de présenter l'état de l'art des technologies mobilisées.</a:t>
            </a:r>
          </a:p>
          <a:p>
            <a:r>
              <a:t>J'entrerai ensuite dans le cœur technique avec l'architecture du pipeline, puis les résultats de validation et la démonstration vidéo.</a:t>
            </a:r>
          </a:p>
          <a:p>
            <a:r>
              <a:t>Je terminerai par l'intégration à l'API Géofoncier, les limites du projet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problématique centrale de ce PFE est la suivante :</a:t>
            </a:r>
          </a:p>
          <a:p>
            <a:r>
              <a:t>Comment automatiser le traitement et le versement de 50 ans d'archives foncières manuscrites sur Géofoncier ?</a:t>
            </a:r>
          </a:p>
          <a:p/>
          <a:p>
            <a:r>
              <a:t>Trois obstacles concrets rendent cette tâche difficile :</a:t>
            </a:r>
          </a:p>
          <a:p>
            <a:r>
              <a:t>Premier obstacle : les registres sont manuscrits, avec des abréviations, une encre parfois fanée et une écriture cursive qui résiste aux OCR classiques.</a:t>
            </a:r>
          </a:p>
          <a:p>
            <a:r>
              <a:t>Deuxième obstacle : des noms de communes abrégés — comme La Chap./A. pour La Chapelle-sous-Aubenas — sont incompréhensibles pour quelqu'un qui ne connaît pas l'Ardèche.</a:t>
            </a:r>
          </a:p>
          <a:p>
            <a:r>
              <a:t>Troisième obstacle : sans outil, chaque dossier nécessite 15 à 30 minutes de recherche physique puis une saisie manuelle sur Géofoncier.</a:t>
            </a:r>
          </a:p>
          <a:p/>
          <a:p>
            <a:r>
              <a:t>Ma réponse est un pipeline IA entièrement local : OCR pour la lecture, NER pour l'extraction sémantique, VLM pour l'arbitrage en cas d'ambiguïté, et une API REST pour le versement automatisé.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débuter, je vous présente la structure d'accueil : le cabinet GEO-SIAPP, fondé en 1992 à Aubenas.</a:t>
            </a:r>
          </a:p>
          <a:p>
            <a:r>
              <a:t>Avec ses 4 agences, le cabinet couvre l'Ardèche et la Drôme. Il réalise des missions de foncier, d'urbanisme, d'ingénierie VRD ainsi que des levés drone et scanner laser.</a:t>
            </a:r>
          </a:p>
          <a:p>
            <a:r>
              <a:t>Au fil des acquisitions de cabinets locaux, GEO-SIAPP a hérité d'un fonds d'archives considérable : près de 23 600 dossiers pour le seul site d'Aubenas, couvrant de 1959 à 2007.</a:t>
            </a:r>
          </a:p>
          <a:p>
            <a:r>
              <a:t>Ces dossiers, conservés physiquement en sous-sol, ne sont pas numérisés. C'est précisément l'objectif qui m'a été confié pour ce PFE de 6 mois.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cadre légal impose deux choses au géomètre-expert.</a:t>
            </a:r>
          </a:p>
          <a:p>
            <a:r>
              <a:t>Premièrement, la loi de 1946 lui confère le monopole de la délimitation de la propriété. Ses actes sont opposables aux tiers.</a:t>
            </a:r>
          </a:p>
          <a:p>
            <a:r>
              <a:t>Deuxièmement, l'article 646 du Code civil interdit de rebouger une borne déjà fixée sans retrouver l'acte antérieur.</a:t>
            </a:r>
          </a:p>
          <a:p>
            <a:r>
              <a:t>Ce qui signifie qu'avant chaque bornage, le géomètre doit consulter Géofoncier et ses archives. Sans numérisation, cette recherche prend 15 à 30 minutes dans les sous-sols du cabinet.</a:t>
            </a:r>
          </a:p>
          <a:p>
            <a:r>
              <a:t>L'État mène l'opération GEODEMAT avec la DGFiP pour numériser les DMPC fiscaux — mais cette opération ne donne pas accès aux plans ni aux PV de bornage, qui restent la propriété exclusive des cabinets.</a:t>
            </a:r>
          </a:p>
          <a:p>
            <a:r>
              <a:t>Il y a donc un angle mort complet sur les archives privées que ce PFE vise à combler.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la technique, il faut comprendre la distinction fondamentale entre cadastre et propriété foncière.</a:t>
            </a:r>
          </a:p>
          <a:p>
            <a:r>
              <a:t>Le cadastre, géré par la DGFiP, est un outil fiscal. Il identifie les parcelles pour calculer l'impôt. Il ne constitue pas un titre de propriété et n'est pas opposable en justice.</a:t>
            </a:r>
          </a:p>
          <a:p>
            <a:r>
              <a:t>La limite réelle, juridiquement opposable, est fixée par le procès-verbal de bornage signé par un géomètre-expert.</a:t>
            </a:r>
          </a:p>
          <a:p>
            <a:r>
              <a:t>C'est pour réconcilier ces deux systèmes que l'Ordre des géomètres-experts a créé Géofoncier. Depuis 2011, tout acte de bornage doit y être versé. Mais les actes antérieurs à 2011 restent une lacune que ce PFE vise à combler pour le cabinet GEO-SIAPP.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slide précédente a présenté pourquoi Géofoncier existe. Celle-ci entre dans le comment du versement.</a:t>
            </a:r>
          </a:p>
          <a:p>
            <a:r>
              <a:t>L'API Géofoncier est documentée sous Swagger. Elle expose des endpoints REST standard. Le versement d'un dossier nécessite un token JWT valable une heure — mon script le renouvelle automatiquement.</a:t>
            </a:r>
          </a:p>
          <a:p>
            <a:r>
              <a:t>Le payload attendu comporte 5 champs obligatoires : la commune INSEE, la date de l'acte, la surface, la nature de l'opération et le type d'acte. C'est précisément ces métadonnées que mon système extrait automatiquement.</a:t>
            </a:r>
          </a:p>
          <a:p/>
          <a:p>
            <a:r>
              <a:t>Du côté du fonds SIAPP, j'ai identifié 4 types de documents : les plans DAO vectoriels, les DMPC scannés, les registres manuscrits et les pièces annexes. Les registres manuscrits sont le cas le plus complexe : une seule page peut contenir plusieurs affaires sur des communes différentes, avec des abréviations et une écriture cursive.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montre concrètement à quoi ressemble un registre manuscrit du cabinet.</a:t>
            </a:r>
          </a:p>
          <a:p>
            <a:r>
              <a:t>On voit en bas un extrait réel : une structure en colonnes avec les références d'affaires, les communes abrégées, les dates, les surfaces et les propriétaires.</a:t>
            </a:r>
          </a:p>
          <a:p>
            <a:r>
              <a:t>La difficulté est triple : l'écriture est cursive, l'encre peut être fanée, et les noms de communes sont abrégés. 'La Chap./A.' signifie La Chapelle-sous-Aubenas — incompréhensible pour un modèle de langue qui ne connaît pas l'Ardèche.</a:t>
            </a:r>
          </a:p>
          <a:p/>
          <a:p>
            <a:r>
              <a:t>Autre complexité : la filiation parcellaire. Quand une parcelle a déjà été bornée, l'acte ultérieur doit s'y référer. Les numéros de parcelles ont par ailleurs changé au fil des remaniements cadastraux, ce qui impose un contrôle de cohérence supplémentaire.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L'état de l'art commence par la question fondamentale : comment lire les documents manuscrits anciens ?</a:t>
            </a:r>
          </a:p>
          <a:p/>
          <a:p>
            <a:r>
              <a:t>Les OCR classiques comme Tesseract ou EasyOCR sont calibrés pour le texte imprimé. Sur cursive historique, le taux d'erreur caractère dépasse souvent 30 %, ce qui est inacceptable.</a:t>
            </a:r>
          </a:p>
          <a:p/>
          <a:p>
            <a:r>
              <a:t>La reconnaissance d'écriture manuscrite (HTR) est une discipline spécifique. Le modèle de référence dans le domaine est la taxonomie de Baek et al. (ICCV 2019), qui décompose la reconnaissance en 4 étapes indépendantes : transformation spatiale, extraction de caractéristiques, modélisation séquentielle et prédiction.</a:t>
            </a:r>
          </a:p>
          <a:p/>
          <a:p>
            <a:r>
              <a:t>J'ai retenu EasyOCR pour les zones imprimées et TrOCR de Microsoft pour les zones manuscrites, les deux étant orchestrés par YOLOv8 qui identifie d'abord les zones à lire.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extraire les métadonnées cibles, j'ai comparé deux approches de NER (Named Entity Recognition).</a:t>
            </a:r>
          </a:p>
          <a:p/>
          <a:p>
            <a:r>
              <a:t>GLiNER est un modèle zéro-shot généraliste, entraîné sur 825 GB de texte (corpus PILE). Il permet l'extraction de n'importe quelle entité nommée sans fine-tuning sur un corpus spécifique. Il provient du dépôt urchade/GLiNER sur GitHub, sous licence Apache 2.0.</a:t>
            </a:r>
          </a:p>
          <a:p/>
          <a:p>
            <a:r>
              <a:t>LayoutLM de Microsoft intègre texte et coordonnées spatiales. Il est performant sur des formulaires structurés comme des factures ou des DMPC. Mais il requiert une mise en page tabulaire stricte, incompatible avec la variabilité des registres manuscrits.</a:t>
            </a:r>
          </a:p>
          <a:p/>
          <a:p>
            <a:r>
              <a:t>J'ai donc retenu GLiNER pour l'extraction sémantique.</a:t>
            </a:r>
          </a:p>
          <a:p/>
          <a:p>
            <a:r>
              <a:t>Pour les cas d'ambiguïté — notamment les noms de communes abrégés — j'ai ajouté un VLM en arbitre de dernier recours. J'utilise Ollama pour exécuter LLaVA ou Qwen-VL localement sur GPU, sans aucun appel cloud.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synthétise les 4 choix technologiques retenus après l'état de l'art.</a:t>
            </a:r>
          </a:p>
          <a:p/>
          <a:p>
            <a:r>
              <a:t>Pour la lecture : EasyOCR sur les zones imprimées, TrOCR fine-tuné sur les zones manuscrites. Les deux sont orchestrés par YOLOv8 qui identifie les zones à lire.</a:t>
            </a:r>
          </a:p>
          <a:p/>
          <a:p>
            <a:r>
              <a:t>Pour la segmentation : YOLOv8 d'Ultralytics, dans sa variante la plus légère. J'ai annoté 400 images du fonds pour l'entraîner à repérer les cartouches, tableaux et annotations marginales.</a:t>
            </a:r>
          </a:p>
          <a:p/>
          <a:p>
            <a:r>
              <a:t>Pour l'extraction sémantique : GLiNER en mode zéro-shot. Il extrait les 5 champs obligatoires pour Géofoncier sans données d'entraînement spécifiques.</a:t>
            </a:r>
          </a:p>
          <a:p/>
          <a:p>
            <a:r>
              <a:t>Enfin, le VLM Ollama intervient comme arbitre de dernier recours pour les communes ambiguës. Il n'est activé que lorsque le score de confiance de GLiNER descend sous 0.65.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J'arrive maintenant au cœur technique : l'architecture du système que j'ai développé.</a:t>
            </a:r>
          </a:p>
          <a:p/>
          <a:p>
            <a:r>
              <a:t>Le pipeline est entièrement écrit en Python 3.10 sous Windows, sans aucune dépendance cloud. Il comporte 6 scripts modulaires orchestrés par un fichier principal.</a:t>
            </a:r>
          </a:p>
          <a:p/>
          <a:p>
            <a:r>
              <a:t>Le flux est le suivant : un scan brut entre dans le pipeline, le classifieur l'identifie en moins d'une seconde, YOLOv8 segmente les zones utiles, EasyOCR et TrOCR lisent le texte, GLiNER extrait les 5 champs cibles, le contrôleur de cohérence applique 17 règles métier, puis l'interface Streamlit permet une relecture humaine avant le versement via l'API Géofoncier.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passer aux modèles d'IA, le document brut doit être prétraité.</a:t>
            </a:r>
          </a:p>
          <a:p/>
          <a:p>
            <a:r>
              <a:t>Trois opérations sont appliquées systématiquement.</a:t>
            </a:r>
          </a:p>
          <a:p>
            <a:r>
              <a:t>Premièrement, la résolution est vérifiée : 300 DPI est le seuil minimal empiriquement validé pour l'OCR sur documents manuscrits anciens.</a:t>
            </a:r>
          </a:p>
          <a:p>
            <a:r>
              <a:t>Deuxièmement, la transformée de Hough détecte les lignes du tableau pour estimer et corriger l'angle d'inclinaison du scan.</a:t>
            </a:r>
          </a:p>
          <a:p>
            <a:r>
              <a:t>Troisièmement, la binarisation d'Otsu seuille automatiquement l'image en maximisant la variance inter-classe — ce qui le rend robuste aux variations d'encre et d'éclairage.</a:t>
            </a:r>
          </a:p>
          <a:p/>
          <a:p>
            <a:r>
              <a:t>Le résultat : sur notre corpus test de 50 registres, ce prétraitement réduit le taux d'erreur caractère de 18 points de pourcentage.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pipeline comporte deux briques majeures de traitement.</a:t>
            </a:r>
          </a:p>
          <a:p/>
          <a:p>
            <a:r>
              <a:t>Première brique : YOLOv8 segmente le document pour repérer les zones utiles. J'ai utilisé la variante nano d'Ultralytics, la plus légère, qui traite une image en 20 ms sur GPU. Après annotation manuelle de 400 images du fonds SIAPP, le modèle atteint un mAP@0.5 de 0.87.</a:t>
            </a:r>
          </a:p>
          <a:p/>
          <a:p>
            <a:r>
              <a:t>Deuxième brique : GLiNER extrait les 5 champs obligatoires pour Géofoncier — commune, date, surface, nature et type d'acte — en mode zéro-shot, sans entraînement supplémentaire. Il retourne un score de confiance par entité. Si ce score descend sous 0.65 sur la commune ou la date, le VLM est activé en arbitre.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justification concrète du VLM dans le pipeline.</a:t>
            </a:r>
          </a:p>
          <a:p/>
          <a:p>
            <a:r>
              <a:t>Dans les registres du cabinet, les noms de communes sont systématiquement abrégés. 'La Chap./A.' désigne La Chapelle-sous-Aubenas, une commune de 1 800 habitants en Ardèche. Aucun modèle de langue généraliste ne connaît cette abréviation.</a:t>
            </a:r>
          </a:p>
          <a:p/>
          <a:p>
            <a:r>
              <a:t>GLiNER retourne un score de confiance inférieur à 0.65 sur ces cellules, ce qui déclenche l'activation du VLM.</a:t>
            </a:r>
          </a:p>
          <a:p/>
          <a:p>
            <a:r>
              <a:t>Le VLM reçoit deux entrées : l'image de la cellule concernée et le contexte de la page entière — ce qui lui permet de repérer d'autres communes de la même page et de déduire qu'on est en Ardèche.</a:t>
            </a:r>
          </a:p>
          <a:p/>
          <a:p>
            <a:r>
              <a:t>Sur notre corpus de validation, le VLM identifie correctement la commune à 97 % des cas. Temps d'arbitrage : environ 8 secondes par page sur GPU local — Ollama, sans aucun appel cloud.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tout versement automatisé sur Géofoncier, l'opérateur valide les données extraites via une interface Streamlit déployée localement sur le poste du cabinet.</a:t>
            </a:r>
          </a:p>
          <a:p/>
          <a:p>
            <a:r>
              <a:t>L'interface propose une vue miroir : le scan original s'affiche à gauche, les métadonnées extraites à droite. L'opérateur peut corriger n'importe quel champ d'un simple clic avant de valider.</a:t>
            </a:r>
          </a:p>
          <a:p/>
          <a:p>
            <a:r>
              <a:t>Ce choix de garder un humain dans la boucle est volontaire : l'objectif n'est pas de remplacer le géomètre, mais d'éliminer le travail de copie manuelle tout en conservant le contrôle professionnel.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parallèle de l'interface de validation, j'ai développé deux outils de consultation.</a:t>
            </a:r>
          </a:p>
          <a:p/>
          <a:p>
            <a:r>
              <a:t>Premièrement, un répertoire numérique des affaires : liste filtrée et recherchable de tous les dossiers traités, avec export CSV pour le cabinet.</a:t>
            </a:r>
          </a:p>
          <a:p/>
          <a:p>
            <a:r>
              <a:t>Deuxièmement, une carte interactive générée avec la bibliothèque Folium, qui s'appuie sur Leaflet.js et OpenStreetMap. Chaque affaire validée apparaît comme un marqueur géolocalisé. Un clic affiche la référence, la date, la surface et un lien vers le scan. La carte est exportée en HTML autonome — consultable sans connexion.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propose maintenant de regarder une démonstration condensée du pipeline complet.</a:t>
            </a:r>
          </a:p>
          <a:p/>
          <a:p>
            <a:r>
              <a:t>Cette vidéo de 1 minute 25 montre le traitement d'un registre réel du cabinet GEO-SIAPP :</a:t>
            </a:r>
          </a:p>
          <a:p>
            <a:r>
              <a:t>- Chargement du scan brut</a:t>
            </a:r>
          </a:p>
          <a:p>
            <a:r>
              <a:t>- Prétraitement et redressement</a:t>
            </a:r>
          </a:p>
          <a:p>
            <a:r>
              <a:t>- Segmentation YOLOv8 des zones</a:t>
            </a:r>
          </a:p>
          <a:p>
            <a:r>
              <a:t>- Extraction GLiNER des métadonnées</a:t>
            </a:r>
          </a:p>
          <a:p>
            <a:r>
              <a:t>- Validation dans l'interface Streamlit</a:t>
            </a:r>
          </a:p>
          <a:p>
            <a:r>
              <a:t>- Versement API vers Géofoncier</a:t>
            </a:r>
          </a:p>
          <a:p/>
          <a:p>
            <a:r>
              <a:t>(Cliquez sur la vidéo pour la lancer)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versement sur Géofoncier se fait via l'API REST officielle, accessible aux membres de l'Ordre.</a:t>
            </a:r>
          </a:p>
          <a:p/>
          <a:p>
            <a:r>
              <a:t>Le protocole est le suivant : d'abord une authentification JWT pour obtenir un token valable 1 heure, puis un GET pour vérifier l'absence de doublon, et enfin un POST multipart pour verser le dossier avec ses métadonnées et le PDF.</a:t>
            </a:r>
          </a:p>
          <a:p/>
          <a:p>
            <a:r>
              <a:t>En mode batch, le script traite plusieurs dossiers en séquence avec un délai d'une seconde entre chaque requête pour respecter le rate-limit de l'API. Le débit constaté est de 80 à 120 dossiers versés par heure.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valider le système en conditions réelles, j'ai mené une expérimentation complète sur la commune de Prades, en Ardèche.</a:t>
            </a:r>
          </a:p>
          <a:p/>
          <a:p>
            <a:r>
              <a:t>Sur 50 dossiers sélectionnés dans les archives de 1970 à 1990, 47 ont été versés avec succès sur Géofoncier. Les 3 échecs s'expliquent : 2 scans trop dégradés (moins de 200 DPI) et 1 doublon déjà présent dans Géofoncier.</a:t>
            </a:r>
          </a:p>
          <a:p/>
          <a:p>
            <a:r>
              <a:t>Les scores F1 par champ sont les suivants :</a:t>
            </a:r>
          </a:p>
          <a:p>
            <a:r>
              <a:t>- Commune INSEE : 0.94</a:t>
            </a:r>
          </a:p>
          <a:p>
            <a:r>
              <a:t>- Date de l'acte : 0.91</a:t>
            </a:r>
          </a:p>
          <a:p>
            <a:r>
              <a:t>- Surface : 0.88</a:t>
            </a:r>
          </a:p>
          <a:p>
            <a:r>
              <a:t>- Nature de l'opération : 0.85</a:t>
            </a:r>
          </a:p>
          <a:p>
            <a:r>
              <a:t>- Type d'acte : 0.82</a:t>
            </a:r>
          </a:p>
          <a:p>
            <a:r>
              <a:t>Score global : F1 = 0.88</a:t>
            </a:r>
          </a:p>
          <a:p/>
          <a:p>
            <a:r>
              <a:t>Ces résultats ont été validés par M. Hague, le géomètre-expert tuteur.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 solution technique a ses limites, et il est important d'en être transparent.</a:t>
            </a:r>
          </a:p>
          <a:p/>
          <a:p>
            <a:r>
              <a:t>Trois limites ont été identifiées lors des tests sur le terrain.</a:t>
            </a:r>
          </a:p>
          <a:p>
            <a:r>
              <a:t>Premièrement, les scans très dégradés — moins de 200 DPI, papier déchiré ou taches importantes — représentent environ 3 à 5 % du corpus et sont irrécupérables par le pipeline. Ils nécessitent un traitement manuel résiduel.</a:t>
            </a:r>
          </a:p>
          <a:p>
            <a:r>
              <a:t>Deuxièmement, les annotations marginales libres, hors structure tabulaire, résistent à l'extraction GLiNER.</a:t>
            </a:r>
          </a:p>
          <a:p>
            <a:r>
              <a:t>Troisièmement, si un fonds acquis provient d'un géomètre avec une cursive très personnelle, le modèle HTR peut nécessiter un fine-tuning supplémentaire.</a:t>
            </a:r>
          </a:p>
          <a:p/>
          <a:p>
            <a:r>
              <a:t>En termes de perspectives, la priorité est le fine-tuning de TrOCR sur un corpus manuscrit ardéchois annoté. À terme, le pipeline est suffisamment générique pour être déployé dans n'importe quel cabinet de géomètre-expert.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ce PFE a atteint son objectif principal : développer un pipeline opérationnel permettant de traiter automatiquement les archives foncières manuscrites et de les verser sur Géofoncier.</a:t>
            </a:r>
          </a:p>
          <a:p/>
          <a:p>
            <a:r>
              <a:t>Les résultats quantitatifs le confirment : F1 global de 0.88, 47 dossiers sur 50 versés avec succès sur la commune de Prades, et un gain de temps de 80 % par rapport à la saisie manuelle.</a:t>
            </a:r>
          </a:p>
          <a:p/>
          <a:p>
            <a:r>
              <a:t>Sur le plan de la responsabilité professionnelle, je tiens à souligner que ce système a été conçu en stricte conformité avec la déontologie du géomètre-expert.</a:t>
            </a:r>
          </a:p>
          <a:p>
            <a:r>
              <a:t>Toutes les données restent sur le réseau local du cabinet — conformément à l'article 18 du Code de géomètre.</a:t>
            </a:r>
          </a:p>
          <a:p>
            <a:r>
              <a:t>La Charte OGE sur l'IA de mars 2024 encadre l'usage de l'IA dans la profession : l'IA est un assistant, le géomètre-expert valide et signe chaque acte. La responsabilité n'est pas déléguée.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de votre attention.</a:t>
            </a:r>
          </a:p>
          <a:p/>
          <a:p>
            <a:r>
              <a:t>Je souhaite remercier particulièrement :</a:t>
            </a:r>
          </a:p>
          <a:p>
            <a:r>
              <a:t>- M. Mathieu Koehl pour sa direction scientifique tout au long de ce PFE</a:t>
            </a:r>
          </a:p>
          <a:p>
            <a:r>
              <a:t>- M. Gaëtan Hague pour son accueil au sein de GEO-SIAPP et son soutien opérationnel</a:t>
            </a:r>
          </a:p>
          <a:p>
            <a:r>
              <a:t>- Toute l'équipe du cabinet pour la confiance accordée et l'accès au fonds d'archives</a:t>
            </a:r>
          </a:p>
          <a:p/>
          <a:p>
            <a:r>
              <a:t>Je reste disponible pour répondre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me pose des questions sur GLiNER :</a:t>
            </a:r>
          </a:p>
          <a:p/>
          <a:p>
            <a:r>
              <a:t>GLiNER (Generalist and Lightweight Named Entity Recognizer) a été développé par Zaratiana et al. en 2023, publiés sur arXiv (2311.08526). Le code est open-source sur GitHub (urchade/GLiNER, Apache 2.0).</a:t>
            </a:r>
          </a:p>
          <a:p/>
          <a:p>
            <a:r>
              <a:t>L'architecture est basée sur un encodeur BERT bidirectionnel. Les entités sont représentées comme des vecteurs de type + span, et un score de similarité est calculé.</a:t>
            </a:r>
          </a:p>
          <a:p/>
          <a:p>
            <a:r>
              <a:t>Les données d'entraînement : le corpus PILE d'EleutherAI, qui contient 825 GB de texte multilingue. Aucune annotation spécifique au domaine foncier n'a été nécessaire.</a:t>
            </a:r>
          </a:p>
          <a:p/>
          <a:p>
            <a:r>
              <a:t>Le fonctionnement est zéro-shot : les types d'entités (commune, date, surface...) sont définis au moment de l'inférence, pas lors de l'entraînement. C'est l'avantage principal pour notre usage.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me pose des questions sur YOLOv8 :</a:t>
            </a:r>
          </a:p>
          <a:p/>
          <a:p>
            <a:r>
              <a:t>YOLOv8 est développé par Ultralytics (Glenn Jocher et al.), sorti en 2023. Le dépôt est open-source sur GitHub sous licence AGPL-3.0.</a:t>
            </a:r>
          </a:p>
          <a:p/>
          <a:p>
            <a:r>
              <a:t>J'ai utilisé la variante nano (8M paramètres) pour la performance sur GPU modeste.</a:t>
            </a:r>
          </a:p>
          <a:p/>
          <a:p>
            <a:r>
              <a:t>Les données d'entraînement : YOLOv8 est pré-entraîné sur COCO (118 000 images, 80 classes). J'ai ensuite réalisé un fine-tuning sur 400 images annotées manuellement avec LabelImg, en 3 classes : cartouche, tableau de parcelles, et annotations marginales. L'entraînement a duré 50 epochs avec un batch size de 16.</a:t>
            </a:r>
          </a:p>
          <a:p/>
          <a:p>
            <a:r>
              <a:t>Le mAP@0.5 atteint 0.87 sur le corpus de test (80 images).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me pose des questions sur le pipeline OCR/HTR :</a:t>
            </a:r>
          </a:p>
          <a:p/>
          <a:p>
            <a:r>
              <a:t>J'utilise deux moteurs de lecture distincts selon la nature de la zone.</a:t>
            </a:r>
          </a:p>
          <a:p/>
          <a:p>
            <a:r>
              <a:t>EasyOCR de JaidedAI (2020) pour les zones imprimées — rapide, multilingue, sans GPU requis.</a:t>
            </a:r>
          </a:p>
          <a:p/>
          <a:p>
            <a:r>
              <a:t>TrOCR de Microsoft (2021) pour les zones manuscrites — c'est un Transformer pur, avec un ViT comme encodeur et GPT-2 comme décodeur. Il a été pré-entraîné sur 684 millions de paires image-texte par Microsoft. Disponible sur Hugging Face sous licence MIT (microsoft/trocr-large-handwritten).</a:t>
            </a:r>
          </a:p>
          <a:p/>
          <a:p>
            <a:r>
              <a:t>Après fine-tuning sur 200 pages annotées du fonds SIAPP, le CER descend à 8.4 %, contre 31.2 % sans fine-tuning.</a:t>
            </a:r>
          </a:p>
          <a:p/>
          <a:p>
            <a:r>
              <a:t>La référence académique de base pour comprendre l'architecture est l'article de Baek et al. présenté à ICCV 2019, qui propose une taxonomie unifiée des systèmes OCR en 4 étapes.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récapitule les références bibliographiques du mémoire, organisées en trois catégories.</a:t>
            </a:r>
          </a:p>
          <a:p/>
          <a:p>
            <a:r>
              <a:t>Références académiques : les articles de Baek (OCR taxonomy), Li (TrOCR), Zaratiana (GLiNER), Xu (LayoutLM) et Jocher (YOLOv8).</a:t>
            </a:r>
          </a:p>
          <a:p/>
          <a:p>
            <a:r>
              <a:t>Références juridiques : la loi de 1946, le décret de 1996, l'article 646 du Code civil et la Charte OGE sur l'IA de mars 2024.</a:t>
            </a:r>
          </a:p>
          <a:p/>
          <a:p>
            <a:r>
              <a:t>Logiciels open-source : Ollama, HTR-United, Streamlit, OpenStreetMap et Python 3.10.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4.png"/><Relationship Id="rId5"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9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INSAStrasbourg.jpg"/>
          <p:cNvPicPr>
            <a:picLocks noChangeAspect="1"/>
          </p:cNvPicPr>
          <p:nvPr/>
        </p:nvPicPr>
        <p:blipFill>
          <a:blip r:embed="rId2"/>
          <a:stretch>
            <a:fillRect/>
          </a:stretch>
        </p:blipFill>
        <p:spPr>
          <a:xfrm>
            <a:off x="365760" y="137160"/>
            <a:ext cx="2377440" cy="666708"/>
          </a:xfrm>
          <a:prstGeom prst="rect">
            <a:avLst/>
          </a:prstGeom>
        </p:spPr>
      </p:pic>
      <p:pic>
        <p:nvPicPr>
          <p:cNvPr id="4" name="Picture 3" descr="Geosiapp.jpg"/>
          <p:cNvPicPr>
            <a:picLocks noChangeAspect="1"/>
          </p:cNvPicPr>
          <p:nvPr/>
        </p:nvPicPr>
        <p:blipFill>
          <a:blip r:embed="rId3"/>
          <a:stretch>
            <a:fillRect/>
          </a:stretch>
        </p:blipFill>
        <p:spPr>
          <a:xfrm>
            <a:off x="9997135" y="137160"/>
            <a:ext cx="834031" cy="822960"/>
          </a:xfrm>
          <a:prstGeom prst="rect">
            <a:avLst/>
          </a:prstGeom>
        </p:spPr>
      </p:pic>
      <p:sp>
        <p:nvSpPr>
          <p:cNvPr id="5" name="TextBox 4"/>
          <p:cNvSpPr txBox="1"/>
          <p:nvPr/>
        </p:nvSpPr>
        <p:spPr>
          <a:xfrm>
            <a:off x="2560320" y="182880"/>
            <a:ext cx="7071055" cy="731520"/>
          </a:xfrm>
          <a:prstGeom prst="rect">
            <a:avLst/>
          </a:prstGeom>
          <a:noFill/>
        </p:spPr>
        <p:txBody>
          <a:bodyPr wrap="square" lIns="0" tIns="0" rIns="0" bIns="0">
            <a:spAutoFit/>
          </a:bodyPr>
          <a:lstStyle/>
          <a:p>
            <a:pPr algn="ctr">
              <a:defRPr sz="950" b="1">
                <a:solidFill>
                  <a:srgbClr val="B4D2F0"/>
                </a:solidFill>
              </a:defRPr>
            </a:pPr>
            <a:r>
              <a:t>INSA STRASBOURG — SPÉCIALITÉ TOPOGRAPHIE</a:t>
            </a:r>
          </a:p>
          <a:p>
            <a:pPr algn="ctr">
              <a:spcBef>
                <a:spcPts val="400"/>
              </a:spcBef>
              <a:defRPr sz="850">
                <a:solidFill>
                  <a:srgbClr val="82AADC"/>
                </a:solidFill>
              </a:defRPr>
            </a:pPr>
            <a:r>
              <a:t>Projet de Fin d'Études — Soutenance du 24 septembre 2026</a:t>
            </a:r>
          </a:p>
        </p:txBody>
      </p:sp>
      <p:sp>
        <p:nvSpPr>
          <p:cNvPr id="6" name="TextBox 5"/>
          <p:cNvSpPr txBox="1"/>
          <p:nvPr/>
        </p:nvSpPr>
        <p:spPr>
          <a:xfrm>
            <a:off x="731520" y="1554480"/>
            <a:ext cx="10728655" cy="1554480"/>
          </a:xfrm>
          <a:prstGeom prst="rect">
            <a:avLst/>
          </a:prstGeom>
          <a:noFill/>
        </p:spPr>
        <p:txBody>
          <a:bodyPr wrap="square" lIns="0" tIns="0" rIns="0" bIns="0">
            <a:spAutoFit/>
          </a:bodyPr>
          <a:lstStyle/>
          <a:p>
            <a:pPr algn="ctr">
              <a:defRPr sz="3000" b="1">
                <a:solidFill>
                  <a:srgbClr val="FFFFFF"/>
                </a:solidFill>
              </a:defRPr>
            </a:pPr>
            <a:r>
              <a:t>Traitement automatisé et versement</a:t>
            </a:r>
          </a:p>
          <a:p>
            <a:pPr algn="ctr">
              <a:spcBef>
                <a:spcPts val="400"/>
              </a:spcBef>
              <a:defRPr sz="3000" b="1">
                <a:solidFill>
                  <a:srgbClr val="FFFFFF"/>
                </a:solidFill>
              </a:defRPr>
            </a:pPr>
            <a:r>
              <a:t>des archives foncières sur Géofoncier</a:t>
            </a:r>
          </a:p>
          <a:p>
            <a:pPr algn="ctr">
              <a:spcBef>
                <a:spcPts val="800"/>
              </a:spcBef>
              <a:defRPr sz="2200" b="0">
                <a:solidFill>
                  <a:srgbClr val="82BEF0"/>
                </a:solidFill>
              </a:defRPr>
            </a:pPr>
            <a:r>
              <a:t>au sein d'un cabinet de Géomètre-Expert</a:t>
            </a:r>
          </a:p>
        </p:txBody>
      </p:sp>
      <p:sp>
        <p:nvSpPr>
          <p:cNvPr id="7" name="TextBox 6"/>
          <p:cNvSpPr txBox="1"/>
          <p:nvPr/>
        </p:nvSpPr>
        <p:spPr>
          <a:xfrm>
            <a:off x="1371600" y="3246120"/>
            <a:ext cx="9448495" cy="365760"/>
          </a:xfrm>
          <a:prstGeom prst="rect">
            <a:avLst/>
          </a:prstGeom>
          <a:noFill/>
        </p:spPr>
        <p:txBody>
          <a:bodyPr wrap="none" lIns="0" tIns="0" rIns="0" bIns="0">
            <a:spAutoFit/>
          </a:bodyPr>
          <a:lstStyle/>
          <a:p>
            <a:pPr algn="ctr">
              <a:defRPr sz="1100">
                <a:solidFill>
                  <a:srgbClr val="649BD2"/>
                </a:solidFill>
              </a:defRPr>
            </a:pPr>
            <a:r>
              <a:t>Vision par ordinateur, modèles de langue légers, fiabilisation et intégration API REST</a:t>
            </a:r>
          </a:p>
        </p:txBody>
      </p:sp>
      <p:sp>
        <p:nvSpPr>
          <p:cNvPr id="8" name="Rectangle 7"/>
          <p:cNvSpPr/>
          <p:nvPr/>
        </p:nvSpPr>
        <p:spPr>
          <a:xfrm>
            <a:off x="3474720" y="3703320"/>
            <a:ext cx="5242255"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40480"/>
            <a:ext cx="3291840" cy="2560320"/>
          </a:xfrm>
          <a:prstGeom prst="rect">
            <a:avLst/>
          </a:prstGeom>
          <a:noFill/>
        </p:spPr>
        <p:txBody>
          <a:bodyPr wrap="square" lIns="0" tIns="0" rIns="0" bIns="0">
            <a:spAutoFit/>
          </a:bodyPr>
          <a:lstStyle/>
          <a:p>
            <a:pPr algn="ctr">
              <a:defRPr sz="800" b="1">
                <a:solidFill>
                  <a:srgbClr val="0284C7"/>
                </a:solidFill>
              </a:defRPr>
            </a:pPr>
            <a:r>
              <a:t>CANDIDAT</a:t>
            </a:r>
          </a:p>
          <a:p>
            <a:pPr algn="ctr">
              <a:spcBef>
                <a:spcPts val="500"/>
              </a:spcBef>
              <a:defRPr sz="1350" b="1">
                <a:solidFill>
                  <a:srgbClr val="FFFFFF"/>
                </a:solidFill>
              </a:defRPr>
            </a:pPr>
            <a:r>
              <a:t>Adrien TRAVAILLÉ</a:t>
            </a:r>
          </a:p>
          <a:p>
            <a:pPr algn="ctr">
              <a:spcBef>
                <a:spcPts val="500"/>
              </a:spcBef>
              <a:defRPr sz="850">
                <a:solidFill>
                  <a:srgbClr val="8CAFDC"/>
                </a:solidFill>
              </a:defRPr>
            </a:pPr>
            <a:r>
              <a:t>Élève-ingénieur Topographe</a:t>
            </a:r>
            <a:br/>
            <a:r>
              <a:t>INSA Strasbourg — Promo 2026</a:t>
            </a:r>
          </a:p>
        </p:txBody>
      </p:sp>
      <p:sp>
        <p:nvSpPr>
          <p:cNvPr id="10" name="TextBox 9"/>
          <p:cNvSpPr txBox="1"/>
          <p:nvPr/>
        </p:nvSpPr>
        <p:spPr>
          <a:xfrm>
            <a:off x="4450384" y="3840480"/>
            <a:ext cx="3291840" cy="2560320"/>
          </a:xfrm>
          <a:prstGeom prst="rect">
            <a:avLst/>
          </a:prstGeom>
          <a:noFill/>
        </p:spPr>
        <p:txBody>
          <a:bodyPr wrap="square" lIns="0" tIns="0" rIns="0" bIns="0">
            <a:spAutoFit/>
          </a:bodyPr>
          <a:lstStyle/>
          <a:p>
            <a:pPr algn="ctr">
              <a:defRPr sz="800" b="1">
                <a:solidFill>
                  <a:srgbClr val="0284C7"/>
                </a:solidFill>
              </a:defRPr>
            </a:pPr>
            <a:r>
              <a:t>ENCADREMENT</a:t>
            </a:r>
          </a:p>
          <a:p>
            <a:pPr algn="ctr">
              <a:spcBef>
                <a:spcPts val="500"/>
              </a:spcBef>
              <a:defRPr sz="1350" b="1">
                <a:solidFill>
                  <a:srgbClr val="FFFFFF"/>
                </a:solidFill>
              </a:defRPr>
            </a:pPr>
            <a:r>
              <a:t>Mathieu KOEHL</a:t>
            </a:r>
          </a:p>
          <a:p>
            <a:pPr algn="ctr">
              <a:spcBef>
                <a:spcPts val="500"/>
              </a:spcBef>
              <a:defRPr sz="850">
                <a:solidFill>
                  <a:srgbClr val="8CAFDC"/>
                </a:solidFill>
              </a:defRPr>
            </a:pPr>
            <a:r>
              <a:t>Directeur du PFE</a:t>
            </a:r>
            <a:br/>
            <a:r>
              <a:t>Enseignant-chercheur INSA</a:t>
            </a:r>
            <a:br/>
            <a:r>
              <a:t>Laboratoire ICube (TRIO)</a:t>
            </a:r>
          </a:p>
        </p:txBody>
      </p:sp>
      <p:sp>
        <p:nvSpPr>
          <p:cNvPr id="11" name="TextBox 10"/>
          <p:cNvSpPr txBox="1"/>
          <p:nvPr/>
        </p:nvSpPr>
        <p:spPr>
          <a:xfrm>
            <a:off x="7985455" y="3840480"/>
            <a:ext cx="3291840" cy="2560320"/>
          </a:xfrm>
          <a:prstGeom prst="rect">
            <a:avLst/>
          </a:prstGeom>
          <a:noFill/>
        </p:spPr>
        <p:txBody>
          <a:bodyPr wrap="square" lIns="0" tIns="0" rIns="0" bIns="0">
            <a:spAutoFit/>
          </a:bodyPr>
          <a:lstStyle/>
          <a:p>
            <a:pPr algn="ctr">
              <a:defRPr sz="800" b="1">
                <a:solidFill>
                  <a:srgbClr val="0284C7"/>
                </a:solidFill>
              </a:defRPr>
            </a:pPr>
            <a:r>
              <a:t>ENTREPRISE D'ACCUEIL</a:t>
            </a:r>
          </a:p>
          <a:p>
            <a:pPr algn="ctr">
              <a:spcBef>
                <a:spcPts val="500"/>
              </a:spcBef>
              <a:defRPr sz="1350" b="1">
                <a:solidFill>
                  <a:srgbClr val="FFFFFF"/>
                </a:solidFill>
              </a:defRPr>
            </a:pPr>
            <a:r>
              <a:t>Cabinet GEO-SIAPP</a:t>
            </a:r>
          </a:p>
          <a:p>
            <a:pPr algn="ctr">
              <a:spcBef>
                <a:spcPts val="500"/>
              </a:spcBef>
              <a:defRPr sz="850">
                <a:solidFill>
                  <a:srgbClr val="8CAFDC"/>
                </a:solidFill>
              </a:defRPr>
            </a:pPr>
            <a:r>
              <a:t>Tuteur : Gaëtan HAGUE</a:t>
            </a:r>
            <a:br/>
            <a:r>
              <a:t>Géomètre-Expert Associé</a:t>
            </a:r>
            <a:br/>
            <a:r>
              <a:t>Aubenas (Ardèche)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sp>
        <p:nvSpPr>
          <p:cNvPr id="2" name="TextBox 1"/>
          <p:cNvSpPr txBox="1"/>
          <p:nvPr/>
        </p:nvSpPr>
        <p:spPr>
          <a:xfrm>
            <a:off x="914400" y="274320"/>
            <a:ext cx="10362895" cy="548640"/>
          </a:xfrm>
          <a:prstGeom prst="rect">
            <a:avLst/>
          </a:prstGeom>
          <a:noFill/>
        </p:spPr>
        <p:txBody>
          <a:bodyPr wrap="square" lIns="0" tIns="0" rIns="0" bIns="0">
            <a:spAutoFit/>
          </a:bodyPr>
          <a:lstStyle/>
          <a:p>
            <a:pPr algn="ctr">
              <a:defRPr sz="1100" b="1">
                <a:solidFill>
                  <a:srgbClr val="82BEF0"/>
                </a:solidFill>
              </a:defRPr>
            </a:pPr>
            <a:r>
              <a:t>PLAN DE LA PRÉSENTATION</a:t>
            </a:r>
          </a:p>
        </p:txBody>
      </p:sp>
      <p:sp>
        <p:nvSpPr>
          <p:cNvPr id="3" name="TextBox 2"/>
          <p:cNvSpPr txBox="1"/>
          <p:nvPr/>
        </p:nvSpPr>
        <p:spPr>
          <a:xfrm>
            <a:off x="914400" y="502920"/>
            <a:ext cx="10362895" cy="548640"/>
          </a:xfrm>
          <a:prstGeom prst="rect">
            <a:avLst/>
          </a:prstGeom>
          <a:noFill/>
        </p:spPr>
        <p:txBody>
          <a:bodyPr wrap="square" lIns="0" tIns="0" rIns="0" bIns="0">
            <a:spAutoFit/>
          </a:bodyPr>
          <a:lstStyle/>
          <a:p>
            <a:pPr algn="ctr">
              <a:defRPr sz="2600" b="1">
                <a:solidFill>
                  <a:srgbClr val="FFFFFF"/>
                </a:solidFill>
              </a:defRPr>
            </a:pPr>
            <a:r>
              <a:t>Sommaire</a:t>
            </a:r>
          </a:p>
        </p:txBody>
      </p:sp>
      <p:sp>
        <p:nvSpPr>
          <p:cNvPr id="4" name="Rounded Rectangle 3"/>
          <p:cNvSpPr/>
          <p:nvPr/>
        </p:nvSpPr>
        <p:spPr>
          <a:xfrm>
            <a:off x="627735" y="1170432"/>
            <a:ext cx="2651760" cy="2011680"/>
          </a:xfrm>
          <a:prstGeom prst="roundRect">
            <a:avLst/>
          </a:prstGeom>
          <a:solidFill>
            <a:srgbClr val="0F2546"/>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5751" y="1298448"/>
            <a:ext cx="457200" cy="402336"/>
          </a:xfrm>
          <a:prstGeom prst="rect">
            <a:avLst/>
          </a:prstGeom>
          <a:noFill/>
        </p:spPr>
        <p:txBody>
          <a:bodyPr wrap="none" lIns="0" tIns="0" rIns="0" bIns="0">
            <a:spAutoFit/>
          </a:bodyPr>
          <a:lstStyle/>
          <a:p>
            <a:pPr>
              <a:defRPr sz="2200" b="1">
                <a:solidFill>
                  <a:srgbClr val="FFFFFF"/>
                </a:solidFill>
              </a:defRPr>
            </a:pPr>
            <a:r>
              <a:t>1</a:t>
            </a:r>
          </a:p>
        </p:txBody>
      </p:sp>
      <p:sp>
        <p:nvSpPr>
          <p:cNvPr id="6" name="TextBox 5"/>
          <p:cNvSpPr txBox="1"/>
          <p:nvPr/>
        </p:nvSpPr>
        <p:spPr>
          <a:xfrm>
            <a:off x="755751" y="1773936"/>
            <a:ext cx="2395728" cy="1188720"/>
          </a:xfrm>
          <a:prstGeom prst="rect">
            <a:avLst/>
          </a:prstGeom>
          <a:noFill/>
        </p:spPr>
        <p:txBody>
          <a:bodyPr wrap="square" lIns="0" tIns="0" rIns="0" bIns="0">
            <a:spAutoFit/>
          </a:bodyPr>
          <a:lstStyle/>
          <a:p>
            <a:pPr>
              <a:defRPr sz="1150" b="1">
                <a:solidFill>
                  <a:srgbClr val="FFFFFF"/>
                </a:solidFill>
              </a:defRPr>
            </a:pPr>
            <a:r>
              <a:t>Introduction</a:t>
            </a:r>
            <a:br/>
            <a:r>
              <a:t>&amp; Contexte</a:t>
            </a:r>
          </a:p>
        </p:txBody>
      </p:sp>
      <p:sp>
        <p:nvSpPr>
          <p:cNvPr id="7" name="Rounded Rectangle 6"/>
          <p:cNvSpPr/>
          <p:nvPr/>
        </p:nvSpPr>
        <p:spPr>
          <a:xfrm>
            <a:off x="3389223" y="1170432"/>
            <a:ext cx="2651760" cy="201168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17239" y="1298448"/>
            <a:ext cx="457200" cy="402336"/>
          </a:xfrm>
          <a:prstGeom prst="rect">
            <a:avLst/>
          </a:prstGeom>
          <a:noFill/>
        </p:spPr>
        <p:txBody>
          <a:bodyPr wrap="none" lIns="0" tIns="0" rIns="0" bIns="0">
            <a:spAutoFit/>
          </a:bodyPr>
          <a:lstStyle/>
          <a:p>
            <a:pPr>
              <a:defRPr sz="2200" b="1">
                <a:solidFill>
                  <a:srgbClr val="FFFFFF"/>
                </a:solidFill>
              </a:defRPr>
            </a:pPr>
            <a:r>
              <a:t>2</a:t>
            </a:r>
          </a:p>
        </p:txBody>
      </p:sp>
      <p:sp>
        <p:nvSpPr>
          <p:cNvPr id="9" name="TextBox 8"/>
          <p:cNvSpPr txBox="1"/>
          <p:nvPr/>
        </p:nvSpPr>
        <p:spPr>
          <a:xfrm>
            <a:off x="3517239" y="1773936"/>
            <a:ext cx="2395728" cy="1188720"/>
          </a:xfrm>
          <a:prstGeom prst="rect">
            <a:avLst/>
          </a:prstGeom>
          <a:noFill/>
        </p:spPr>
        <p:txBody>
          <a:bodyPr wrap="square" lIns="0" tIns="0" rIns="0" bIns="0">
            <a:spAutoFit/>
          </a:bodyPr>
          <a:lstStyle/>
          <a:p>
            <a:pPr>
              <a:defRPr sz="1150" b="1">
                <a:solidFill>
                  <a:srgbClr val="FFFFFF"/>
                </a:solidFill>
              </a:defRPr>
            </a:pPr>
            <a:r>
              <a:t>Analyse</a:t>
            </a:r>
            <a:br/>
            <a:r>
              <a:t>Métier &amp; Données</a:t>
            </a:r>
          </a:p>
        </p:txBody>
      </p:sp>
      <p:sp>
        <p:nvSpPr>
          <p:cNvPr id="10" name="Rounded Rectangle 9"/>
          <p:cNvSpPr/>
          <p:nvPr/>
        </p:nvSpPr>
        <p:spPr>
          <a:xfrm>
            <a:off x="6150711" y="1170432"/>
            <a:ext cx="2651760" cy="2011680"/>
          </a:xfrm>
          <a:prstGeom prst="round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8727" y="1298448"/>
            <a:ext cx="457200" cy="402336"/>
          </a:xfrm>
          <a:prstGeom prst="rect">
            <a:avLst/>
          </a:prstGeom>
          <a:noFill/>
        </p:spPr>
        <p:txBody>
          <a:bodyPr wrap="none" lIns="0" tIns="0" rIns="0" bIns="0">
            <a:spAutoFit/>
          </a:bodyPr>
          <a:lstStyle/>
          <a:p>
            <a:pPr>
              <a:defRPr sz="2200" b="1">
                <a:solidFill>
                  <a:srgbClr val="FFFFFF"/>
                </a:solidFill>
              </a:defRPr>
            </a:pPr>
            <a:r>
              <a:t>3</a:t>
            </a:r>
          </a:p>
        </p:txBody>
      </p:sp>
      <p:sp>
        <p:nvSpPr>
          <p:cNvPr id="12" name="TextBox 11"/>
          <p:cNvSpPr txBox="1"/>
          <p:nvPr/>
        </p:nvSpPr>
        <p:spPr>
          <a:xfrm>
            <a:off x="6278727" y="1773936"/>
            <a:ext cx="2395728" cy="1188720"/>
          </a:xfrm>
          <a:prstGeom prst="rect">
            <a:avLst/>
          </a:prstGeom>
          <a:noFill/>
        </p:spPr>
        <p:txBody>
          <a:bodyPr wrap="square" lIns="0" tIns="0" rIns="0" bIns="0">
            <a:spAutoFit/>
          </a:bodyPr>
          <a:lstStyle/>
          <a:p>
            <a:pPr>
              <a:defRPr sz="1150" b="1">
                <a:solidFill>
                  <a:srgbClr val="FFFFFF"/>
                </a:solidFill>
              </a:defRPr>
            </a:pPr>
            <a:r>
              <a:t>État</a:t>
            </a:r>
            <a:br/>
            <a:r>
              <a:t>de l'Art</a:t>
            </a:r>
          </a:p>
        </p:txBody>
      </p:sp>
      <p:sp>
        <p:nvSpPr>
          <p:cNvPr id="13" name="Rounded Rectangle 12"/>
          <p:cNvSpPr/>
          <p:nvPr/>
        </p:nvSpPr>
        <p:spPr>
          <a:xfrm>
            <a:off x="8912199" y="1170432"/>
            <a:ext cx="2651760" cy="2011680"/>
          </a:xfrm>
          <a:prstGeom prst="round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0215" y="1298448"/>
            <a:ext cx="457200" cy="402336"/>
          </a:xfrm>
          <a:prstGeom prst="rect">
            <a:avLst/>
          </a:prstGeom>
          <a:noFill/>
        </p:spPr>
        <p:txBody>
          <a:bodyPr wrap="none" lIns="0" tIns="0" rIns="0" bIns="0">
            <a:spAutoFit/>
          </a:bodyPr>
          <a:lstStyle/>
          <a:p>
            <a:pPr>
              <a:defRPr sz="2200" b="1">
                <a:solidFill>
                  <a:srgbClr val="FFFFFF"/>
                </a:solidFill>
              </a:defRPr>
            </a:pPr>
            <a:r>
              <a:t>4</a:t>
            </a:r>
          </a:p>
        </p:txBody>
      </p:sp>
      <p:sp>
        <p:nvSpPr>
          <p:cNvPr id="15" name="TextBox 14"/>
          <p:cNvSpPr txBox="1"/>
          <p:nvPr/>
        </p:nvSpPr>
        <p:spPr>
          <a:xfrm>
            <a:off x="9040215" y="1773936"/>
            <a:ext cx="2395728" cy="1188720"/>
          </a:xfrm>
          <a:prstGeom prst="rect">
            <a:avLst/>
          </a:prstGeom>
          <a:noFill/>
        </p:spPr>
        <p:txBody>
          <a:bodyPr wrap="square" lIns="0" tIns="0" rIns="0" bIns="0">
            <a:spAutoFit/>
          </a:bodyPr>
          <a:lstStyle/>
          <a:p>
            <a:pPr>
              <a:defRPr sz="1150" b="1">
                <a:solidFill>
                  <a:srgbClr val="FFFFFF"/>
                </a:solidFill>
              </a:defRPr>
            </a:pPr>
            <a:r>
              <a:t>Architecture</a:t>
            </a:r>
            <a:br/>
            <a:r>
              <a:t>&amp; Pipeline</a:t>
            </a:r>
          </a:p>
        </p:txBody>
      </p:sp>
      <p:sp>
        <p:nvSpPr>
          <p:cNvPr id="16" name="Rounded Rectangle 15"/>
          <p:cNvSpPr/>
          <p:nvPr/>
        </p:nvSpPr>
        <p:spPr>
          <a:xfrm>
            <a:off x="627735" y="3346704"/>
            <a:ext cx="2651760" cy="2011680"/>
          </a:xfrm>
          <a:prstGeom prst="round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5751" y="3474720"/>
            <a:ext cx="457200" cy="402336"/>
          </a:xfrm>
          <a:prstGeom prst="rect">
            <a:avLst/>
          </a:prstGeom>
          <a:noFill/>
        </p:spPr>
        <p:txBody>
          <a:bodyPr wrap="none" lIns="0" tIns="0" rIns="0" bIns="0">
            <a:spAutoFit/>
          </a:bodyPr>
          <a:lstStyle/>
          <a:p>
            <a:pPr>
              <a:defRPr sz="2200" b="1">
                <a:solidFill>
                  <a:srgbClr val="FFFFFF"/>
                </a:solidFill>
              </a:defRPr>
            </a:pPr>
            <a:r>
              <a:t>5</a:t>
            </a:r>
          </a:p>
        </p:txBody>
      </p:sp>
      <p:sp>
        <p:nvSpPr>
          <p:cNvPr id="18" name="TextBox 17"/>
          <p:cNvSpPr txBox="1"/>
          <p:nvPr/>
        </p:nvSpPr>
        <p:spPr>
          <a:xfrm>
            <a:off x="755751" y="3950208"/>
            <a:ext cx="2395728" cy="1188720"/>
          </a:xfrm>
          <a:prstGeom prst="rect">
            <a:avLst/>
          </a:prstGeom>
          <a:noFill/>
        </p:spPr>
        <p:txBody>
          <a:bodyPr wrap="square" lIns="0" tIns="0" rIns="0" bIns="0">
            <a:spAutoFit/>
          </a:bodyPr>
          <a:lstStyle/>
          <a:p>
            <a:pPr>
              <a:defRPr sz="1150" b="1">
                <a:solidFill>
                  <a:srgbClr val="FFFFFF"/>
                </a:solidFill>
              </a:defRPr>
            </a:pPr>
            <a:r>
              <a:t>Validation</a:t>
            </a:r>
            <a:br/>
            <a:r>
              <a:t>&amp; Résultats</a:t>
            </a:r>
          </a:p>
        </p:txBody>
      </p:sp>
      <p:sp>
        <p:nvSpPr>
          <p:cNvPr id="19" name="Rounded Rectangle 18"/>
          <p:cNvSpPr/>
          <p:nvPr/>
        </p:nvSpPr>
        <p:spPr>
          <a:xfrm>
            <a:off x="3389223" y="3346704"/>
            <a:ext cx="2651760" cy="201168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7239" y="3474720"/>
            <a:ext cx="457200" cy="402336"/>
          </a:xfrm>
          <a:prstGeom prst="rect">
            <a:avLst/>
          </a:prstGeom>
          <a:noFill/>
        </p:spPr>
        <p:txBody>
          <a:bodyPr wrap="none" lIns="0" tIns="0" rIns="0" bIns="0">
            <a:spAutoFit/>
          </a:bodyPr>
          <a:lstStyle/>
          <a:p>
            <a:pPr>
              <a:defRPr sz="2200" b="1">
                <a:solidFill>
                  <a:srgbClr val="FFFFFF"/>
                </a:solidFill>
              </a:defRPr>
            </a:pPr>
            <a:r>
              <a:t>6</a:t>
            </a:r>
          </a:p>
        </p:txBody>
      </p:sp>
      <p:sp>
        <p:nvSpPr>
          <p:cNvPr id="21" name="TextBox 20"/>
          <p:cNvSpPr txBox="1"/>
          <p:nvPr/>
        </p:nvSpPr>
        <p:spPr>
          <a:xfrm>
            <a:off x="3517239" y="3950208"/>
            <a:ext cx="2395728" cy="1188720"/>
          </a:xfrm>
          <a:prstGeom prst="rect">
            <a:avLst/>
          </a:prstGeom>
          <a:noFill/>
        </p:spPr>
        <p:txBody>
          <a:bodyPr wrap="square" lIns="0" tIns="0" rIns="0" bIns="0">
            <a:spAutoFit/>
          </a:bodyPr>
          <a:lstStyle/>
          <a:p>
            <a:pPr>
              <a:defRPr sz="1150" b="1">
                <a:solidFill>
                  <a:srgbClr val="FFFFFF"/>
                </a:solidFill>
              </a:defRPr>
            </a:pPr>
            <a:r>
              <a:t>Intégration</a:t>
            </a:r>
            <a:br/>
            <a:r>
              <a:t>Géofoncier</a:t>
            </a:r>
          </a:p>
        </p:txBody>
      </p:sp>
      <p:sp>
        <p:nvSpPr>
          <p:cNvPr id="22" name="Rounded Rectangle 21"/>
          <p:cNvSpPr/>
          <p:nvPr/>
        </p:nvSpPr>
        <p:spPr>
          <a:xfrm>
            <a:off x="6150711" y="3346704"/>
            <a:ext cx="2651760" cy="201168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8727" y="3474720"/>
            <a:ext cx="457200" cy="402336"/>
          </a:xfrm>
          <a:prstGeom prst="rect">
            <a:avLst/>
          </a:prstGeom>
          <a:noFill/>
        </p:spPr>
        <p:txBody>
          <a:bodyPr wrap="none" lIns="0" tIns="0" rIns="0" bIns="0">
            <a:spAutoFit/>
          </a:bodyPr>
          <a:lstStyle/>
          <a:p>
            <a:pPr>
              <a:defRPr sz="2200" b="1">
                <a:solidFill>
                  <a:srgbClr val="FFFFFF"/>
                </a:solidFill>
              </a:defRPr>
            </a:pPr>
            <a:r>
              <a:t>7</a:t>
            </a:r>
          </a:p>
        </p:txBody>
      </p:sp>
      <p:sp>
        <p:nvSpPr>
          <p:cNvPr id="24" name="TextBox 23"/>
          <p:cNvSpPr txBox="1"/>
          <p:nvPr/>
        </p:nvSpPr>
        <p:spPr>
          <a:xfrm>
            <a:off x="6278727" y="3950208"/>
            <a:ext cx="2395728" cy="1188720"/>
          </a:xfrm>
          <a:prstGeom prst="rect">
            <a:avLst/>
          </a:prstGeom>
          <a:noFill/>
        </p:spPr>
        <p:txBody>
          <a:bodyPr wrap="square" lIns="0" tIns="0" rIns="0" bIns="0">
            <a:spAutoFit/>
          </a:bodyPr>
          <a:lstStyle/>
          <a:p>
            <a:pPr>
              <a:defRPr sz="1150" b="1">
                <a:solidFill>
                  <a:srgbClr val="FFFFFF"/>
                </a:solidFill>
              </a:defRPr>
            </a:pPr>
            <a:r>
              <a:t>Limites</a:t>
            </a:r>
            <a:br/>
            <a:r>
              <a:t>&amp; Perspectives</a:t>
            </a:r>
          </a:p>
        </p:txBody>
      </p:sp>
      <p:sp>
        <p:nvSpPr>
          <p:cNvPr id="25" name="Rounded Rectangle 24"/>
          <p:cNvSpPr/>
          <p:nvPr/>
        </p:nvSpPr>
        <p:spPr>
          <a:xfrm>
            <a:off x="8912199" y="3346704"/>
            <a:ext cx="2651760" cy="2011680"/>
          </a:xfrm>
          <a:prstGeom prst="roundRect">
            <a:avLst/>
          </a:prstGeom>
          <a:solidFill>
            <a:srgbClr val="0F2546"/>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40215" y="3474720"/>
            <a:ext cx="457200" cy="402336"/>
          </a:xfrm>
          <a:prstGeom prst="rect">
            <a:avLst/>
          </a:prstGeom>
          <a:noFill/>
        </p:spPr>
        <p:txBody>
          <a:bodyPr wrap="none" lIns="0" tIns="0" rIns="0" bIns="0">
            <a:spAutoFit/>
          </a:bodyPr>
          <a:lstStyle/>
          <a:p>
            <a:pPr>
              <a:defRPr sz="2200" b="1">
                <a:solidFill>
                  <a:srgbClr val="FFFFFF"/>
                </a:solidFill>
              </a:defRPr>
            </a:pPr>
            <a:r>
              <a:t>8</a:t>
            </a:r>
          </a:p>
        </p:txBody>
      </p:sp>
      <p:sp>
        <p:nvSpPr>
          <p:cNvPr id="27" name="TextBox 26"/>
          <p:cNvSpPr txBox="1"/>
          <p:nvPr/>
        </p:nvSpPr>
        <p:spPr>
          <a:xfrm>
            <a:off x="9040215" y="3950208"/>
            <a:ext cx="2395728" cy="1188720"/>
          </a:xfrm>
          <a:prstGeom prst="rect">
            <a:avLst/>
          </a:prstGeom>
          <a:noFill/>
        </p:spPr>
        <p:txBody>
          <a:bodyPr wrap="square" lIns="0" tIns="0" rIns="0" bIns="0">
            <a:spAutoFit/>
          </a:bodyPr>
          <a:lstStyle/>
          <a:p>
            <a:pPr>
              <a:defRPr sz="1150" b="1">
                <a:solidFill>
                  <a:srgbClr val="FFFFFF"/>
                </a:solidFill>
              </a:defRPr>
            </a:pPr>
            <a: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lIns="0" tIns="0" rIns="0" bIns="0">
            <a:spAutoFit/>
          </a:bodyPr>
          <a:lstStyle/>
          <a:p>
            <a:pPr algn="ctr">
              <a:defRPr sz="2200" b="1">
                <a:solidFill>
                  <a:srgbClr val="FFFFFF"/>
                </a:solidFill>
              </a:defRPr>
            </a:pPr>
            <a:r>
              <a:t>Comment automatiser le traitement et le versement</a:t>
            </a:r>
          </a:p>
          <a:p>
            <a:pPr algn="ctr">
              <a:spcBef>
                <a:spcPts val="400"/>
              </a:spcBef>
              <a:defRPr sz="2200" b="1">
                <a:solidFill>
                  <a:srgbClr val="0284C7"/>
                </a:solidFill>
              </a:defRPr>
            </a:pPr>
            <a:r>
              <a:t>de 50 ans d'archives foncières manuscrites sur Géofoncier ?</a:t>
            </a:r>
          </a:p>
        </p:txBody>
      </p:sp>
      <p:sp>
        <p:nvSpPr>
          <p:cNvPr id="3" name="Rectangle 2"/>
          <p:cNvSpPr/>
          <p:nvPr/>
        </p:nvSpPr>
        <p:spPr>
          <a:xfrm>
            <a:off x="4114800" y="1645920"/>
            <a:ext cx="3962095"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6879" y="1920240"/>
            <a:ext cx="3474720" cy="3291840"/>
          </a:xfrm>
          <a:prstGeom prst="roundRect">
            <a:avLst/>
          </a:prstGeom>
          <a:solidFill>
            <a:srgbClr val="19325A"/>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4039" y="1993392"/>
            <a:ext cx="457200" cy="457200"/>
          </a:xfrm>
          <a:prstGeom prst="rect">
            <a:avLst/>
          </a:prstGeom>
          <a:noFill/>
        </p:spPr>
        <p:txBody>
          <a:bodyPr wrap="none" lIns="0" tIns="0" rIns="0" bIns="0">
            <a:spAutoFit/>
          </a:bodyPr>
          <a:lstStyle/>
          <a:p>
            <a:pPr>
              <a:defRPr sz="2600" b="1">
                <a:solidFill>
                  <a:srgbClr val="0284C7"/>
                </a:solidFill>
              </a:defRPr>
            </a:pPr>
            <a:r>
              <a:t>1</a:t>
            </a:r>
          </a:p>
        </p:txBody>
      </p:sp>
      <p:sp>
        <p:nvSpPr>
          <p:cNvPr id="6" name="TextBox 5"/>
          <p:cNvSpPr txBox="1"/>
          <p:nvPr/>
        </p:nvSpPr>
        <p:spPr>
          <a:xfrm>
            <a:off x="774039" y="2487168"/>
            <a:ext cx="3200400" cy="402336"/>
          </a:xfrm>
          <a:prstGeom prst="rect">
            <a:avLst/>
          </a:prstGeom>
          <a:noFill/>
        </p:spPr>
        <p:txBody>
          <a:bodyPr wrap="square" lIns="0" tIns="0" rIns="0" bIns="0">
            <a:spAutoFit/>
          </a:bodyPr>
          <a:lstStyle/>
          <a:p>
            <a:pPr>
              <a:defRPr sz="1350" b="1">
                <a:solidFill>
                  <a:srgbClr val="FFFFFF"/>
                </a:solidFill>
              </a:defRPr>
            </a:pPr>
            <a:r>
              <a:t>Registres illisibles</a:t>
            </a:r>
          </a:p>
        </p:txBody>
      </p:sp>
      <p:sp>
        <p:nvSpPr>
          <p:cNvPr id="7" name="TextBox 6"/>
          <p:cNvSpPr txBox="1"/>
          <p:nvPr/>
        </p:nvSpPr>
        <p:spPr>
          <a:xfrm>
            <a:off x="774039" y="2944368"/>
            <a:ext cx="3200400" cy="1645920"/>
          </a:xfrm>
          <a:prstGeom prst="rect">
            <a:avLst/>
          </a:prstGeom>
          <a:noFill/>
        </p:spPr>
        <p:txBody>
          <a:bodyPr wrap="square" lIns="0" tIns="0" rIns="0" bIns="0">
            <a:spAutoFit/>
          </a:bodyPr>
          <a:lstStyle/>
          <a:p>
            <a:pPr>
              <a:defRPr sz="1050">
                <a:solidFill>
                  <a:srgbClr val="BED2F0"/>
                </a:solidFill>
              </a:defRPr>
            </a:pPr>
            <a:r>
              <a:t>Les actes fonciers manuscrits cumulent abréviations, encre fanée et écriture cursive.</a:t>
            </a:r>
          </a:p>
        </p:txBody>
      </p:sp>
      <p:sp>
        <p:nvSpPr>
          <p:cNvPr id="8" name="Rounded Rectangle 7"/>
          <p:cNvSpPr/>
          <p:nvPr/>
        </p:nvSpPr>
        <p:spPr>
          <a:xfrm>
            <a:off x="4358487" y="1920240"/>
            <a:ext cx="3474720" cy="3291840"/>
          </a:xfrm>
          <a:prstGeom prst="roundRect">
            <a:avLst/>
          </a:prstGeom>
          <a:solidFill>
            <a:srgbClr val="19325A"/>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5647" y="1993392"/>
            <a:ext cx="457200" cy="457200"/>
          </a:xfrm>
          <a:prstGeom prst="rect">
            <a:avLst/>
          </a:prstGeom>
          <a:noFill/>
        </p:spPr>
        <p:txBody>
          <a:bodyPr wrap="none" lIns="0" tIns="0" rIns="0" bIns="0">
            <a:spAutoFit/>
          </a:bodyPr>
          <a:lstStyle/>
          <a:p>
            <a:pPr>
              <a:defRPr sz="2600" b="1">
                <a:solidFill>
                  <a:srgbClr val="6D28D9"/>
                </a:solidFill>
              </a:defRPr>
            </a:pPr>
            <a:r>
              <a:t>2</a:t>
            </a:r>
          </a:p>
        </p:txBody>
      </p:sp>
      <p:sp>
        <p:nvSpPr>
          <p:cNvPr id="10" name="TextBox 9"/>
          <p:cNvSpPr txBox="1"/>
          <p:nvPr/>
        </p:nvSpPr>
        <p:spPr>
          <a:xfrm>
            <a:off x="4495647" y="2487168"/>
            <a:ext cx="3200400" cy="402336"/>
          </a:xfrm>
          <a:prstGeom prst="rect">
            <a:avLst/>
          </a:prstGeom>
          <a:noFill/>
        </p:spPr>
        <p:txBody>
          <a:bodyPr wrap="square" lIns="0" tIns="0" rIns="0" bIns="0">
            <a:spAutoFit/>
          </a:bodyPr>
          <a:lstStyle/>
          <a:p>
            <a:pPr>
              <a:defRPr sz="1350" b="1">
                <a:solidFill>
                  <a:srgbClr val="FFFFFF"/>
                </a:solidFill>
              </a:defRPr>
            </a:pPr>
            <a:r>
              <a:t>Communes inconnues</a:t>
            </a:r>
          </a:p>
        </p:txBody>
      </p:sp>
      <p:sp>
        <p:nvSpPr>
          <p:cNvPr id="11" name="TextBox 10"/>
          <p:cNvSpPr txBox="1"/>
          <p:nvPr/>
        </p:nvSpPr>
        <p:spPr>
          <a:xfrm>
            <a:off x="4495647" y="2944368"/>
            <a:ext cx="3200400" cy="1645920"/>
          </a:xfrm>
          <a:prstGeom prst="rect">
            <a:avLst/>
          </a:prstGeom>
          <a:noFill/>
        </p:spPr>
        <p:txBody>
          <a:bodyPr wrap="square" lIns="0" tIns="0" rIns="0" bIns="0">
            <a:spAutoFit/>
          </a:bodyPr>
          <a:lstStyle/>
          <a:p>
            <a:pPr>
              <a:defRPr sz="1050">
                <a:solidFill>
                  <a:srgbClr val="BED2F0"/>
                </a:solidFill>
              </a:defRPr>
            </a:pPr>
            <a:r>
              <a:t>Des noms de communes abrégés (ex. La Chap./A.) sont incompréhensibles hors contexte ardéchois.</a:t>
            </a:r>
          </a:p>
        </p:txBody>
      </p:sp>
      <p:sp>
        <p:nvSpPr>
          <p:cNvPr id="12" name="Rounded Rectangle 11"/>
          <p:cNvSpPr/>
          <p:nvPr/>
        </p:nvSpPr>
        <p:spPr>
          <a:xfrm>
            <a:off x="8080095" y="1920240"/>
            <a:ext cx="3474720" cy="3291840"/>
          </a:xfrm>
          <a:prstGeom prst="roundRect">
            <a:avLst/>
          </a:prstGeom>
          <a:solidFill>
            <a:srgbClr val="19325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255" y="1993392"/>
            <a:ext cx="457200" cy="457200"/>
          </a:xfrm>
          <a:prstGeom prst="rect">
            <a:avLst/>
          </a:prstGeom>
          <a:noFill/>
        </p:spPr>
        <p:txBody>
          <a:bodyPr wrap="none" lIns="0" tIns="0" rIns="0" bIns="0">
            <a:spAutoFit/>
          </a:bodyPr>
          <a:lstStyle/>
          <a:p>
            <a:pPr>
              <a:defRPr sz="2600" b="1">
                <a:solidFill>
                  <a:srgbClr val="16A34A"/>
                </a:solidFill>
              </a:defRPr>
            </a:pPr>
            <a:r>
              <a:t>3</a:t>
            </a:r>
          </a:p>
        </p:txBody>
      </p:sp>
      <p:sp>
        <p:nvSpPr>
          <p:cNvPr id="14" name="TextBox 13"/>
          <p:cNvSpPr txBox="1"/>
          <p:nvPr/>
        </p:nvSpPr>
        <p:spPr>
          <a:xfrm>
            <a:off x="8217255" y="2487168"/>
            <a:ext cx="3200400" cy="402336"/>
          </a:xfrm>
          <a:prstGeom prst="rect">
            <a:avLst/>
          </a:prstGeom>
          <a:noFill/>
        </p:spPr>
        <p:txBody>
          <a:bodyPr wrap="square" lIns="0" tIns="0" rIns="0" bIns="0">
            <a:spAutoFit/>
          </a:bodyPr>
          <a:lstStyle/>
          <a:p>
            <a:pPr>
              <a:defRPr sz="1350" b="1">
                <a:solidFill>
                  <a:srgbClr val="FFFFFF"/>
                </a:solidFill>
              </a:defRPr>
            </a:pPr>
            <a:r>
              <a:t>Versement 100% manuel</a:t>
            </a:r>
          </a:p>
        </p:txBody>
      </p:sp>
      <p:sp>
        <p:nvSpPr>
          <p:cNvPr id="15" name="TextBox 14"/>
          <p:cNvSpPr txBox="1"/>
          <p:nvPr/>
        </p:nvSpPr>
        <p:spPr>
          <a:xfrm>
            <a:off x="8217255" y="2944368"/>
            <a:ext cx="3200400" cy="1645920"/>
          </a:xfrm>
          <a:prstGeom prst="rect">
            <a:avLst/>
          </a:prstGeom>
          <a:noFill/>
        </p:spPr>
        <p:txBody>
          <a:bodyPr wrap="square" lIns="0" tIns="0" rIns="0" bIns="0">
            <a:spAutoFit/>
          </a:bodyPr>
          <a:lstStyle/>
          <a:p>
            <a:pPr>
              <a:defRPr sz="1050">
                <a:solidFill>
                  <a:srgbClr val="BED2F0"/>
                </a:solidFill>
              </a:defRPr>
            </a:pPr>
            <a:r>
              <a:t>Chaque dossier nécessite 15 à 30 min de recherche et une saisie manuelle sur Géofoncier.</a:t>
            </a:r>
          </a:p>
        </p:txBody>
      </p:sp>
      <p:sp>
        <p:nvSpPr>
          <p:cNvPr id="16" name="Rounded Rectangle 15"/>
          <p:cNvSpPr/>
          <p:nvPr/>
        </p:nvSpPr>
        <p:spPr>
          <a:xfrm>
            <a:off x="1097280" y="5394960"/>
            <a:ext cx="9997135" cy="73152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tIns="146304" lIns="182880"/>
          <a:lstStyle/>
          <a:p>
            <a:pPr algn="ctr">
              <a:defRPr sz="1050" b="1">
                <a:solidFill>
                  <a:srgbClr val="FFFFFF"/>
                </a:solidFill>
              </a:defRPr>
            </a:pPr>
            <a:r>
              <a:t>Réponse : un pipeline IA local — OCR, NER, VLM et API REST — sans données en cloud, entièrement déployable au cabinet.</a:t>
            </a: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F2546"/>
                </a:solidFill>
              </a:defRPr>
            </a:pPr>
            <a:r>
              <a:t>CHAPITRE 1</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Introduction &amp; Contexte</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Structure d'accueil, cadre légal et besoins du cabinet GEO-SIAPP</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4 /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0F2546"/>
          </a:solidFill>
          <a:ln w="19050">
            <a:solidFill>
              <a:srgbClr val="0F25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3844442"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1.1 Structure d'accueil</a:t>
            </a:r>
          </a:p>
        </p:txBody>
      </p:sp>
      <p:sp>
        <p:nvSpPr>
          <p:cNvPr id="11" name="Rectangle 10"/>
          <p:cNvSpPr/>
          <p:nvPr/>
        </p:nvSpPr>
        <p:spPr>
          <a:xfrm>
            <a:off x="4173626"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1.2 Cadre légal</a:t>
            </a:r>
          </a:p>
        </p:txBody>
      </p:sp>
      <p:sp>
        <p:nvSpPr>
          <p:cNvPr id="12" name="Rectangle 11"/>
          <p:cNvSpPr/>
          <p:nvPr/>
        </p:nvSpPr>
        <p:spPr>
          <a:xfrm>
            <a:off x="8072932"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1.3 Contexte &amp; Besoins</a:t>
            </a:r>
          </a:p>
        </p:txBody>
      </p:sp>
      <p:sp>
        <p:nvSpPr>
          <p:cNvPr id="13" name="TextBox 12"/>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1 — INTRODUCTION</a:t>
            </a:r>
          </a:p>
        </p:txBody>
      </p:sp>
      <p:sp>
        <p:nvSpPr>
          <p:cNvPr id="14" name="TextBox 13"/>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Le Cabinet GEO-SIAPP : une structure ardéchoise aux archives étendues</a:t>
            </a:r>
          </a:p>
        </p:txBody>
      </p:sp>
      <p:sp>
        <p:nvSpPr>
          <p:cNvPr id="15" name="Rectangle 14"/>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5 / 35</a:t>
            </a:r>
          </a:p>
        </p:txBody>
      </p:sp>
      <p:sp>
        <p:nvSpPr>
          <p:cNvPr id="17" name="Rounded Rectangle 16"/>
          <p:cNvSpPr/>
          <p:nvPr/>
        </p:nvSpPr>
        <p:spPr>
          <a:xfrm>
            <a:off x="274320" y="1591056"/>
            <a:ext cx="548640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463040"/>
          <a:lstStyle/>
          <a:p>
            <a:pPr algn="ctr">
              <a:defRPr sz="1000" b="1">
                <a:solidFill>
                  <a:srgbClr val="FFFFFF"/>
                </a:solidFill>
              </a:defRPr>
            </a:pPr>
            <a:r>
              <a:t>Profil du cabinet</a:t>
            </a:r>
          </a:p>
        </p:txBody>
      </p:sp>
      <p:sp>
        <p:nvSpPr>
          <p:cNvPr id="19" name="Rectangle 18"/>
          <p:cNvSpPr/>
          <p:nvPr/>
        </p:nvSpPr>
        <p:spPr>
          <a:xfrm>
            <a:off x="4389120" y="1636776"/>
            <a:ext cx="12801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DEPUIS 1992</a:t>
            </a:r>
          </a:p>
        </p:txBody>
      </p:sp>
      <p:sp>
        <p:nvSpPr>
          <p:cNvPr id="20" name="TextBox 19"/>
          <p:cNvSpPr txBox="1"/>
          <p:nvPr/>
        </p:nvSpPr>
        <p:spPr>
          <a:xfrm>
            <a:off x="384048" y="1956816"/>
            <a:ext cx="5266944" cy="1682496"/>
          </a:xfrm>
          <a:prstGeom prst="rect">
            <a:avLst/>
          </a:prstGeom>
          <a:noFill/>
        </p:spPr>
        <p:txBody>
          <a:bodyPr wrap="square" lIns="0" tIns="0" rIns="0" bIns="0">
            <a:spAutoFit/>
          </a:bodyPr>
          <a:lstStyle/>
          <a:p>
            <a:pPr>
              <a:defRPr sz="900" b="1">
                <a:solidFill>
                  <a:srgbClr val="0F172A"/>
                </a:solidFill>
              </a:defRPr>
            </a:pPr>
            <a:r>
              <a:t>•  Fondé en 1992, siège à Aubenas</a:t>
            </a:r>
          </a:p>
          <a:p>
            <a:pPr>
              <a:spcBef>
                <a:spcPts val="100"/>
              </a:spcBef>
              <a:defRPr sz="800">
                <a:solidFill>
                  <a:srgbClr val="334155"/>
                </a:solidFill>
              </a:defRPr>
            </a:pPr>
            <a:r>
              <a:t>   Société de géomètres-experts couvrant l'Ardèche et la Drôme via 4 agences.</a:t>
            </a:r>
          </a:p>
          <a:p>
            <a:pPr>
              <a:spcBef>
                <a:spcPts val="300"/>
              </a:spcBef>
              <a:defRPr sz="900" b="1">
                <a:solidFill>
                  <a:srgbClr val="0F172A"/>
                </a:solidFill>
              </a:defRPr>
            </a:pPr>
            <a:r>
              <a:t>•  4 agences : Aubenas, Pierrelatte, Vallon-Pont-d'Arc, Guilherand-Granges</a:t>
            </a:r>
          </a:p>
          <a:p>
            <a:pPr>
              <a:spcBef>
                <a:spcPts val="100"/>
              </a:spcBef>
              <a:defRPr sz="800">
                <a:solidFill>
                  <a:srgbClr val="334155"/>
                </a:solidFill>
              </a:defRPr>
            </a:pPr>
            <a:r>
              <a:t>   Territoire rural étendu imposant une forte proximité avec les propriétaires.</a:t>
            </a:r>
          </a:p>
          <a:p>
            <a:pPr>
              <a:spcBef>
                <a:spcPts val="300"/>
              </a:spcBef>
              <a:defRPr sz="900" b="1">
                <a:solidFill>
                  <a:srgbClr val="0F172A"/>
                </a:solidFill>
              </a:defRPr>
            </a:pPr>
            <a:r>
              <a:t>•  Missions : foncier, urbanisme, ingénierie VRD, drone &amp; laser 3D</a:t>
            </a:r>
          </a:p>
          <a:p>
            <a:pPr>
              <a:spcBef>
                <a:spcPts val="100"/>
              </a:spcBef>
              <a:defRPr sz="800">
                <a:solidFill>
                  <a:srgbClr val="334155"/>
                </a:solidFill>
              </a:defRPr>
            </a:pPr>
            <a:r>
              <a:t>   Équipe pluridisciplinaire d'une quinzaine de collaborateurs dont plusieurs géomètres-experts.</a:t>
            </a:r>
          </a:p>
        </p:txBody>
      </p:sp>
      <p:sp>
        <p:nvSpPr>
          <p:cNvPr id="21" name="Rectangle 20"/>
          <p:cNvSpPr/>
          <p:nvPr/>
        </p:nvSpPr>
        <p:spPr>
          <a:xfrm>
            <a:off x="347472" y="365760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Mission confiée : 6 mois de stage — février à juillet 2026 (siège Aubenas)</a:t>
            </a:r>
          </a:p>
        </p:txBody>
      </p:sp>
      <p:sp>
        <p:nvSpPr>
          <p:cNvPr id="22" name="Rounded Rectangle 21"/>
          <p:cNvSpPr/>
          <p:nvPr/>
        </p:nvSpPr>
        <p:spPr>
          <a:xfrm>
            <a:off x="274320" y="4096512"/>
            <a:ext cx="5486400" cy="230428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096512"/>
            <a:ext cx="5486400"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828800"/>
          <a:lstStyle/>
          <a:p>
            <a:pPr algn="ctr">
              <a:defRPr sz="1000" b="1">
                <a:solidFill>
                  <a:srgbClr val="FFFFFF"/>
                </a:solidFill>
              </a:defRPr>
            </a:pPr>
            <a:r>
              <a:t>Le patrimoine d'archives</a:t>
            </a:r>
          </a:p>
        </p:txBody>
      </p:sp>
      <p:sp>
        <p:nvSpPr>
          <p:cNvPr id="24" name="Rectangle 23"/>
          <p:cNvSpPr/>
          <p:nvPr/>
        </p:nvSpPr>
        <p:spPr>
          <a:xfrm>
            <a:off x="4023360" y="4142232"/>
            <a:ext cx="16459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23 600 DOSSIERS</a:t>
            </a:r>
          </a:p>
        </p:txBody>
      </p:sp>
      <p:sp>
        <p:nvSpPr>
          <p:cNvPr id="25" name="TextBox 24"/>
          <p:cNvSpPr txBox="1"/>
          <p:nvPr/>
        </p:nvSpPr>
        <p:spPr>
          <a:xfrm>
            <a:off x="384048" y="4462272"/>
            <a:ext cx="5266944" cy="1609344"/>
          </a:xfrm>
          <a:prstGeom prst="rect">
            <a:avLst/>
          </a:prstGeom>
          <a:noFill/>
        </p:spPr>
        <p:txBody>
          <a:bodyPr wrap="square" lIns="0" tIns="0" rIns="0" bIns="0">
            <a:spAutoFit/>
          </a:bodyPr>
          <a:lstStyle/>
          <a:p>
            <a:pPr>
              <a:defRPr sz="900" b="1">
                <a:solidFill>
                  <a:srgbClr val="0F172A"/>
                </a:solidFill>
              </a:defRPr>
            </a:pPr>
            <a:r>
              <a:t>•  Rachats successifs d'études locales</a:t>
            </a:r>
          </a:p>
          <a:p>
            <a:pPr>
              <a:spcBef>
                <a:spcPts val="100"/>
              </a:spcBef>
              <a:defRPr sz="800">
                <a:solidFill>
                  <a:srgbClr val="334155"/>
                </a:solidFill>
              </a:defRPr>
            </a:pPr>
            <a:r>
              <a:t>   Chaque acquisition intègre les collaborateurs et l'intégralité des fonds d'archives physiques.</a:t>
            </a:r>
          </a:p>
          <a:p>
            <a:pPr>
              <a:spcBef>
                <a:spcPts val="300"/>
              </a:spcBef>
              <a:defRPr sz="900" b="1">
                <a:solidFill>
                  <a:srgbClr val="0F172A"/>
                </a:solidFill>
              </a:defRPr>
            </a:pPr>
            <a:r>
              <a:t>•  Fonds historique : 1959 à 2007</a:t>
            </a:r>
          </a:p>
          <a:p>
            <a:pPr>
              <a:spcBef>
                <a:spcPts val="100"/>
              </a:spcBef>
              <a:defRPr sz="800">
                <a:solidFill>
                  <a:srgbClr val="334155"/>
                </a:solidFill>
              </a:defRPr>
            </a:pPr>
            <a:r>
              <a:t>   Près de 23 600 dossiers à Aubenas, non numérisés, conservés en sous-sol.</a:t>
            </a:r>
          </a:p>
          <a:p>
            <a:pPr>
              <a:spcBef>
                <a:spcPts val="300"/>
              </a:spcBef>
              <a:defRPr sz="900" b="1">
                <a:solidFill>
                  <a:srgbClr val="0F172A"/>
                </a:solidFill>
              </a:defRPr>
            </a:pPr>
            <a:r>
              <a:t>•  Objectif du PFE</a:t>
            </a:r>
          </a:p>
          <a:p>
            <a:pPr>
              <a:spcBef>
                <a:spcPts val="100"/>
              </a:spcBef>
              <a:defRPr sz="800">
                <a:solidFill>
                  <a:srgbClr val="334155"/>
                </a:solidFill>
              </a:defRPr>
            </a:pPr>
            <a:r>
              <a:t>   Concevoir un outil automatisé pour extraire et verser ces dossiers sur Géofoncier.</a:t>
            </a:r>
          </a:p>
        </p:txBody>
      </p:sp>
      <p:sp>
        <p:nvSpPr>
          <p:cNvPr id="26" name="Rectangle 25"/>
          <p:cNvSpPr/>
          <p:nvPr/>
        </p:nvSpPr>
        <p:spPr>
          <a:xfrm>
            <a:off x="347472" y="6089904"/>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Enjeu : valoriser 50 ans d'histoire foncière encore dormante</a:t>
            </a:r>
          </a:p>
        </p:txBody>
      </p:sp>
      <p:sp>
        <p:nvSpPr>
          <p:cNvPr id="27" name="Rectangle 26"/>
          <p:cNvSpPr/>
          <p:nvPr/>
        </p:nvSpPr>
        <p:spPr>
          <a:xfrm>
            <a:off x="5943600" y="1591056"/>
            <a:ext cx="5973775"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16752" y="1627632"/>
            <a:ext cx="5827471" cy="256032"/>
          </a:xfrm>
          <a:prstGeom prst="rect">
            <a:avLst/>
          </a:prstGeom>
          <a:noFill/>
        </p:spPr>
        <p:txBody>
          <a:bodyPr wrap="square" tIns="0" bIns="0" lIns="0" rIns="0">
            <a:spAutoFit/>
          </a:bodyPr>
          <a:lstStyle/>
          <a:p>
            <a:pPr algn="ctr">
              <a:defRPr sz="800" b="1">
                <a:solidFill>
                  <a:srgbClr val="0F2546"/>
                </a:solidFill>
              </a:defRPr>
            </a:pPr>
            <a:r>
              <a:t>PASTILLES D'INTERVENTION GÉOFONCIER — AUBENAS</a:t>
            </a:r>
          </a:p>
        </p:txBody>
      </p:sp>
      <p:pic>
        <p:nvPicPr>
          <p:cNvPr id="29" name="Picture 28" descr="Chap2_pastilles.jpg"/>
          <p:cNvPicPr>
            <a:picLocks noChangeAspect="1"/>
          </p:cNvPicPr>
          <p:nvPr/>
        </p:nvPicPr>
        <p:blipFill>
          <a:blip r:embed="rId2"/>
          <a:stretch>
            <a:fillRect/>
          </a:stretch>
        </p:blipFill>
        <p:spPr>
          <a:xfrm>
            <a:off x="6016752" y="2162306"/>
            <a:ext cx="5827471" cy="2533387"/>
          </a:xfrm>
          <a:prstGeom prst="rect">
            <a:avLst/>
          </a:prstGeom>
        </p:spPr>
      </p:pic>
      <p:sp>
        <p:nvSpPr>
          <p:cNvPr id="30" name="TextBox 29"/>
          <p:cNvSpPr txBox="1"/>
          <p:nvPr/>
        </p:nvSpPr>
        <p:spPr>
          <a:xfrm>
            <a:off x="6016752" y="5010912"/>
            <a:ext cx="5827471" cy="219456"/>
          </a:xfrm>
          <a:prstGeom prst="rect">
            <a:avLst/>
          </a:prstGeom>
          <a:noFill/>
        </p:spPr>
        <p:txBody>
          <a:bodyPr wrap="square" tIns="0" bIns="0" lIns="0" rIns="0">
            <a:spAutoFit/>
          </a:bodyPr>
          <a:lstStyle/>
          <a:p>
            <a:pPr algn="ctr">
              <a:defRPr sz="750">
                <a:solidFill>
                  <a:srgbClr val="475569"/>
                </a:solidFill>
              </a:defRPr>
            </a:pPr>
            <a:r>
              <a:t>Vue du registre de bornages sur le territoire du cabinet (source : GéofoncierEXPERT)</a:t>
            </a:r>
          </a:p>
        </p:txBody>
      </p:sp>
      <p:sp>
        <p:nvSpPr>
          <p:cNvPr id="31" name="Rectangle 30"/>
          <p:cNvSpPr/>
          <p:nvPr/>
        </p:nvSpPr>
        <p:spPr>
          <a:xfrm>
            <a:off x="5943600" y="5321808"/>
            <a:ext cx="1920240" cy="969264"/>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4 Agences</a:t>
            </a:r>
          </a:p>
          <a:p>
            <a:pPr algn="ctr">
              <a:spcBef>
                <a:spcPts val="200"/>
              </a:spcBef>
              <a:defRPr sz="700" b="1">
                <a:solidFill>
                  <a:srgbClr val="0F172A"/>
                </a:solidFill>
              </a:defRPr>
            </a:pPr>
            <a:r>
              <a:t>MAILLAGE</a:t>
            </a:r>
          </a:p>
          <a:p>
            <a:pPr algn="ctr">
              <a:spcBef>
                <a:spcPts val="100"/>
              </a:spcBef>
              <a:defRPr sz="650">
                <a:solidFill>
                  <a:srgbClr val="475569"/>
                </a:solidFill>
              </a:defRPr>
            </a:pPr>
            <a:r>
              <a:t>Ardèche / Drôme</a:t>
            </a:r>
          </a:p>
        </p:txBody>
      </p:sp>
      <p:sp>
        <p:nvSpPr>
          <p:cNvPr id="32" name="Rectangle 31"/>
          <p:cNvSpPr/>
          <p:nvPr/>
        </p:nvSpPr>
        <p:spPr>
          <a:xfrm>
            <a:off x="7973568" y="5321808"/>
            <a:ext cx="1920240" cy="969264"/>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23 600</a:t>
            </a:r>
          </a:p>
          <a:p>
            <a:pPr algn="ctr">
              <a:spcBef>
                <a:spcPts val="200"/>
              </a:spcBef>
              <a:defRPr sz="700" b="1">
                <a:solidFill>
                  <a:srgbClr val="0F172A"/>
                </a:solidFill>
              </a:defRPr>
            </a:pPr>
            <a:r>
              <a:t>DOSSIERS</a:t>
            </a:r>
          </a:p>
          <a:p>
            <a:pPr algn="ctr">
              <a:spcBef>
                <a:spcPts val="100"/>
              </a:spcBef>
              <a:defRPr sz="650">
                <a:solidFill>
                  <a:srgbClr val="475569"/>
                </a:solidFill>
              </a:defRPr>
            </a:pPr>
            <a:r>
              <a:t>Fonds non numérisés</a:t>
            </a:r>
          </a:p>
        </p:txBody>
      </p:sp>
      <p:sp>
        <p:nvSpPr>
          <p:cNvPr id="33" name="Rectangle 32"/>
          <p:cNvSpPr/>
          <p:nvPr/>
        </p:nvSpPr>
        <p:spPr>
          <a:xfrm>
            <a:off x="10003536" y="5321808"/>
            <a:ext cx="1911095" cy="969264"/>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1959–2007</a:t>
            </a:r>
          </a:p>
          <a:p>
            <a:pPr algn="ctr">
              <a:spcBef>
                <a:spcPts val="200"/>
              </a:spcBef>
              <a:defRPr sz="700" b="1">
                <a:solidFill>
                  <a:srgbClr val="0F172A"/>
                </a:solidFill>
              </a:defRPr>
            </a:pPr>
            <a:r>
              <a:t>PÉRIODE</a:t>
            </a:r>
          </a:p>
          <a:p>
            <a:pPr algn="ctr">
              <a:spcBef>
                <a:spcPts val="100"/>
              </a:spcBef>
              <a:defRPr sz="650">
                <a:solidFill>
                  <a:srgbClr val="475569"/>
                </a:solidFill>
              </a:defRPr>
            </a:pPr>
            <a:r>
              <a:t>48 ans d'archives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0F2546"/>
          </a:solidFill>
          <a:ln w="19050">
            <a:solidFill>
              <a:srgbClr val="0F25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1.1 Structure d'accueil</a:t>
            </a:r>
          </a:p>
        </p:txBody>
      </p:sp>
      <p:sp>
        <p:nvSpPr>
          <p:cNvPr id="11" name="Rectangle 10"/>
          <p:cNvSpPr/>
          <p:nvPr/>
        </p:nvSpPr>
        <p:spPr>
          <a:xfrm>
            <a:off x="4173626" y="457200"/>
            <a:ext cx="3844442"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1.2 Cadre légal</a:t>
            </a:r>
          </a:p>
        </p:txBody>
      </p:sp>
      <p:sp>
        <p:nvSpPr>
          <p:cNvPr id="12" name="Rectangle 11"/>
          <p:cNvSpPr/>
          <p:nvPr/>
        </p:nvSpPr>
        <p:spPr>
          <a:xfrm>
            <a:off x="8072932"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1.3 Contexte &amp; Besoins</a:t>
            </a:r>
          </a:p>
        </p:txBody>
      </p:sp>
      <p:sp>
        <p:nvSpPr>
          <p:cNvPr id="13" name="TextBox 12"/>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1 — INTRODUCTION</a:t>
            </a:r>
          </a:p>
        </p:txBody>
      </p:sp>
      <p:sp>
        <p:nvSpPr>
          <p:cNvPr id="14" name="TextBox 13"/>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Cadre légal et contexte opérationnel : pourquoi ce projet est urgent</a:t>
            </a:r>
          </a:p>
        </p:txBody>
      </p:sp>
      <p:sp>
        <p:nvSpPr>
          <p:cNvPr id="15" name="Rectangle 14"/>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6 / 35</a:t>
            </a:r>
          </a:p>
        </p:txBody>
      </p:sp>
      <p:sp>
        <p:nvSpPr>
          <p:cNvPr id="17" name="Rounded Rectangle 16"/>
          <p:cNvSpPr/>
          <p:nvPr/>
        </p:nvSpPr>
        <p:spPr>
          <a:xfrm>
            <a:off x="274320" y="1591056"/>
            <a:ext cx="539496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188720"/>
          <a:lstStyle/>
          <a:p>
            <a:pPr algn="ctr">
              <a:defRPr sz="1000" b="1">
                <a:solidFill>
                  <a:srgbClr val="FFFFFF"/>
                </a:solidFill>
              </a:defRPr>
            </a:pPr>
            <a:r>
              <a:t>Le cadre légal de la profession</a:t>
            </a:r>
          </a:p>
        </p:txBody>
      </p:sp>
      <p:sp>
        <p:nvSpPr>
          <p:cNvPr id="19" name="Rectangle 18"/>
          <p:cNvSpPr/>
          <p:nvPr/>
        </p:nvSpPr>
        <p:spPr>
          <a:xfrm>
            <a:off x="4572000" y="1636776"/>
            <a:ext cx="10058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LOI 1946</a:t>
            </a:r>
          </a:p>
        </p:txBody>
      </p:sp>
      <p:sp>
        <p:nvSpPr>
          <p:cNvPr id="20" name="TextBox 19"/>
          <p:cNvSpPr txBox="1"/>
          <p:nvPr/>
        </p:nvSpPr>
        <p:spPr>
          <a:xfrm>
            <a:off x="384048" y="1956816"/>
            <a:ext cx="5175504" cy="1682496"/>
          </a:xfrm>
          <a:prstGeom prst="rect">
            <a:avLst/>
          </a:prstGeom>
          <a:noFill/>
        </p:spPr>
        <p:txBody>
          <a:bodyPr wrap="square" lIns="0" tIns="0" rIns="0" bIns="0">
            <a:spAutoFit/>
          </a:bodyPr>
          <a:lstStyle/>
          <a:p>
            <a:pPr>
              <a:defRPr sz="900" b="1">
                <a:solidFill>
                  <a:srgbClr val="0F172A"/>
                </a:solidFill>
              </a:defRPr>
            </a:pPr>
            <a:r>
              <a:t>•  Loi n° 46-942 du 7 mai 1946</a:t>
            </a:r>
          </a:p>
          <a:p>
            <a:pPr>
              <a:spcBef>
                <a:spcPts val="100"/>
              </a:spcBef>
              <a:defRPr sz="800">
                <a:solidFill>
                  <a:srgbClr val="334155"/>
                </a:solidFill>
              </a:defRPr>
            </a:pPr>
            <a:r>
              <a:t>   Monopole légal du géomètre-expert pour la délimitation de la propriété privée.</a:t>
            </a:r>
          </a:p>
          <a:p>
            <a:pPr>
              <a:spcBef>
                <a:spcPts val="300"/>
              </a:spcBef>
              <a:defRPr sz="900" b="1">
                <a:solidFill>
                  <a:srgbClr val="0F172A"/>
                </a:solidFill>
              </a:defRPr>
            </a:pPr>
            <a:r>
              <a:t>•  Décret n° 96-478 — Art. 55</a:t>
            </a:r>
          </a:p>
          <a:p>
            <a:pPr>
              <a:spcBef>
                <a:spcPts val="100"/>
              </a:spcBef>
              <a:defRPr sz="800">
                <a:solidFill>
                  <a:srgbClr val="334155"/>
                </a:solidFill>
              </a:defRPr>
            </a:pPr>
            <a:r>
              <a:t>   Obligation de conservation minimale 30 ans. Actes opposables aux tiers.</a:t>
            </a:r>
          </a:p>
          <a:p>
            <a:pPr>
              <a:spcBef>
                <a:spcPts val="300"/>
              </a:spcBef>
              <a:defRPr sz="900" b="1">
                <a:solidFill>
                  <a:srgbClr val="0F172A"/>
                </a:solidFill>
              </a:defRPr>
            </a:pPr>
            <a:r>
              <a:t>•  Article 646 du Code civil</a:t>
            </a:r>
          </a:p>
          <a:p>
            <a:pPr>
              <a:spcBef>
                <a:spcPts val="100"/>
              </a:spcBef>
              <a:defRPr sz="800">
                <a:solidFill>
                  <a:srgbClr val="334155"/>
                </a:solidFill>
              </a:defRPr>
            </a:pPr>
            <a:r>
              <a:t>   Si une limite a déjà été fixée, le bornage doit se fonder sur l'acte antérieur.</a:t>
            </a:r>
          </a:p>
        </p:txBody>
      </p:sp>
      <p:sp>
        <p:nvSpPr>
          <p:cNvPr id="21" name="Rectangle 20"/>
          <p:cNvSpPr/>
          <p:nvPr/>
        </p:nvSpPr>
        <p:spPr>
          <a:xfrm>
            <a:off x="347472" y="365760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La recherche d'antériorité sur Géofoncier est une obligation légale avant toute intervention.</a:t>
            </a:r>
          </a:p>
        </p:txBody>
      </p:sp>
      <p:sp>
        <p:nvSpPr>
          <p:cNvPr id="22" name="Rounded Rectangle 21"/>
          <p:cNvSpPr/>
          <p:nvPr/>
        </p:nvSpPr>
        <p:spPr>
          <a:xfrm>
            <a:off x="5852160" y="1591056"/>
            <a:ext cx="606521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645920"/>
          <a:lstStyle/>
          <a:p>
            <a:pPr algn="ctr">
              <a:defRPr sz="1000" b="1">
                <a:solidFill>
                  <a:srgbClr val="FFFFFF"/>
                </a:solidFill>
              </a:defRPr>
            </a:pPr>
            <a:r>
              <a:t>Le besoin opérationnel</a:t>
            </a:r>
          </a:p>
        </p:txBody>
      </p:sp>
      <p:sp>
        <p:nvSpPr>
          <p:cNvPr id="24" name="Rectangle 23"/>
          <p:cNvSpPr/>
          <p:nvPr/>
        </p:nvSpPr>
        <p:spPr>
          <a:xfrm>
            <a:off x="10362895" y="1636776"/>
            <a:ext cx="14630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BESOIN MÉTIER</a:t>
            </a:r>
          </a:p>
        </p:txBody>
      </p:sp>
      <p:sp>
        <p:nvSpPr>
          <p:cNvPr id="25" name="TextBox 24"/>
          <p:cNvSpPr txBox="1"/>
          <p:nvPr/>
        </p:nvSpPr>
        <p:spPr>
          <a:xfrm>
            <a:off x="5961888" y="1956816"/>
            <a:ext cx="5845759" cy="1682496"/>
          </a:xfrm>
          <a:prstGeom prst="rect">
            <a:avLst/>
          </a:prstGeom>
          <a:noFill/>
        </p:spPr>
        <p:txBody>
          <a:bodyPr wrap="square" lIns="0" tIns="0" rIns="0" bIns="0">
            <a:spAutoFit/>
          </a:bodyPr>
          <a:lstStyle/>
          <a:p>
            <a:pPr>
              <a:defRPr sz="900" b="1">
                <a:solidFill>
                  <a:srgbClr val="0F172A"/>
                </a:solidFill>
              </a:defRPr>
            </a:pPr>
            <a:r>
              <a:t>•  15 à 30 min par dossier</a:t>
            </a:r>
          </a:p>
          <a:p>
            <a:pPr>
              <a:spcBef>
                <a:spcPts val="100"/>
              </a:spcBef>
              <a:defRPr sz="800">
                <a:solidFill>
                  <a:srgbClr val="334155"/>
                </a:solidFill>
              </a:defRPr>
            </a:pPr>
            <a:r>
              <a:t>   Retrouver une pochette dans les archives physiques prend entre 15 et 30 minutes, sans certitude.</a:t>
            </a:r>
          </a:p>
          <a:p>
            <a:pPr>
              <a:spcBef>
                <a:spcPts val="300"/>
              </a:spcBef>
              <a:defRPr sz="900" b="1">
                <a:solidFill>
                  <a:srgbClr val="0F172A"/>
                </a:solidFill>
              </a:defRPr>
            </a:pPr>
            <a:r>
              <a:t>•  Géofoncier non alimenté</a:t>
            </a:r>
          </a:p>
          <a:p>
            <a:pPr>
              <a:spcBef>
                <a:spcPts val="100"/>
              </a:spcBef>
              <a:defRPr sz="800">
                <a:solidFill>
                  <a:srgbClr val="334155"/>
                </a:solidFill>
              </a:defRPr>
            </a:pPr>
            <a:r>
              <a:t>   Les pastilles Géofoncier ne reflètent pas les actes anciens du cabinet tant qu'ils ne sont pas versés.</a:t>
            </a:r>
          </a:p>
          <a:p>
            <a:pPr>
              <a:spcBef>
                <a:spcPts val="300"/>
              </a:spcBef>
              <a:defRPr sz="900" b="1">
                <a:solidFill>
                  <a:srgbClr val="0F172A"/>
                </a:solidFill>
              </a:defRPr>
            </a:pPr>
            <a:r>
              <a:t>•  Sollicitations des confrères</a:t>
            </a:r>
          </a:p>
          <a:p>
            <a:pPr>
              <a:spcBef>
                <a:spcPts val="100"/>
              </a:spcBef>
              <a:defRPr sz="800">
                <a:solidFill>
                  <a:srgbClr val="334155"/>
                </a:solidFill>
              </a:defRPr>
            </a:pPr>
            <a:r>
              <a:t>   D'autres cabinets demandent régulièrement copie des anciens plans.</a:t>
            </a:r>
          </a:p>
        </p:txBody>
      </p:sp>
      <p:sp>
        <p:nvSpPr>
          <p:cNvPr id="26" name="Rectangle 25"/>
          <p:cNvSpPr/>
          <p:nvPr/>
        </p:nvSpPr>
        <p:spPr>
          <a:xfrm>
            <a:off x="5925312" y="365760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Bénéfice : accès instantané au dossier + alimentation du portail national</a:t>
            </a:r>
          </a:p>
        </p:txBody>
      </p:sp>
      <p:sp>
        <p:nvSpPr>
          <p:cNvPr id="27" name="Rectangle 26"/>
          <p:cNvSpPr/>
          <p:nvPr/>
        </p:nvSpPr>
        <p:spPr>
          <a:xfrm>
            <a:off x="274320" y="4096512"/>
            <a:ext cx="3712463" cy="969264"/>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Art. 646</a:t>
            </a:r>
          </a:p>
          <a:p>
            <a:pPr algn="ctr">
              <a:spcBef>
                <a:spcPts val="200"/>
              </a:spcBef>
              <a:defRPr sz="700" b="1">
                <a:solidFill>
                  <a:srgbClr val="0F172A"/>
                </a:solidFill>
              </a:defRPr>
            </a:pPr>
            <a:r>
              <a:t>CODE CIVIL</a:t>
            </a:r>
          </a:p>
          <a:p>
            <a:pPr algn="ctr">
              <a:spcBef>
                <a:spcPts val="100"/>
              </a:spcBef>
              <a:defRPr sz="650">
                <a:solidFill>
                  <a:srgbClr val="475569"/>
                </a:solidFill>
              </a:defRPr>
            </a:pPr>
            <a:r>
              <a:t>Antériorité obligatoire</a:t>
            </a:r>
          </a:p>
        </p:txBody>
      </p:sp>
      <p:sp>
        <p:nvSpPr>
          <p:cNvPr id="28" name="Rectangle 27"/>
          <p:cNvSpPr/>
          <p:nvPr/>
        </p:nvSpPr>
        <p:spPr>
          <a:xfrm>
            <a:off x="4096512" y="4096512"/>
            <a:ext cx="3712463" cy="969264"/>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30 min</a:t>
            </a:r>
          </a:p>
          <a:p>
            <a:pPr algn="ctr">
              <a:spcBef>
                <a:spcPts val="200"/>
              </a:spcBef>
              <a:defRPr sz="700" b="1">
                <a:solidFill>
                  <a:srgbClr val="0F172A"/>
                </a:solidFill>
              </a:defRPr>
            </a:pPr>
            <a:r>
              <a:t>RECHERCHE PHYSIQUE</a:t>
            </a:r>
          </a:p>
          <a:p>
            <a:pPr algn="ctr">
              <a:spcBef>
                <a:spcPts val="100"/>
              </a:spcBef>
              <a:defRPr sz="650">
                <a:solidFill>
                  <a:srgbClr val="475569"/>
                </a:solidFill>
              </a:defRPr>
            </a:pPr>
            <a:r>
              <a:t>Coût par dossier</a:t>
            </a:r>
          </a:p>
        </p:txBody>
      </p:sp>
      <p:sp>
        <p:nvSpPr>
          <p:cNvPr id="29" name="Rectangle 28"/>
          <p:cNvSpPr/>
          <p:nvPr/>
        </p:nvSpPr>
        <p:spPr>
          <a:xfrm>
            <a:off x="7918704" y="4096512"/>
            <a:ext cx="3904487" cy="969264"/>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GEODEMAT</a:t>
            </a:r>
          </a:p>
          <a:p>
            <a:pPr algn="ctr">
              <a:spcBef>
                <a:spcPts val="200"/>
              </a:spcBef>
              <a:defRPr sz="700" b="1">
                <a:solidFill>
                  <a:srgbClr val="0F172A"/>
                </a:solidFill>
              </a:defRPr>
            </a:pPr>
            <a:r>
              <a:t>LIMITE DGFIP</a:t>
            </a:r>
          </a:p>
          <a:p>
            <a:pPr algn="ctr">
              <a:spcBef>
                <a:spcPts val="100"/>
              </a:spcBef>
              <a:defRPr sz="650">
                <a:solidFill>
                  <a:srgbClr val="475569"/>
                </a:solidFill>
              </a:defRPr>
            </a:pPr>
            <a:r>
              <a:t>N'inclut pas les archives privées</a:t>
            </a:r>
          </a:p>
        </p:txBody>
      </p:sp>
      <p:sp>
        <p:nvSpPr>
          <p:cNvPr id="30" name="Rounded Rectangle 29"/>
          <p:cNvSpPr/>
          <p:nvPr/>
        </p:nvSpPr>
        <p:spPr>
          <a:xfrm>
            <a:off x="274320" y="5212080"/>
            <a:ext cx="11643055" cy="1152144"/>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defRPr sz="950">
                <a:solidFill>
                  <a:srgbClr val="0F2546"/>
                </a:solidFill>
              </a:defRPr>
            </a:pPr>
            <a:r>
              <a:t>Opération GEODEMAT (DGFiP, 2021) : numérise les DMPC fiscaux depuis 1956 — mais sans accès aux plans ni PV de bornage, qui restent dans les cabinets. L'angle mort des archives privées reste entier.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284C7"/>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284C7"/>
                </a:solidFill>
              </a:defRPr>
            </a:pPr>
            <a:r>
              <a:t>CHAPITRE 2</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Analyse Métier &amp; Données</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Cadastre, API Géofoncier, fonds d'archives SIAPP et registres manuscrits</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7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0284C7"/>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2.1 Cadastre &amp; Propriété</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2.2 API Géofoncier</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2.3 Fonds SIAPP</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2.4 Registres &amp; Filiation</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2 — ANALYSE MÉTIER &amp; DONNÉES</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Cadastre et propriété foncière : deux systèmes distincts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8 / 35</a:t>
            </a:r>
          </a:p>
        </p:txBody>
      </p:sp>
      <p:sp>
        <p:nvSpPr>
          <p:cNvPr id="18" name="Rounded Rectangle 17"/>
          <p:cNvSpPr/>
          <p:nvPr/>
        </p:nvSpPr>
        <p:spPr>
          <a:xfrm>
            <a:off x="274320" y="1591056"/>
            <a:ext cx="566928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66928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828800"/>
          <a:lstStyle/>
          <a:p>
            <a:pPr algn="ctr">
              <a:defRPr sz="1000" b="1">
                <a:solidFill>
                  <a:srgbClr val="FFFFFF"/>
                </a:solidFill>
              </a:defRPr>
            </a:pPr>
            <a:r>
              <a:t>Cadastre vs propriété foncière</a:t>
            </a:r>
          </a:p>
        </p:txBody>
      </p:sp>
      <p:sp>
        <p:nvSpPr>
          <p:cNvPr id="20" name="Rectangle 19"/>
          <p:cNvSpPr/>
          <p:nvPr/>
        </p:nvSpPr>
        <p:spPr>
          <a:xfrm>
            <a:off x="4206240" y="1636776"/>
            <a:ext cx="16459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DISTINCTION CLÉ</a:t>
            </a:r>
          </a:p>
        </p:txBody>
      </p:sp>
      <p:sp>
        <p:nvSpPr>
          <p:cNvPr id="21" name="TextBox 20"/>
          <p:cNvSpPr txBox="1"/>
          <p:nvPr/>
        </p:nvSpPr>
        <p:spPr>
          <a:xfrm>
            <a:off x="384048" y="1956816"/>
            <a:ext cx="5449824" cy="2139696"/>
          </a:xfrm>
          <a:prstGeom prst="rect">
            <a:avLst/>
          </a:prstGeom>
          <a:noFill/>
        </p:spPr>
        <p:txBody>
          <a:bodyPr wrap="square" lIns="0" tIns="0" rIns="0" bIns="0">
            <a:spAutoFit/>
          </a:bodyPr>
          <a:lstStyle/>
          <a:p>
            <a:pPr>
              <a:defRPr sz="950" b="1">
                <a:solidFill>
                  <a:srgbClr val="0F172A"/>
                </a:solidFill>
              </a:defRPr>
            </a:pPr>
            <a:r>
              <a:t>•  Le cadastre : outil fiscal, non opposable</a:t>
            </a:r>
          </a:p>
          <a:p>
            <a:pPr>
              <a:spcBef>
                <a:spcPts val="100"/>
              </a:spcBef>
              <a:defRPr sz="850">
                <a:solidFill>
                  <a:srgbClr val="334155"/>
                </a:solidFill>
              </a:defRPr>
            </a:pPr>
            <a:r>
              <a:t>   Géré par la DGFiP, il identifie les parcelles à des fins d'imposition. Il ne constitue pas un titre de propriété.</a:t>
            </a:r>
          </a:p>
          <a:p>
            <a:pPr>
              <a:spcBef>
                <a:spcPts val="500"/>
              </a:spcBef>
              <a:defRPr sz="950" b="1">
                <a:solidFill>
                  <a:srgbClr val="0F172A"/>
                </a:solidFill>
              </a:defRPr>
            </a:pPr>
            <a:r>
              <a:t>•  Propriété foncière : définie par les actes</a:t>
            </a:r>
          </a:p>
          <a:p>
            <a:pPr>
              <a:spcBef>
                <a:spcPts val="100"/>
              </a:spcBef>
              <a:defRPr sz="850">
                <a:solidFill>
                  <a:srgbClr val="334155"/>
                </a:solidFill>
              </a:defRPr>
            </a:pPr>
            <a:r>
              <a:t>   La limite réelle est fixée par le PV de bornage signé d'un géomètre-expert. C'est le seul document opposable.</a:t>
            </a:r>
          </a:p>
          <a:p>
            <a:pPr>
              <a:spcBef>
                <a:spcPts val="500"/>
              </a:spcBef>
              <a:defRPr sz="950" b="1">
                <a:solidFill>
                  <a:srgbClr val="0F172A"/>
                </a:solidFill>
              </a:defRPr>
            </a:pPr>
            <a:r>
              <a:t>•  Divergences fréquentes</a:t>
            </a:r>
          </a:p>
          <a:p>
            <a:pPr>
              <a:spcBef>
                <a:spcPts val="100"/>
              </a:spcBef>
              <a:defRPr sz="850">
                <a:solidFill>
                  <a:srgbClr val="334155"/>
                </a:solidFill>
              </a:defRPr>
            </a:pPr>
            <a:r>
              <a:t>   Entre cadastre et réalité terrain, des erreurs historiques existent — justifiant l'existence de Géofoncier.</a:t>
            </a:r>
          </a:p>
        </p:txBody>
      </p:sp>
      <p:sp>
        <p:nvSpPr>
          <p:cNvPr id="22" name="Rectangle 21"/>
          <p:cNvSpPr/>
          <p:nvPr/>
        </p:nvSpPr>
        <p:spPr>
          <a:xfrm>
            <a:off x="347472" y="4114800"/>
            <a:ext cx="552297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Géofoncier réconcilie les deux en centralisant les actes de bornage.</a:t>
            </a:r>
          </a:p>
        </p:txBody>
      </p:sp>
      <p:sp>
        <p:nvSpPr>
          <p:cNvPr id="23" name="Rounded Rectangle 22"/>
          <p:cNvSpPr/>
          <p:nvPr/>
        </p:nvSpPr>
        <p:spPr>
          <a:xfrm>
            <a:off x="6126480" y="1591056"/>
            <a:ext cx="579089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1591056"/>
            <a:ext cx="579089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188720"/>
          <a:lstStyle/>
          <a:p>
            <a:pPr algn="ctr">
              <a:defRPr sz="1000" b="1">
                <a:solidFill>
                  <a:srgbClr val="FFFFFF"/>
                </a:solidFill>
              </a:defRPr>
            </a:pPr>
            <a:r>
              <a:t>Géofoncier : le registre national</a:t>
            </a:r>
          </a:p>
        </p:txBody>
      </p:sp>
      <p:sp>
        <p:nvSpPr>
          <p:cNvPr id="25" name="Rectangle 24"/>
          <p:cNvSpPr/>
          <p:nvPr/>
        </p:nvSpPr>
        <p:spPr>
          <a:xfrm>
            <a:off x="10820095" y="1636776"/>
            <a:ext cx="10058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OGE 2011</a:t>
            </a:r>
          </a:p>
        </p:txBody>
      </p:sp>
      <p:sp>
        <p:nvSpPr>
          <p:cNvPr id="26" name="TextBox 25"/>
          <p:cNvSpPr txBox="1"/>
          <p:nvPr/>
        </p:nvSpPr>
        <p:spPr>
          <a:xfrm>
            <a:off x="6236208" y="1956816"/>
            <a:ext cx="5571439" cy="2139696"/>
          </a:xfrm>
          <a:prstGeom prst="rect">
            <a:avLst/>
          </a:prstGeom>
          <a:noFill/>
        </p:spPr>
        <p:txBody>
          <a:bodyPr wrap="square" lIns="0" tIns="0" rIns="0" bIns="0">
            <a:spAutoFit/>
          </a:bodyPr>
          <a:lstStyle/>
          <a:p>
            <a:pPr>
              <a:defRPr sz="950" b="1">
                <a:solidFill>
                  <a:srgbClr val="0F172A"/>
                </a:solidFill>
              </a:defRPr>
            </a:pPr>
            <a:r>
              <a:t>•  Portail Géofoncier (Ordre des GE)</a:t>
            </a:r>
          </a:p>
          <a:p>
            <a:pPr>
              <a:spcBef>
                <a:spcPts val="100"/>
              </a:spcBef>
              <a:defRPr sz="850">
                <a:solidFill>
                  <a:srgbClr val="334155"/>
                </a:solidFill>
              </a:defRPr>
            </a:pPr>
            <a:r>
              <a:t>   Créé par l'OGE, Géofoncier recense toutes les interventions foncières sous forme de pastilles géolocalisées.</a:t>
            </a:r>
          </a:p>
          <a:p>
            <a:pPr>
              <a:spcBef>
                <a:spcPts val="500"/>
              </a:spcBef>
              <a:defRPr sz="950" b="1">
                <a:solidFill>
                  <a:srgbClr val="0F172A"/>
                </a:solidFill>
              </a:defRPr>
            </a:pPr>
            <a:r>
              <a:t>•  Obligation de versement des actes</a:t>
            </a:r>
          </a:p>
          <a:p>
            <a:pPr>
              <a:spcBef>
                <a:spcPts val="100"/>
              </a:spcBef>
              <a:defRPr sz="850">
                <a:solidFill>
                  <a:srgbClr val="334155"/>
                </a:solidFill>
              </a:defRPr>
            </a:pPr>
            <a:r>
              <a:t>   Depuis 2011, tout acte signé doit être versé sur Géofoncier. Les actes antérieurs restent une lacune.</a:t>
            </a:r>
          </a:p>
          <a:p>
            <a:pPr>
              <a:spcBef>
                <a:spcPts val="500"/>
              </a:spcBef>
              <a:defRPr sz="950" b="1">
                <a:solidFill>
                  <a:srgbClr val="0F172A"/>
                </a:solidFill>
              </a:defRPr>
            </a:pPr>
            <a:r>
              <a:t>•  Interface GéofoncierEXPERT</a:t>
            </a:r>
          </a:p>
          <a:p>
            <a:pPr>
              <a:spcBef>
                <a:spcPts val="100"/>
              </a:spcBef>
              <a:defRPr sz="850">
                <a:solidFill>
                  <a:srgbClr val="334155"/>
                </a:solidFill>
              </a:defRPr>
            </a:pPr>
            <a:r>
              <a:t>   Accès réservé aux géomètres-experts pour verser et consulter les dossiers. API REST disponible.</a:t>
            </a:r>
          </a:p>
        </p:txBody>
      </p:sp>
      <p:sp>
        <p:nvSpPr>
          <p:cNvPr id="27" name="Rectangle 26"/>
          <p:cNvSpPr/>
          <p:nvPr/>
        </p:nvSpPr>
        <p:spPr>
          <a:xfrm>
            <a:off x="6199632" y="4114800"/>
            <a:ext cx="564459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L'API REST de Géofoncier permet l'automatisation du versement.</a:t>
            </a:r>
          </a:p>
        </p:txBody>
      </p:sp>
      <p:sp>
        <p:nvSpPr>
          <p:cNvPr id="28" name="Rectangle 27"/>
          <p:cNvSpPr/>
          <p:nvPr/>
        </p:nvSpPr>
        <p:spPr>
          <a:xfrm>
            <a:off x="274320" y="4553712"/>
            <a:ext cx="2834640"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DGFiP</a:t>
            </a:r>
          </a:p>
          <a:p>
            <a:pPr algn="ctr">
              <a:spcBef>
                <a:spcPts val="200"/>
              </a:spcBef>
              <a:defRPr sz="700" b="1">
                <a:solidFill>
                  <a:srgbClr val="0F172A"/>
                </a:solidFill>
              </a:defRPr>
            </a:pPr>
            <a:r>
              <a:t>GESTIONNAIRE CADASTRE</a:t>
            </a:r>
          </a:p>
          <a:p>
            <a:pPr algn="ctr">
              <a:spcBef>
                <a:spcPts val="100"/>
              </a:spcBef>
              <a:defRPr sz="650">
                <a:solidFill>
                  <a:srgbClr val="475569"/>
                </a:solidFill>
              </a:defRPr>
            </a:pPr>
            <a:r>
              <a:t>Usage fiscal uniquement</a:t>
            </a:r>
          </a:p>
        </p:txBody>
      </p:sp>
      <p:sp>
        <p:nvSpPr>
          <p:cNvPr id="29" name="Rectangle 28"/>
          <p:cNvSpPr/>
          <p:nvPr/>
        </p:nvSpPr>
        <p:spPr>
          <a:xfrm>
            <a:off x="3218688" y="4553712"/>
            <a:ext cx="2834640"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OGE</a:t>
            </a:r>
          </a:p>
          <a:p>
            <a:pPr algn="ctr">
              <a:spcBef>
                <a:spcPts val="200"/>
              </a:spcBef>
              <a:defRPr sz="700" b="1">
                <a:solidFill>
                  <a:srgbClr val="0F172A"/>
                </a:solidFill>
              </a:defRPr>
            </a:pPr>
            <a:r>
              <a:t>GESTIONNAIRE GÉOFONCIER</a:t>
            </a:r>
          </a:p>
          <a:p>
            <a:pPr algn="ctr">
              <a:spcBef>
                <a:spcPts val="100"/>
              </a:spcBef>
              <a:defRPr sz="650">
                <a:solidFill>
                  <a:srgbClr val="475569"/>
                </a:solidFill>
              </a:defRPr>
            </a:pPr>
            <a:r>
              <a:t>Ordre des GE</a:t>
            </a:r>
          </a:p>
        </p:txBody>
      </p:sp>
      <p:sp>
        <p:nvSpPr>
          <p:cNvPr id="30" name="Rectangle 29"/>
          <p:cNvSpPr/>
          <p:nvPr/>
        </p:nvSpPr>
        <p:spPr>
          <a:xfrm>
            <a:off x="6163056" y="4553712"/>
            <a:ext cx="2834640"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2011</a:t>
            </a:r>
          </a:p>
          <a:p>
            <a:pPr algn="ctr">
              <a:spcBef>
                <a:spcPts val="200"/>
              </a:spcBef>
              <a:defRPr sz="700" b="1">
                <a:solidFill>
                  <a:srgbClr val="0F172A"/>
                </a:solidFill>
              </a:defRPr>
            </a:pPr>
            <a:r>
              <a:t>OBLIGATION DE VERSEMENT</a:t>
            </a:r>
          </a:p>
          <a:p>
            <a:pPr algn="ctr">
              <a:spcBef>
                <a:spcPts val="100"/>
              </a:spcBef>
              <a:defRPr sz="650">
                <a:solidFill>
                  <a:srgbClr val="475569"/>
                </a:solidFill>
              </a:defRPr>
            </a:pPr>
            <a:r>
              <a:t>Actes postérieurs</a:t>
            </a:r>
          </a:p>
        </p:txBody>
      </p:sp>
      <p:sp>
        <p:nvSpPr>
          <p:cNvPr id="31" name="Rectangle 30"/>
          <p:cNvSpPr/>
          <p:nvPr/>
        </p:nvSpPr>
        <p:spPr>
          <a:xfrm>
            <a:off x="9107424" y="4553712"/>
            <a:ext cx="2807208" cy="914400"/>
          </a:xfrm>
          <a:prstGeom prst="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D97706"/>
                </a:solidFill>
              </a:defRPr>
            </a:pPr>
            <a:r>
              <a:t>API REST</a:t>
            </a:r>
          </a:p>
          <a:p>
            <a:pPr algn="ctr">
              <a:spcBef>
                <a:spcPts val="200"/>
              </a:spcBef>
              <a:defRPr sz="700" b="1">
                <a:solidFill>
                  <a:srgbClr val="0F172A"/>
                </a:solidFill>
              </a:defRPr>
            </a:pPr>
            <a:r>
              <a:t>VERSEMENT AUTOMATISÉ</a:t>
            </a:r>
          </a:p>
          <a:p>
            <a:pPr algn="ctr">
              <a:spcBef>
                <a:spcPts val="100"/>
              </a:spcBef>
              <a:defRPr sz="650">
                <a:solidFill>
                  <a:srgbClr val="475569"/>
                </a:solidFill>
              </a:defRPr>
            </a:pPr>
            <a:r>
              <a:t>JWT + Swagger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0284C7"/>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2.1 Cadastre &amp; Propriété</a:t>
            </a:r>
          </a:p>
        </p:txBody>
      </p:sp>
      <p:sp>
        <p:nvSpPr>
          <p:cNvPr id="11" name="Rectangle 10"/>
          <p:cNvSpPr/>
          <p:nvPr/>
        </p:nvSpPr>
        <p:spPr>
          <a:xfrm>
            <a:off x="319879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2.2 API Géofoncier</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2.3 Fonds SIAPP</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2.4 Registres &amp; Filiation</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2 — ANALYSE MÉTIER &amp; DONNÉES</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L'API Géofoncier et la caractérisation du fonds SIAPP</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9 / 35</a:t>
            </a:r>
          </a:p>
        </p:txBody>
      </p:sp>
      <p:sp>
        <p:nvSpPr>
          <p:cNvPr id="18" name="Rounded Rectangle 17"/>
          <p:cNvSpPr/>
          <p:nvPr/>
        </p:nvSpPr>
        <p:spPr>
          <a:xfrm>
            <a:off x="274320" y="1591056"/>
            <a:ext cx="539496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371600"/>
          <a:lstStyle/>
          <a:p>
            <a:pPr algn="ctr">
              <a:defRPr sz="1000" b="1">
                <a:solidFill>
                  <a:srgbClr val="FFFFFF"/>
                </a:solidFill>
              </a:defRPr>
            </a:pPr>
            <a:r>
              <a:t>API Géofoncier : protocole de versement</a:t>
            </a:r>
          </a:p>
        </p:txBody>
      </p:sp>
      <p:sp>
        <p:nvSpPr>
          <p:cNvPr id="20" name="Rectangle 19"/>
          <p:cNvSpPr/>
          <p:nvPr/>
        </p:nvSpPr>
        <p:spPr>
          <a:xfrm>
            <a:off x="4389120" y="1636776"/>
            <a:ext cx="11887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REST / JWT</a:t>
            </a:r>
          </a:p>
        </p:txBody>
      </p:sp>
      <p:sp>
        <p:nvSpPr>
          <p:cNvPr id="21" name="TextBox 20"/>
          <p:cNvSpPr txBox="1"/>
          <p:nvPr/>
        </p:nvSpPr>
        <p:spPr>
          <a:xfrm>
            <a:off x="384048" y="1956816"/>
            <a:ext cx="5175504" cy="2231136"/>
          </a:xfrm>
          <a:prstGeom prst="rect">
            <a:avLst/>
          </a:prstGeom>
          <a:noFill/>
        </p:spPr>
        <p:txBody>
          <a:bodyPr wrap="square" lIns="0" tIns="0" rIns="0" bIns="0">
            <a:spAutoFit/>
          </a:bodyPr>
          <a:lstStyle/>
          <a:p>
            <a:pPr>
              <a:defRPr sz="950" b="1">
                <a:solidFill>
                  <a:srgbClr val="0F172A"/>
                </a:solidFill>
              </a:defRPr>
            </a:pPr>
            <a:r>
              <a:t>•  API REST documentée sous Swagger</a:t>
            </a:r>
          </a:p>
          <a:p>
            <a:pPr>
              <a:spcBef>
                <a:spcPts val="100"/>
              </a:spcBef>
              <a:defRPr sz="850">
                <a:solidFill>
                  <a:srgbClr val="334155"/>
                </a:solidFill>
              </a:defRPr>
            </a:pPr>
            <a:r>
              <a:t>   Le portail GéofoncierEXPERT expose des endpoints REST pour créer, lire et mettre à jour les dossiers.</a:t>
            </a:r>
          </a:p>
          <a:p>
            <a:pPr>
              <a:spcBef>
                <a:spcPts val="500"/>
              </a:spcBef>
              <a:defRPr sz="950" b="1">
                <a:solidFill>
                  <a:srgbClr val="0F172A"/>
                </a:solidFill>
              </a:defRPr>
            </a:pPr>
            <a:r>
              <a:t>•  Authentification JWT (token 1h)</a:t>
            </a:r>
          </a:p>
          <a:p>
            <a:pPr>
              <a:spcBef>
                <a:spcPts val="100"/>
              </a:spcBef>
              <a:defRPr sz="850">
                <a:solidFill>
                  <a:srgbClr val="334155"/>
                </a:solidFill>
              </a:defRPr>
            </a:pPr>
            <a:r>
              <a:t>   Chaque session nécessite un token JWT signé. Le script renouvelle le token automatiquement.</a:t>
            </a:r>
          </a:p>
          <a:p>
            <a:pPr>
              <a:spcBef>
                <a:spcPts val="500"/>
              </a:spcBef>
              <a:defRPr sz="950" b="1">
                <a:solidFill>
                  <a:srgbClr val="0F172A"/>
                </a:solidFill>
              </a:defRPr>
            </a:pPr>
            <a:r>
              <a:t>•  Structure du versement JSON</a:t>
            </a:r>
          </a:p>
          <a:p>
            <a:pPr>
              <a:spcBef>
                <a:spcPts val="100"/>
              </a:spcBef>
              <a:defRPr sz="850">
                <a:solidFill>
                  <a:srgbClr val="334155"/>
                </a:solidFill>
              </a:defRPr>
            </a:pPr>
            <a:r>
              <a:t>   Le payload attend 5 champs obligatoires : commune INSEE, date, surface, nature de l'opération et type d'acte.</a:t>
            </a:r>
          </a:p>
        </p:txBody>
      </p:sp>
      <p:sp>
        <p:nvSpPr>
          <p:cNvPr id="22" name="Rectangle 21"/>
          <p:cNvSpPr/>
          <p:nvPr/>
        </p:nvSpPr>
        <p:spPr>
          <a:xfrm>
            <a:off x="347472" y="420624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Endpoint principal : POST /api/v2/affaires — authentification Bearer Token.</a:t>
            </a:r>
          </a:p>
        </p:txBody>
      </p:sp>
      <p:sp>
        <p:nvSpPr>
          <p:cNvPr id="23" name="Rounded Rectangle 22"/>
          <p:cNvSpPr/>
          <p:nvPr/>
        </p:nvSpPr>
        <p:spPr>
          <a:xfrm>
            <a:off x="5852160" y="1591056"/>
            <a:ext cx="606521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828800"/>
          <a:lstStyle/>
          <a:p>
            <a:pPr algn="ctr">
              <a:defRPr sz="1000" b="1">
                <a:solidFill>
                  <a:srgbClr val="FFFFFF"/>
                </a:solidFill>
              </a:defRPr>
            </a:pPr>
            <a:r>
              <a:t>Le fonds d'archives GEO-SIAPP</a:t>
            </a:r>
          </a:p>
        </p:txBody>
      </p:sp>
      <p:sp>
        <p:nvSpPr>
          <p:cNvPr id="25" name="Rectangle 24"/>
          <p:cNvSpPr/>
          <p:nvPr/>
        </p:nvSpPr>
        <p:spPr>
          <a:xfrm>
            <a:off x="10180015" y="1636776"/>
            <a:ext cx="16459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23 600 DOSSIERS</a:t>
            </a:r>
          </a:p>
        </p:txBody>
      </p:sp>
      <p:sp>
        <p:nvSpPr>
          <p:cNvPr id="26" name="TextBox 25"/>
          <p:cNvSpPr txBox="1"/>
          <p:nvPr/>
        </p:nvSpPr>
        <p:spPr>
          <a:xfrm>
            <a:off x="5961888" y="1956816"/>
            <a:ext cx="5845759" cy="2231136"/>
          </a:xfrm>
          <a:prstGeom prst="rect">
            <a:avLst/>
          </a:prstGeom>
          <a:noFill/>
        </p:spPr>
        <p:txBody>
          <a:bodyPr wrap="square" lIns="0" tIns="0" rIns="0" bIns="0">
            <a:spAutoFit/>
          </a:bodyPr>
          <a:lstStyle/>
          <a:p>
            <a:pPr>
              <a:defRPr sz="950" b="1">
                <a:solidFill>
                  <a:srgbClr val="0F172A"/>
                </a:solidFill>
              </a:defRPr>
            </a:pPr>
            <a:r>
              <a:t>•  23 600 dossiers sur le seul site d'Aubenas</a:t>
            </a:r>
          </a:p>
          <a:p>
            <a:pPr>
              <a:spcBef>
                <a:spcPts val="100"/>
              </a:spcBef>
              <a:defRPr sz="850">
                <a:solidFill>
                  <a:srgbClr val="334155"/>
                </a:solidFill>
              </a:defRPr>
            </a:pPr>
            <a:r>
              <a:t>   Pochettes physiques contenant : plans calque/mylar, PV de bornage, devis, annexes cadastrales.</a:t>
            </a:r>
          </a:p>
          <a:p>
            <a:pPr>
              <a:spcBef>
                <a:spcPts val="500"/>
              </a:spcBef>
              <a:defRPr sz="950" b="1">
                <a:solidFill>
                  <a:srgbClr val="0F172A"/>
                </a:solidFill>
              </a:defRPr>
            </a:pPr>
            <a:r>
              <a:t>•  4 types de documents identifiés</a:t>
            </a:r>
          </a:p>
          <a:p>
            <a:pPr>
              <a:spcBef>
                <a:spcPts val="100"/>
              </a:spcBef>
              <a:defRPr sz="850">
                <a:solidFill>
                  <a:srgbClr val="334155"/>
                </a:solidFill>
              </a:defRPr>
            </a:pPr>
            <a:r>
              <a:t>   Plans DAO (vectoriels), DMPC scannés, registres manuscrits et pièces annexes diverses.</a:t>
            </a:r>
          </a:p>
          <a:p>
            <a:pPr>
              <a:spcBef>
                <a:spcPts val="500"/>
              </a:spcBef>
              <a:defRPr sz="950" b="1">
                <a:solidFill>
                  <a:srgbClr val="0F172A"/>
                </a:solidFill>
              </a:defRPr>
            </a:pPr>
            <a:r>
              <a:t>•  Registres : le cas le plus difficile</a:t>
            </a:r>
          </a:p>
          <a:p>
            <a:pPr>
              <a:spcBef>
                <a:spcPts val="100"/>
              </a:spcBef>
              <a:defRPr sz="850">
                <a:solidFill>
                  <a:srgbClr val="334155"/>
                </a:solidFill>
              </a:defRPr>
            </a:pPr>
            <a:r>
              <a:t>   Pages manuscrites multi-opérations, souvent une page = plusieurs affaires différentes sur une même commune.</a:t>
            </a:r>
          </a:p>
        </p:txBody>
      </p:sp>
      <p:sp>
        <p:nvSpPr>
          <p:cNvPr id="27" name="Rectangle 26"/>
          <p:cNvSpPr/>
          <p:nvPr/>
        </p:nvSpPr>
        <p:spPr>
          <a:xfrm>
            <a:off x="5925312" y="420624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Priorité traitement : les registres manuscrits (plus denses, plus ambigus).</a:t>
            </a:r>
          </a:p>
        </p:txBody>
      </p:sp>
      <p:sp>
        <p:nvSpPr>
          <p:cNvPr id="28" name="Rectangle 27"/>
          <p:cNvSpPr/>
          <p:nvPr/>
        </p:nvSpPr>
        <p:spPr>
          <a:xfrm>
            <a:off x="274320" y="4663440"/>
            <a:ext cx="2798064"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5 Champs</a:t>
            </a:r>
          </a:p>
          <a:p>
            <a:pPr algn="ctr">
              <a:spcBef>
                <a:spcPts val="200"/>
              </a:spcBef>
              <a:defRPr sz="700" b="1">
                <a:solidFill>
                  <a:srgbClr val="0F172A"/>
                </a:solidFill>
              </a:defRPr>
            </a:pPr>
            <a:r>
              <a:t>PAYLOAD OBLIGATOIRE</a:t>
            </a:r>
          </a:p>
          <a:p>
            <a:pPr algn="ctr">
              <a:spcBef>
                <a:spcPts val="100"/>
              </a:spcBef>
              <a:defRPr sz="650">
                <a:solidFill>
                  <a:srgbClr val="475569"/>
                </a:solidFill>
              </a:defRPr>
            </a:pPr>
            <a:r>
              <a:t>INSEE + date + surface...</a:t>
            </a:r>
          </a:p>
        </p:txBody>
      </p:sp>
      <p:sp>
        <p:nvSpPr>
          <p:cNvPr id="29" name="Rectangle 28"/>
          <p:cNvSpPr/>
          <p:nvPr/>
        </p:nvSpPr>
        <p:spPr>
          <a:xfrm>
            <a:off x="3182112" y="4663440"/>
            <a:ext cx="2798064"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1h / Token</a:t>
            </a:r>
          </a:p>
          <a:p>
            <a:pPr algn="ctr">
              <a:spcBef>
                <a:spcPts val="200"/>
              </a:spcBef>
              <a:defRPr sz="700" b="1">
                <a:solidFill>
                  <a:srgbClr val="0F172A"/>
                </a:solidFill>
              </a:defRPr>
            </a:pPr>
            <a:r>
              <a:t>DURÉE JWT</a:t>
            </a:r>
          </a:p>
          <a:p>
            <a:pPr algn="ctr">
              <a:spcBef>
                <a:spcPts val="100"/>
              </a:spcBef>
              <a:defRPr sz="650">
                <a:solidFill>
                  <a:srgbClr val="475569"/>
                </a:solidFill>
              </a:defRPr>
            </a:pPr>
            <a:r>
              <a:t>Renouvellement auto</a:t>
            </a:r>
          </a:p>
        </p:txBody>
      </p:sp>
      <p:sp>
        <p:nvSpPr>
          <p:cNvPr id="30" name="Rectangle 29"/>
          <p:cNvSpPr/>
          <p:nvPr/>
        </p:nvSpPr>
        <p:spPr>
          <a:xfrm>
            <a:off x="6089904" y="4663440"/>
            <a:ext cx="2798064"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4 Types</a:t>
            </a:r>
          </a:p>
          <a:p>
            <a:pPr algn="ctr">
              <a:spcBef>
                <a:spcPts val="200"/>
              </a:spcBef>
              <a:defRPr sz="700" b="1">
                <a:solidFill>
                  <a:srgbClr val="0F172A"/>
                </a:solidFill>
              </a:defRPr>
            </a:pPr>
            <a:r>
              <a:t>DOCUMENTS</a:t>
            </a:r>
          </a:p>
          <a:p>
            <a:pPr algn="ctr">
              <a:spcBef>
                <a:spcPts val="100"/>
              </a:spcBef>
              <a:defRPr sz="650">
                <a:solidFill>
                  <a:srgbClr val="475569"/>
                </a:solidFill>
              </a:defRPr>
            </a:pPr>
            <a:r>
              <a:t>Plan/DMPC/Reg./Annexe</a:t>
            </a:r>
          </a:p>
        </p:txBody>
      </p:sp>
      <p:sp>
        <p:nvSpPr>
          <p:cNvPr id="31" name="Rectangle 30"/>
          <p:cNvSpPr/>
          <p:nvPr/>
        </p:nvSpPr>
        <p:spPr>
          <a:xfrm>
            <a:off x="8997696" y="4663440"/>
            <a:ext cx="2825496" cy="914400"/>
          </a:xfrm>
          <a:prstGeom prst="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D97706"/>
                </a:solidFill>
              </a:defRPr>
            </a:pPr>
            <a:r>
              <a:t>300 DPI</a:t>
            </a:r>
          </a:p>
          <a:p>
            <a:pPr algn="ctr">
              <a:spcBef>
                <a:spcPts val="200"/>
              </a:spcBef>
              <a:defRPr sz="700" b="1">
                <a:solidFill>
                  <a:srgbClr val="0F172A"/>
                </a:solidFill>
              </a:defRPr>
            </a:pPr>
            <a:r>
              <a:t>NUMÉRISATION</a:t>
            </a:r>
          </a:p>
          <a:p>
            <a:pPr algn="ctr">
              <a:spcBef>
                <a:spcPts val="100"/>
              </a:spcBef>
              <a:defRPr sz="650">
                <a:solidFill>
                  <a:srgbClr val="475569"/>
                </a:solidFill>
              </a:defRPr>
            </a:pPr>
            <a:r>
              <a:t>Résolution cible scanner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0284C7"/>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2.1 Cadastre &amp; Propriété</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2.2 API Géofoncier</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2.3 Fonds SIAPP</a:t>
            </a:r>
          </a:p>
        </p:txBody>
      </p:sp>
      <p:sp>
        <p:nvSpPr>
          <p:cNvPr id="13" name="Rectangle 12"/>
          <p:cNvSpPr/>
          <p:nvPr/>
        </p:nvSpPr>
        <p:spPr>
          <a:xfrm>
            <a:off x="904775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2.4 Registres &amp; Filiation</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2 — ANALYSE MÉTIER &amp; DONNÉES</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Registres manuscrits et filiation parcellaire : les cas les plus difficiles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10 / 35</a:t>
            </a:r>
          </a:p>
        </p:txBody>
      </p:sp>
      <p:sp>
        <p:nvSpPr>
          <p:cNvPr id="18" name="Rounded Rectangle 17"/>
          <p:cNvSpPr/>
          <p:nvPr/>
        </p:nvSpPr>
        <p:spPr>
          <a:xfrm>
            <a:off x="274320" y="1591056"/>
            <a:ext cx="539496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280160"/>
          <a:lstStyle/>
          <a:p>
            <a:pPr algn="ctr">
              <a:defRPr sz="1000" b="1">
                <a:solidFill>
                  <a:srgbClr val="FFFFFF"/>
                </a:solidFill>
              </a:defRPr>
            </a:pPr>
            <a:r>
              <a:t>Caractéristiques des registres</a:t>
            </a:r>
          </a:p>
        </p:txBody>
      </p:sp>
      <p:sp>
        <p:nvSpPr>
          <p:cNvPr id="20" name="Rectangle 19"/>
          <p:cNvSpPr/>
          <p:nvPr/>
        </p:nvSpPr>
        <p:spPr>
          <a:xfrm>
            <a:off x="4480560" y="1636776"/>
            <a:ext cx="10972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MANUSCRIT</a:t>
            </a:r>
          </a:p>
        </p:txBody>
      </p:sp>
      <p:sp>
        <p:nvSpPr>
          <p:cNvPr id="21" name="TextBox 20"/>
          <p:cNvSpPr txBox="1"/>
          <p:nvPr/>
        </p:nvSpPr>
        <p:spPr>
          <a:xfrm>
            <a:off x="384048" y="1956816"/>
            <a:ext cx="5175504" cy="1956816"/>
          </a:xfrm>
          <a:prstGeom prst="rect">
            <a:avLst/>
          </a:prstGeom>
          <a:noFill/>
        </p:spPr>
        <p:txBody>
          <a:bodyPr wrap="square" lIns="0" tIns="0" rIns="0" bIns="0">
            <a:spAutoFit/>
          </a:bodyPr>
          <a:lstStyle/>
          <a:p>
            <a:pPr>
              <a:defRPr sz="900" b="1">
                <a:solidFill>
                  <a:srgbClr val="0F172A"/>
                </a:solidFill>
              </a:defRPr>
            </a:pPr>
            <a:r>
              <a:t>•  Structure tabulaire manuscrite</a:t>
            </a:r>
          </a:p>
          <a:p>
            <a:pPr>
              <a:spcBef>
                <a:spcPts val="100"/>
              </a:spcBef>
              <a:defRPr sz="800">
                <a:solidFill>
                  <a:srgbClr val="334155"/>
                </a:solidFill>
              </a:defRPr>
            </a:pPr>
            <a:r>
              <a:t>   Les registres sont organisés en colonnes : référence, date, commune, surface, propriétaires, parcelles.</a:t>
            </a:r>
          </a:p>
          <a:p>
            <a:pPr>
              <a:spcBef>
                <a:spcPts val="300"/>
              </a:spcBef>
              <a:defRPr sz="900" b="1">
                <a:solidFill>
                  <a:srgbClr val="0F172A"/>
                </a:solidFill>
              </a:defRPr>
            </a:pPr>
            <a:r>
              <a:t>•  Difficultés de lecture</a:t>
            </a:r>
          </a:p>
          <a:p>
            <a:pPr>
              <a:spcBef>
                <a:spcPts val="100"/>
              </a:spcBef>
              <a:defRPr sz="800">
                <a:solidFill>
                  <a:srgbClr val="334155"/>
                </a:solidFill>
              </a:defRPr>
            </a:pPr>
            <a:r>
              <a:t>   Abréviations locales, encre fanée, corrections manuscrites et écriture cursive dégradée.</a:t>
            </a:r>
          </a:p>
          <a:p>
            <a:pPr>
              <a:spcBef>
                <a:spcPts val="300"/>
              </a:spcBef>
              <a:defRPr sz="900" b="1">
                <a:solidFill>
                  <a:srgbClr val="0F172A"/>
                </a:solidFill>
              </a:defRPr>
            </a:pPr>
            <a:r>
              <a:t>•  Multi-affaires par page</a:t>
            </a:r>
          </a:p>
          <a:p>
            <a:pPr>
              <a:spcBef>
                <a:spcPts val="100"/>
              </a:spcBef>
              <a:defRPr sz="800">
                <a:solidFill>
                  <a:srgbClr val="334155"/>
                </a:solidFill>
              </a:defRPr>
            </a:pPr>
            <a:r>
              <a:t>   Une même page peut référencer 5 à 15 affaires différentes. La segmentation est critique.</a:t>
            </a:r>
          </a:p>
        </p:txBody>
      </p:sp>
      <p:sp>
        <p:nvSpPr>
          <p:cNvPr id="22" name="Rectangle 21"/>
          <p:cNvSpPr/>
          <p:nvPr/>
        </p:nvSpPr>
        <p:spPr>
          <a:xfrm>
            <a:off x="347472" y="393192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Défi OCR : cursive + tableau + abréviations = 3 problèmes combinés.</a:t>
            </a:r>
          </a:p>
        </p:txBody>
      </p:sp>
      <p:sp>
        <p:nvSpPr>
          <p:cNvPr id="23" name="Rounded Rectangle 22"/>
          <p:cNvSpPr/>
          <p:nvPr/>
        </p:nvSpPr>
        <p:spPr>
          <a:xfrm>
            <a:off x="5852160" y="1591056"/>
            <a:ext cx="606521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737360"/>
          <a:lstStyle/>
          <a:p>
            <a:pPr algn="ctr">
              <a:defRPr sz="1000" b="1">
                <a:solidFill>
                  <a:srgbClr val="FFFFFF"/>
                </a:solidFill>
              </a:defRPr>
            </a:pPr>
            <a:r>
              <a:t>La filiation parcellaire</a:t>
            </a:r>
          </a:p>
        </p:txBody>
      </p:sp>
      <p:sp>
        <p:nvSpPr>
          <p:cNvPr id="25" name="Rectangle 24"/>
          <p:cNvSpPr/>
          <p:nvPr/>
        </p:nvSpPr>
        <p:spPr>
          <a:xfrm>
            <a:off x="10271455" y="1636776"/>
            <a:ext cx="15544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CHAÎNE D'ACTES</a:t>
            </a:r>
          </a:p>
        </p:txBody>
      </p:sp>
      <p:sp>
        <p:nvSpPr>
          <p:cNvPr id="26" name="TextBox 25"/>
          <p:cNvSpPr txBox="1"/>
          <p:nvPr/>
        </p:nvSpPr>
        <p:spPr>
          <a:xfrm>
            <a:off x="5961888" y="1956816"/>
            <a:ext cx="5845759" cy="1956816"/>
          </a:xfrm>
          <a:prstGeom prst="rect">
            <a:avLst/>
          </a:prstGeom>
          <a:noFill/>
        </p:spPr>
        <p:txBody>
          <a:bodyPr wrap="square" lIns="0" tIns="0" rIns="0" bIns="0">
            <a:spAutoFit/>
          </a:bodyPr>
          <a:lstStyle/>
          <a:p>
            <a:pPr>
              <a:defRPr sz="900" b="1">
                <a:solidFill>
                  <a:srgbClr val="0F172A"/>
                </a:solidFill>
              </a:defRPr>
            </a:pPr>
            <a:r>
              <a:t>•  Filiation parcellaire : le bornage sur bornage</a:t>
            </a:r>
          </a:p>
          <a:p>
            <a:pPr>
              <a:spcBef>
                <a:spcPts val="100"/>
              </a:spcBef>
              <a:defRPr sz="800">
                <a:solidFill>
                  <a:srgbClr val="334155"/>
                </a:solidFill>
              </a:defRPr>
            </a:pPr>
            <a:r>
              <a:t>   Quand une parcelle a déjà été bornée, tout acte ultérieur doit s'y référer. La filiation crée des chaînes d'actes.</a:t>
            </a:r>
          </a:p>
          <a:p>
            <a:pPr>
              <a:spcBef>
                <a:spcPts val="300"/>
              </a:spcBef>
              <a:defRPr sz="900" b="1">
                <a:solidFill>
                  <a:srgbClr val="0F172A"/>
                </a:solidFill>
              </a:defRPr>
            </a:pPr>
            <a:r>
              <a:t>•  Numérotation évolutive du cadastre</a:t>
            </a:r>
          </a:p>
          <a:p>
            <a:pPr>
              <a:spcBef>
                <a:spcPts val="100"/>
              </a:spcBef>
              <a:defRPr sz="800">
                <a:solidFill>
                  <a:srgbClr val="334155"/>
                </a:solidFill>
              </a:defRPr>
            </a:pPr>
            <a:r>
              <a:t>   Les numéros de parcelles changent lors des remaniements cadastraux. L'acte historique peut citer un numéro obsolète.</a:t>
            </a:r>
          </a:p>
          <a:p>
            <a:pPr>
              <a:spcBef>
                <a:spcPts val="300"/>
              </a:spcBef>
              <a:defRPr sz="900" b="1">
                <a:solidFill>
                  <a:srgbClr val="0F172A"/>
                </a:solidFill>
              </a:defRPr>
            </a:pPr>
            <a:r>
              <a:t>•  Contrôle de cohérence nécessaire</a:t>
            </a:r>
          </a:p>
          <a:p>
            <a:pPr>
              <a:spcBef>
                <a:spcPts val="100"/>
              </a:spcBef>
              <a:defRPr sz="800">
                <a:solidFill>
                  <a:srgbClr val="334155"/>
                </a:solidFill>
              </a:defRPr>
            </a:pPr>
            <a:r>
              <a:t>   Mon système vérifie les numéros INSEE, les dates et la surface via des règles déterministes (Levenshtein + regex).</a:t>
            </a:r>
          </a:p>
        </p:txBody>
      </p:sp>
      <p:sp>
        <p:nvSpPr>
          <p:cNvPr id="27" name="Rectangle 26"/>
          <p:cNvSpPr/>
          <p:nvPr/>
        </p:nvSpPr>
        <p:spPr>
          <a:xfrm>
            <a:off x="5925312" y="393192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La filiation impose une traçabilité des numéros de parcelles dans le temps.</a:t>
            </a:r>
          </a:p>
        </p:txBody>
      </p:sp>
      <p:sp>
        <p:nvSpPr>
          <p:cNvPr id="28" name="Rectangle 27"/>
          <p:cNvSpPr/>
          <p:nvPr/>
        </p:nvSpPr>
        <p:spPr>
          <a:xfrm>
            <a:off x="274320" y="4370832"/>
            <a:ext cx="11643055"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407408"/>
            <a:ext cx="11496751" cy="256032"/>
          </a:xfrm>
          <a:prstGeom prst="rect">
            <a:avLst/>
          </a:prstGeom>
          <a:noFill/>
        </p:spPr>
        <p:txBody>
          <a:bodyPr wrap="square" tIns="0" bIns="0" lIns="0" rIns="0">
            <a:spAutoFit/>
          </a:bodyPr>
          <a:lstStyle/>
          <a:p>
            <a:pPr algn="ctr">
              <a:defRPr sz="800" b="1">
                <a:solidFill>
                  <a:srgbClr val="0F2546"/>
                </a:solidFill>
              </a:defRPr>
            </a:pPr>
            <a:r>
              <a:t>EXTRAIT D'UN REGISTRE MANUSCRIT — CABINET GEO-SIAPP</a:t>
            </a:r>
          </a:p>
        </p:txBody>
      </p:sp>
      <p:pic>
        <p:nvPicPr>
          <p:cNvPr id="30" name="Picture 29" descr="4513_DA_124_centered_crop.png"/>
          <p:cNvPicPr>
            <a:picLocks noChangeAspect="1"/>
          </p:cNvPicPr>
          <p:nvPr/>
        </p:nvPicPr>
        <p:blipFill>
          <a:blip r:embed="rId2"/>
          <a:stretch>
            <a:fillRect/>
          </a:stretch>
        </p:blipFill>
        <p:spPr>
          <a:xfrm>
            <a:off x="3475526" y="4681728"/>
            <a:ext cx="5240642" cy="1499616"/>
          </a:xfrm>
          <a:prstGeom prst="rect">
            <a:avLst/>
          </a:prstGeom>
        </p:spPr>
      </p:pic>
      <p:sp>
        <p:nvSpPr>
          <p:cNvPr id="31" name="TextBox 30"/>
          <p:cNvSpPr txBox="1"/>
          <p:nvPr/>
        </p:nvSpPr>
        <p:spPr>
          <a:xfrm>
            <a:off x="347472" y="6236208"/>
            <a:ext cx="11496751" cy="219456"/>
          </a:xfrm>
          <a:prstGeom prst="rect">
            <a:avLst/>
          </a:prstGeom>
          <a:noFill/>
        </p:spPr>
        <p:txBody>
          <a:bodyPr wrap="square" tIns="0" bIns="0" lIns="0" rIns="0">
            <a:spAutoFit/>
          </a:bodyPr>
          <a:lstStyle/>
          <a:p>
            <a:pPr algn="ctr">
              <a:defRPr sz="750">
                <a:solidFill>
                  <a:srgbClr val="475569"/>
                </a:solidFill>
              </a:defRPr>
            </a:pPr>
            <a:r>
              <a:t>Structure tabulaire en colonnes avec abréviations de communes (ex. La Chap./A. = La Chapelle-sous-Aubenas)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81C87"/>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581C87"/>
                </a:solidFill>
              </a:defRPr>
            </a:pPr>
            <a:r>
              <a:t>CHAPITRE 3</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État de l'Art</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OCR/HTR, extraction d'entités, VLM et choix technologiques</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11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581C87"/>
          </a:solidFill>
          <a:ln w="19050">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3.1 OCR &amp; HTR</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3.2 GLiNER &amp; LayoutLM</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3.3 VLM &amp; Tableaux</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3.4 Synthèse</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3 — ÉTAT DE L'ART</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OCR &amp; HTR : lire les documents manuscrits anciens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12 / 35</a:t>
            </a:r>
          </a:p>
        </p:txBody>
      </p:sp>
      <p:sp>
        <p:nvSpPr>
          <p:cNvPr id="18" name="Rounded Rectangle 17"/>
          <p:cNvSpPr/>
          <p:nvPr/>
        </p:nvSpPr>
        <p:spPr>
          <a:xfrm>
            <a:off x="274320" y="1591056"/>
            <a:ext cx="5486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920240"/>
          <a:lstStyle/>
          <a:p>
            <a:pPr algn="ctr">
              <a:defRPr sz="1000" b="1">
                <a:solidFill>
                  <a:srgbClr val="FFFFFF"/>
                </a:solidFill>
              </a:defRPr>
            </a:pPr>
            <a:r>
              <a:t>Du OCR classique au HTR spécialisé</a:t>
            </a:r>
          </a:p>
        </p:txBody>
      </p:sp>
      <p:sp>
        <p:nvSpPr>
          <p:cNvPr id="20" name="Rectangle 19"/>
          <p:cNvSpPr/>
          <p:nvPr/>
        </p:nvSpPr>
        <p:spPr>
          <a:xfrm>
            <a:off x="3931920" y="1636776"/>
            <a:ext cx="1737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BAEK ET AL. 2019</a:t>
            </a:r>
          </a:p>
        </p:txBody>
      </p:sp>
      <p:sp>
        <p:nvSpPr>
          <p:cNvPr id="21" name="TextBox 20"/>
          <p:cNvSpPr txBox="1"/>
          <p:nvPr/>
        </p:nvSpPr>
        <p:spPr>
          <a:xfrm>
            <a:off x="384048" y="1956816"/>
            <a:ext cx="5266944" cy="2048256"/>
          </a:xfrm>
          <a:prstGeom prst="rect">
            <a:avLst/>
          </a:prstGeom>
          <a:noFill/>
        </p:spPr>
        <p:txBody>
          <a:bodyPr wrap="square" lIns="0" tIns="0" rIns="0" bIns="0">
            <a:spAutoFit/>
          </a:bodyPr>
          <a:lstStyle/>
          <a:p>
            <a:pPr>
              <a:defRPr sz="950" b="1">
                <a:solidFill>
                  <a:srgbClr val="0F172A"/>
                </a:solidFill>
              </a:defRPr>
            </a:pPr>
            <a:r>
              <a:t>•  OCR classique (Tesseract / EasyOCR)</a:t>
            </a:r>
          </a:p>
          <a:p>
            <a:pPr>
              <a:spcBef>
                <a:spcPts val="100"/>
              </a:spcBef>
              <a:defRPr sz="850">
                <a:solidFill>
                  <a:srgbClr val="334155"/>
                </a:solidFill>
              </a:defRPr>
            </a:pPr>
            <a:r>
              <a:t>   Adapté aux documents imprimés. Performances insuffisantes sur cursive historique (CER &gt; 30 %).</a:t>
            </a:r>
          </a:p>
          <a:p>
            <a:pPr>
              <a:spcBef>
                <a:spcPts val="500"/>
              </a:spcBef>
              <a:defRPr sz="950" b="1">
                <a:solidFill>
                  <a:srgbClr val="0F172A"/>
                </a:solidFill>
              </a:defRPr>
            </a:pPr>
            <a:r>
              <a:t>•  HTR — Handwritten Text Recognition</a:t>
            </a:r>
          </a:p>
          <a:p>
            <a:pPr>
              <a:spcBef>
                <a:spcPts val="100"/>
              </a:spcBef>
              <a:defRPr sz="850">
                <a:solidFill>
                  <a:srgbClr val="334155"/>
                </a:solidFill>
              </a:defRPr>
            </a:pPr>
            <a:r>
              <a:t>   Reconnaissance spécifique de l'écriture cursive. Modèles de référence : TrOCR (Microsoft), Kraken, Pylaia.</a:t>
            </a:r>
          </a:p>
          <a:p>
            <a:pPr>
              <a:spcBef>
                <a:spcPts val="500"/>
              </a:spcBef>
              <a:defRPr sz="950" b="1">
                <a:solidFill>
                  <a:srgbClr val="0F172A"/>
                </a:solidFill>
              </a:defRPr>
            </a:pPr>
            <a:r>
              <a:t>•  Pipeline retenu</a:t>
            </a:r>
          </a:p>
          <a:p>
            <a:pPr>
              <a:spcBef>
                <a:spcPts val="100"/>
              </a:spcBef>
              <a:defRPr sz="850">
                <a:solidFill>
                  <a:srgbClr val="334155"/>
                </a:solidFill>
              </a:defRPr>
            </a:pPr>
            <a:r>
              <a:t>   EasyOCR pour le texte imprimé + TrOCR fine-tuné pour les zones manuscrites identifiées par YOLOv8.</a:t>
            </a:r>
          </a:p>
        </p:txBody>
      </p:sp>
      <p:sp>
        <p:nvSpPr>
          <p:cNvPr id="22" name="Rectangle 21"/>
          <p:cNvSpPr/>
          <p:nvPr/>
        </p:nvSpPr>
        <p:spPr>
          <a:xfrm>
            <a:off x="347472" y="402336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Référence : What Is Wrong With Scene Text Recognition Model Comparisons? Baek et al. (2019) — ICCV</a:t>
            </a:r>
          </a:p>
        </p:txBody>
      </p:sp>
      <p:sp>
        <p:nvSpPr>
          <p:cNvPr id="23" name="Rounded Rectangle 22"/>
          <p:cNvSpPr/>
          <p:nvPr/>
        </p:nvSpPr>
        <p:spPr>
          <a:xfrm>
            <a:off x="5943600" y="1591056"/>
            <a:ext cx="597377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0" y="1591056"/>
            <a:ext cx="597377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737360"/>
          <a:lstStyle/>
          <a:p>
            <a:pPr algn="ctr">
              <a:defRPr sz="1000" b="1">
                <a:solidFill>
                  <a:srgbClr val="FFFFFF"/>
                </a:solidFill>
              </a:defRPr>
            </a:pPr>
            <a:r>
              <a:t>Les modèles de référence</a:t>
            </a:r>
          </a:p>
        </p:txBody>
      </p:sp>
      <p:sp>
        <p:nvSpPr>
          <p:cNvPr id="25" name="Rectangle 24"/>
          <p:cNvSpPr/>
          <p:nvPr/>
        </p:nvSpPr>
        <p:spPr>
          <a:xfrm>
            <a:off x="10271455" y="1636776"/>
            <a:ext cx="15544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MICROSOFT 2021</a:t>
            </a:r>
          </a:p>
        </p:txBody>
      </p:sp>
      <p:sp>
        <p:nvSpPr>
          <p:cNvPr id="26" name="TextBox 25"/>
          <p:cNvSpPr txBox="1"/>
          <p:nvPr/>
        </p:nvSpPr>
        <p:spPr>
          <a:xfrm>
            <a:off x="6053328" y="1956816"/>
            <a:ext cx="5754319" cy="2048256"/>
          </a:xfrm>
          <a:prstGeom prst="rect">
            <a:avLst/>
          </a:prstGeom>
          <a:noFill/>
        </p:spPr>
        <p:txBody>
          <a:bodyPr wrap="square" lIns="0" tIns="0" rIns="0" bIns="0">
            <a:spAutoFit/>
          </a:bodyPr>
          <a:lstStyle/>
          <a:p>
            <a:pPr>
              <a:defRPr sz="950" b="1">
                <a:solidFill>
                  <a:srgbClr val="0F172A"/>
                </a:solidFill>
              </a:defRPr>
            </a:pPr>
            <a:r>
              <a:t>•  Modèle Baek et al. (2019)</a:t>
            </a:r>
          </a:p>
          <a:p>
            <a:pPr>
              <a:spcBef>
                <a:spcPts val="100"/>
              </a:spcBef>
              <a:defRPr sz="850">
                <a:solidFill>
                  <a:srgbClr val="334155"/>
                </a:solidFill>
              </a:defRPr>
            </a:pPr>
            <a:r>
              <a:t>   Taxonomy unifiée de 4 étapes : transformation spatiale, extraction de features, modélisation séquentielle, prédiction.</a:t>
            </a:r>
          </a:p>
          <a:p>
            <a:pPr>
              <a:spcBef>
                <a:spcPts val="500"/>
              </a:spcBef>
              <a:defRPr sz="950" b="1">
                <a:solidFill>
                  <a:srgbClr val="0F172A"/>
                </a:solidFill>
              </a:defRPr>
            </a:pPr>
            <a:r>
              <a:t>•  TrOCR — Microsoft (2021)</a:t>
            </a:r>
          </a:p>
          <a:p>
            <a:pPr>
              <a:spcBef>
                <a:spcPts val="100"/>
              </a:spcBef>
              <a:defRPr sz="850">
                <a:solidFill>
                  <a:srgbClr val="334155"/>
                </a:solidFill>
              </a:defRPr>
            </a:pPr>
            <a:r>
              <a:t>   Transformer pur (ViT encoder + GPT-2 decoder). Fine-tunable sur corpus manuscrits historiques.</a:t>
            </a:r>
          </a:p>
          <a:p>
            <a:pPr>
              <a:spcBef>
                <a:spcPts val="500"/>
              </a:spcBef>
              <a:defRPr sz="950" b="1">
                <a:solidFill>
                  <a:srgbClr val="0F172A"/>
                </a:solidFill>
              </a:defRPr>
            </a:pPr>
            <a:r>
              <a:t>•  Kraken / Pylaia (HTR-United)</a:t>
            </a:r>
          </a:p>
          <a:p>
            <a:pPr>
              <a:spcBef>
                <a:spcPts val="100"/>
              </a:spcBef>
              <a:defRPr sz="850">
                <a:solidFill>
                  <a:srgbClr val="334155"/>
                </a:solidFill>
              </a:defRPr>
            </a:pPr>
            <a:r>
              <a:t>   Modèles open-source pré-entraînés sur archives françaises du XVIIIe–XIXe siècle via HTR-United.</a:t>
            </a:r>
          </a:p>
        </p:txBody>
      </p:sp>
      <p:sp>
        <p:nvSpPr>
          <p:cNvPr id="27" name="Rectangle 26"/>
          <p:cNvSpPr/>
          <p:nvPr/>
        </p:nvSpPr>
        <p:spPr>
          <a:xfrm>
            <a:off x="6016752" y="402336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TrOCR : pré-entraîné sur 684M documents, fine-tunable sur corpus français.</a:t>
            </a:r>
          </a:p>
        </p:txBody>
      </p:sp>
      <p:sp>
        <p:nvSpPr>
          <p:cNvPr id="28" name="Rectangle 27"/>
          <p:cNvSpPr/>
          <p:nvPr/>
        </p:nvSpPr>
        <p:spPr>
          <a:xfrm>
            <a:off x="274320" y="4480560"/>
            <a:ext cx="11643055" cy="19933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517136"/>
            <a:ext cx="11496751" cy="256032"/>
          </a:xfrm>
          <a:prstGeom prst="rect">
            <a:avLst/>
          </a:prstGeom>
          <a:noFill/>
        </p:spPr>
        <p:txBody>
          <a:bodyPr wrap="square" tIns="0" bIns="0" lIns="0" rIns="0">
            <a:spAutoFit/>
          </a:bodyPr>
          <a:lstStyle/>
          <a:p>
            <a:pPr algn="ctr">
              <a:defRPr sz="800" b="1">
                <a:solidFill>
                  <a:srgbClr val="0F2546"/>
                </a:solidFill>
              </a:defRPr>
            </a:pPr>
            <a:r>
              <a:t>PIPELINE DE RECONNAISSANCE OCR/HTR — BAEK ET AL. (ICCV 2019)</a:t>
            </a:r>
          </a:p>
        </p:txBody>
      </p:sp>
      <p:pic>
        <p:nvPicPr>
          <p:cNvPr id="30" name="Picture 29" descr="baek_ocr_pipeline_crop.png"/>
          <p:cNvPicPr>
            <a:picLocks noChangeAspect="1"/>
          </p:cNvPicPr>
          <p:nvPr/>
        </p:nvPicPr>
        <p:blipFill>
          <a:blip r:embed="rId2"/>
          <a:stretch>
            <a:fillRect/>
          </a:stretch>
        </p:blipFill>
        <p:spPr>
          <a:xfrm>
            <a:off x="2693401" y="4791456"/>
            <a:ext cx="6804891" cy="1389888"/>
          </a:xfrm>
          <a:prstGeom prst="rect">
            <a:avLst/>
          </a:prstGeom>
        </p:spPr>
      </p:pic>
      <p:sp>
        <p:nvSpPr>
          <p:cNvPr id="31" name="TextBox 30"/>
          <p:cNvSpPr txBox="1"/>
          <p:nvPr/>
        </p:nvSpPr>
        <p:spPr>
          <a:xfrm>
            <a:off x="347472" y="6236208"/>
            <a:ext cx="11496751" cy="219456"/>
          </a:xfrm>
          <a:prstGeom prst="rect">
            <a:avLst/>
          </a:prstGeom>
          <a:noFill/>
        </p:spPr>
        <p:txBody>
          <a:bodyPr wrap="square" tIns="0" bIns="0" lIns="0" rIns="0">
            <a:spAutoFit/>
          </a:bodyPr>
          <a:lstStyle/>
          <a:p>
            <a:pPr algn="ctr">
              <a:defRPr sz="750">
                <a:solidFill>
                  <a:srgbClr val="475569"/>
                </a:solidFill>
              </a:defRPr>
            </a:pPr>
            <a:r>
              <a:t>Les 4 étapes : transformation spatiale, extraction features, modélisation séq., prédiction (CTC/Attn)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581C87"/>
          </a:solidFill>
          <a:ln w="19050">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3.1 OCR &amp; HTR</a:t>
            </a:r>
          </a:p>
        </p:txBody>
      </p:sp>
      <p:sp>
        <p:nvSpPr>
          <p:cNvPr id="11" name="Rectangle 10"/>
          <p:cNvSpPr/>
          <p:nvPr/>
        </p:nvSpPr>
        <p:spPr>
          <a:xfrm>
            <a:off x="319879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3.2 GLiNER &amp; LayoutLM</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3.3 VLM &amp; Tableaux</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3.4 Synthèse</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3 — ÉTAT DE L'ART</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Extraction d'entités (NER) et traitement des tableaux complexes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13 / 35</a:t>
            </a:r>
          </a:p>
        </p:txBody>
      </p:sp>
      <p:sp>
        <p:nvSpPr>
          <p:cNvPr id="18" name="Rounded Rectangle 17"/>
          <p:cNvSpPr/>
          <p:nvPr/>
        </p:nvSpPr>
        <p:spPr>
          <a:xfrm>
            <a:off x="274320" y="1591056"/>
            <a:ext cx="5486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463040"/>
          <a:lstStyle/>
          <a:p>
            <a:pPr algn="ctr">
              <a:defRPr sz="1000" b="1">
                <a:solidFill>
                  <a:srgbClr val="FFFFFF"/>
                </a:solidFill>
              </a:defRPr>
            </a:pPr>
            <a:r>
              <a:t>NER : extraction des métadonnées clés</a:t>
            </a:r>
          </a:p>
        </p:txBody>
      </p:sp>
      <p:sp>
        <p:nvSpPr>
          <p:cNvPr id="20" name="Rectangle 19"/>
          <p:cNvSpPr/>
          <p:nvPr/>
        </p:nvSpPr>
        <p:spPr>
          <a:xfrm>
            <a:off x="4389120" y="1636776"/>
            <a:ext cx="12801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GLINER 2023</a:t>
            </a:r>
          </a:p>
        </p:txBody>
      </p:sp>
      <p:sp>
        <p:nvSpPr>
          <p:cNvPr id="21" name="TextBox 20"/>
          <p:cNvSpPr txBox="1"/>
          <p:nvPr/>
        </p:nvSpPr>
        <p:spPr>
          <a:xfrm>
            <a:off x="384048" y="1956816"/>
            <a:ext cx="5266944" cy="2048256"/>
          </a:xfrm>
          <a:prstGeom prst="rect">
            <a:avLst/>
          </a:prstGeom>
          <a:noFill/>
        </p:spPr>
        <p:txBody>
          <a:bodyPr wrap="square" lIns="0" tIns="0" rIns="0" bIns="0">
            <a:spAutoFit/>
          </a:bodyPr>
          <a:lstStyle/>
          <a:p>
            <a:pPr>
              <a:defRPr sz="950" b="1">
                <a:solidFill>
                  <a:srgbClr val="0F172A"/>
                </a:solidFill>
              </a:defRPr>
            </a:pPr>
            <a:r>
              <a:t>•  GLiNER (Zaratiana et al., 2023)</a:t>
            </a:r>
          </a:p>
          <a:p>
            <a:pPr>
              <a:spcBef>
                <a:spcPts val="100"/>
              </a:spcBef>
              <a:defRPr sz="850">
                <a:solidFill>
                  <a:srgbClr val="334155"/>
                </a:solidFill>
              </a:defRPr>
            </a:pPr>
            <a:r>
              <a:t>   NER zéro-shot généraliste. Entraîné sur PILE (825 GB), permet l'extraction sans fine-tuning sur un corpus spécifique.</a:t>
            </a:r>
          </a:p>
          <a:p>
            <a:pPr>
              <a:spcBef>
                <a:spcPts val="500"/>
              </a:spcBef>
              <a:defRPr sz="950" b="1">
                <a:solidFill>
                  <a:srgbClr val="0F172A"/>
                </a:solidFill>
              </a:defRPr>
            </a:pPr>
            <a:r>
              <a:t>•  LayoutLM (Microsoft, 2020)</a:t>
            </a:r>
          </a:p>
          <a:p>
            <a:pPr>
              <a:spcBef>
                <a:spcPts val="100"/>
              </a:spcBef>
              <a:defRPr sz="850">
                <a:solidFill>
                  <a:srgbClr val="334155"/>
                </a:solidFill>
              </a:defRPr>
            </a:pPr>
            <a:r>
              <a:t>   Transformer multimodal intégrant texte + coordonnées spatiales des boîtes. Performant sur formulaires structurés.</a:t>
            </a:r>
          </a:p>
          <a:p>
            <a:pPr>
              <a:spcBef>
                <a:spcPts val="500"/>
              </a:spcBef>
              <a:defRPr sz="950" b="1">
                <a:solidFill>
                  <a:srgbClr val="0F172A"/>
                </a:solidFill>
              </a:defRPr>
            </a:pPr>
            <a:r>
              <a:t>•  Choix GLiNER pour les registres</a:t>
            </a:r>
          </a:p>
          <a:p>
            <a:pPr>
              <a:spcBef>
                <a:spcPts val="100"/>
              </a:spcBef>
              <a:defRPr sz="850">
                <a:solidFill>
                  <a:srgbClr val="334155"/>
                </a:solidFill>
              </a:defRPr>
            </a:pPr>
            <a:r>
              <a:t>   Supérieur sur texte libre cursive. LayoutLM requiert une mise en forme tabulaire stricte, inadaptée aux registres variables.</a:t>
            </a:r>
          </a:p>
        </p:txBody>
      </p:sp>
      <p:sp>
        <p:nvSpPr>
          <p:cNvPr id="22" name="Rectangle 21"/>
          <p:cNvSpPr/>
          <p:nvPr/>
        </p:nvSpPr>
        <p:spPr>
          <a:xfrm>
            <a:off x="347472" y="402336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GitHub : urchade/GLiNER — Apache 2.0 — Entraîné sur PILE (825 GB de texte)</a:t>
            </a:r>
          </a:p>
        </p:txBody>
      </p:sp>
      <p:sp>
        <p:nvSpPr>
          <p:cNvPr id="23" name="Rounded Rectangle 22"/>
          <p:cNvSpPr/>
          <p:nvPr/>
        </p:nvSpPr>
        <p:spPr>
          <a:xfrm>
            <a:off x="5943600" y="1591056"/>
            <a:ext cx="597377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0" y="1591056"/>
            <a:ext cx="5973775"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VLM : arbitrage visuel local</a:t>
            </a:r>
          </a:p>
        </p:txBody>
      </p:sp>
      <p:sp>
        <p:nvSpPr>
          <p:cNvPr id="25" name="Rectangle 24"/>
          <p:cNvSpPr/>
          <p:nvPr/>
        </p:nvSpPr>
        <p:spPr>
          <a:xfrm>
            <a:off x="10454335"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6D28D9"/>
                </a:solidFill>
              </a:defRPr>
            </a:pPr>
            <a:r>
              <a:t>OLLAMA LOCAL</a:t>
            </a:r>
          </a:p>
        </p:txBody>
      </p:sp>
      <p:sp>
        <p:nvSpPr>
          <p:cNvPr id="26" name="TextBox 25"/>
          <p:cNvSpPr txBox="1"/>
          <p:nvPr/>
        </p:nvSpPr>
        <p:spPr>
          <a:xfrm>
            <a:off x="6053328" y="1956816"/>
            <a:ext cx="5754319" cy="2048256"/>
          </a:xfrm>
          <a:prstGeom prst="rect">
            <a:avLst/>
          </a:prstGeom>
          <a:noFill/>
        </p:spPr>
        <p:txBody>
          <a:bodyPr wrap="square" lIns="0" tIns="0" rIns="0" bIns="0">
            <a:spAutoFit/>
          </a:bodyPr>
          <a:lstStyle/>
          <a:p>
            <a:pPr>
              <a:defRPr sz="950" b="1">
                <a:solidFill>
                  <a:srgbClr val="0F172A"/>
                </a:solidFill>
              </a:defRPr>
            </a:pPr>
            <a:r>
              <a:t>•  VLM — Vision Language Model</a:t>
            </a:r>
          </a:p>
          <a:p>
            <a:pPr>
              <a:spcBef>
                <a:spcPts val="100"/>
              </a:spcBef>
              <a:defRPr sz="850">
                <a:solidFill>
                  <a:srgbClr val="334155"/>
                </a:solidFill>
              </a:defRPr>
            </a:pPr>
            <a:r>
              <a:t>   Modèles capables de comprendre simultanément image et texte (ex. LLaVA, Qwen-VL, Phi-3-Vision).</a:t>
            </a:r>
          </a:p>
          <a:p>
            <a:pPr>
              <a:spcBef>
                <a:spcPts val="500"/>
              </a:spcBef>
              <a:defRPr sz="950" b="1">
                <a:solidFill>
                  <a:srgbClr val="0F172A"/>
                </a:solidFill>
              </a:defRPr>
            </a:pPr>
            <a:r>
              <a:t>•  Ollama — inférence locale GPU</a:t>
            </a:r>
          </a:p>
          <a:p>
            <a:pPr>
              <a:spcBef>
                <a:spcPts val="100"/>
              </a:spcBef>
              <a:defRPr sz="850">
                <a:solidFill>
                  <a:srgbClr val="334155"/>
                </a:solidFill>
              </a:defRPr>
            </a:pPr>
            <a:r>
              <a:t>   Permet d'exécuter des VLM sur GPU local sans dépendance cloud. Modèles : llava:7b, qwen2-vl:7b.</a:t>
            </a:r>
          </a:p>
          <a:p>
            <a:pPr>
              <a:spcBef>
                <a:spcPts val="500"/>
              </a:spcBef>
              <a:defRPr sz="950" b="1">
                <a:solidFill>
                  <a:srgbClr val="0F172A"/>
                </a:solidFill>
              </a:defRPr>
            </a:pPr>
            <a:r>
              <a:t>•  Rôle dans le pipeline</a:t>
            </a:r>
          </a:p>
          <a:p>
            <a:pPr>
              <a:spcBef>
                <a:spcPts val="100"/>
              </a:spcBef>
              <a:defRPr sz="850">
                <a:solidFill>
                  <a:srgbClr val="334155"/>
                </a:solidFill>
              </a:defRPr>
            </a:pPr>
            <a:r>
              <a:t>   Arbitre de dernier recours quand OCR + GLiNER échouent à identifier la commune ou la date. N'est pas systématique.</a:t>
            </a:r>
          </a:p>
        </p:txBody>
      </p:sp>
      <p:sp>
        <p:nvSpPr>
          <p:cNvPr id="27" name="Rectangle 26"/>
          <p:cNvSpPr/>
          <p:nvPr/>
        </p:nvSpPr>
        <p:spPr>
          <a:xfrm>
            <a:off x="6016752" y="402336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Ollama : https://ollama.ai — MIT License — GPU local requis (≥ 8 Go VRAM)</a:t>
            </a:r>
          </a:p>
        </p:txBody>
      </p:sp>
      <p:sp>
        <p:nvSpPr>
          <p:cNvPr id="28" name="TextBox 27"/>
          <p:cNvSpPr txBox="1"/>
          <p:nvPr/>
        </p:nvSpPr>
        <p:spPr>
          <a:xfrm>
            <a:off x="274320" y="4462272"/>
            <a:ext cx="11643055" cy="237744"/>
          </a:xfrm>
          <a:prstGeom prst="rect">
            <a:avLst/>
          </a:prstGeom>
          <a:noFill/>
        </p:spPr>
        <p:txBody>
          <a:bodyPr wrap="none">
            <a:spAutoFit/>
          </a:bodyPr>
          <a:lstStyle/>
          <a:p>
            <a:pPr>
              <a:defRPr sz="800" b="1">
                <a:solidFill>
                  <a:srgbClr val="0284C7"/>
                </a:solidFill>
              </a:defRPr>
            </a:pPr>
            <a:r>
              <a:t>COMPARAISON DES APPROCHES</a:t>
            </a:r>
          </a:p>
        </p:txBody>
      </p:sp>
      <p:sp>
        <p:nvSpPr>
          <p:cNvPr id="29" name="Rectangle 28"/>
          <p:cNvSpPr/>
          <p:nvPr/>
        </p:nvSpPr>
        <p:spPr>
          <a:xfrm>
            <a:off x="274320" y="4718304"/>
            <a:ext cx="2194560" cy="292608"/>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Technologie</a:t>
            </a:r>
          </a:p>
        </p:txBody>
      </p:sp>
      <p:sp>
        <p:nvSpPr>
          <p:cNvPr id="30" name="Rectangle 29"/>
          <p:cNvSpPr/>
          <p:nvPr/>
        </p:nvSpPr>
        <p:spPr>
          <a:xfrm>
            <a:off x="2578608" y="4718304"/>
            <a:ext cx="1645920" cy="292608"/>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Type</a:t>
            </a:r>
          </a:p>
        </p:txBody>
      </p:sp>
      <p:sp>
        <p:nvSpPr>
          <p:cNvPr id="31" name="Rectangle 30"/>
          <p:cNvSpPr/>
          <p:nvPr/>
        </p:nvSpPr>
        <p:spPr>
          <a:xfrm>
            <a:off x="4334256" y="4718304"/>
            <a:ext cx="3657600" cy="292608"/>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Force principale</a:t>
            </a:r>
          </a:p>
        </p:txBody>
      </p:sp>
      <p:sp>
        <p:nvSpPr>
          <p:cNvPr id="32" name="Rectangle 31"/>
          <p:cNvSpPr/>
          <p:nvPr/>
        </p:nvSpPr>
        <p:spPr>
          <a:xfrm>
            <a:off x="8101583" y="4718304"/>
            <a:ext cx="3657600" cy="292608"/>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Limite</a:t>
            </a:r>
          </a:p>
        </p:txBody>
      </p:sp>
      <p:sp>
        <p:nvSpPr>
          <p:cNvPr id="33" name="Rectangle 32"/>
          <p:cNvSpPr/>
          <p:nvPr/>
        </p:nvSpPr>
        <p:spPr>
          <a:xfrm>
            <a:off x="274320" y="5010912"/>
            <a:ext cx="219456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1">
                <a:solidFill>
                  <a:srgbClr val="0F172A"/>
                </a:solidFill>
              </a:defRPr>
            </a:pPr>
            <a:r>
              <a:t>EasyOCR</a:t>
            </a:r>
          </a:p>
        </p:txBody>
      </p:sp>
      <p:sp>
        <p:nvSpPr>
          <p:cNvPr id="34" name="Rectangle 33"/>
          <p:cNvSpPr/>
          <p:nvPr/>
        </p:nvSpPr>
        <p:spPr>
          <a:xfrm>
            <a:off x="2578608" y="5010912"/>
            <a:ext cx="164592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OCR</a:t>
            </a:r>
          </a:p>
        </p:txBody>
      </p:sp>
      <p:sp>
        <p:nvSpPr>
          <p:cNvPr id="35" name="Rectangle 34"/>
          <p:cNvSpPr/>
          <p:nvPr/>
        </p:nvSpPr>
        <p:spPr>
          <a:xfrm>
            <a:off x="4334256" y="5010912"/>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Rapide, multilingue</a:t>
            </a:r>
          </a:p>
        </p:txBody>
      </p:sp>
      <p:sp>
        <p:nvSpPr>
          <p:cNvPr id="36" name="Rectangle 35"/>
          <p:cNvSpPr/>
          <p:nvPr/>
        </p:nvSpPr>
        <p:spPr>
          <a:xfrm>
            <a:off x="8101583" y="5010912"/>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Cursive &lt; 70 % CER</a:t>
            </a:r>
          </a:p>
        </p:txBody>
      </p:sp>
      <p:sp>
        <p:nvSpPr>
          <p:cNvPr id="37" name="Rectangle 36"/>
          <p:cNvSpPr/>
          <p:nvPr/>
        </p:nvSpPr>
        <p:spPr>
          <a:xfrm>
            <a:off x="274320" y="5303520"/>
            <a:ext cx="219456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1">
                <a:solidFill>
                  <a:srgbClr val="0F172A"/>
                </a:solidFill>
              </a:defRPr>
            </a:pPr>
            <a:r>
              <a:t>TrOCR</a:t>
            </a:r>
          </a:p>
        </p:txBody>
      </p:sp>
      <p:sp>
        <p:nvSpPr>
          <p:cNvPr id="38" name="Rectangle 37"/>
          <p:cNvSpPr/>
          <p:nvPr/>
        </p:nvSpPr>
        <p:spPr>
          <a:xfrm>
            <a:off x="2578608" y="5303520"/>
            <a:ext cx="164592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HTR</a:t>
            </a:r>
          </a:p>
        </p:txBody>
      </p:sp>
      <p:sp>
        <p:nvSpPr>
          <p:cNvPr id="39" name="Rectangle 38"/>
          <p:cNvSpPr/>
          <p:nvPr/>
        </p:nvSpPr>
        <p:spPr>
          <a:xfrm>
            <a:off x="4334256" y="5303520"/>
            <a:ext cx="365760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Manuscrit historique</a:t>
            </a:r>
          </a:p>
        </p:txBody>
      </p:sp>
      <p:sp>
        <p:nvSpPr>
          <p:cNvPr id="40" name="Rectangle 39"/>
          <p:cNvSpPr/>
          <p:nvPr/>
        </p:nvSpPr>
        <p:spPr>
          <a:xfrm>
            <a:off x="8101583" y="5303520"/>
            <a:ext cx="365760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Fine-tuning requis</a:t>
            </a:r>
          </a:p>
        </p:txBody>
      </p:sp>
      <p:sp>
        <p:nvSpPr>
          <p:cNvPr id="41" name="Rectangle 40"/>
          <p:cNvSpPr/>
          <p:nvPr/>
        </p:nvSpPr>
        <p:spPr>
          <a:xfrm>
            <a:off x="274320" y="5596128"/>
            <a:ext cx="219456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1">
                <a:solidFill>
                  <a:srgbClr val="0F172A"/>
                </a:solidFill>
              </a:defRPr>
            </a:pPr>
            <a:r>
              <a:t>GLiNER</a:t>
            </a:r>
          </a:p>
        </p:txBody>
      </p:sp>
      <p:sp>
        <p:nvSpPr>
          <p:cNvPr id="42" name="Rectangle 41"/>
          <p:cNvSpPr/>
          <p:nvPr/>
        </p:nvSpPr>
        <p:spPr>
          <a:xfrm>
            <a:off x="2578608" y="5596128"/>
            <a:ext cx="164592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NER</a:t>
            </a:r>
          </a:p>
        </p:txBody>
      </p:sp>
      <p:sp>
        <p:nvSpPr>
          <p:cNvPr id="43" name="Rectangle 42"/>
          <p:cNvSpPr/>
          <p:nvPr/>
        </p:nvSpPr>
        <p:spPr>
          <a:xfrm>
            <a:off x="4334256" y="5596128"/>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Zéro-shot, flexible</a:t>
            </a:r>
          </a:p>
        </p:txBody>
      </p:sp>
      <p:sp>
        <p:nvSpPr>
          <p:cNvPr id="44" name="Rectangle 43"/>
          <p:cNvSpPr/>
          <p:nvPr/>
        </p:nvSpPr>
        <p:spPr>
          <a:xfrm>
            <a:off x="8101583" y="5596128"/>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Contexte long &lt; LayoutLM</a:t>
            </a:r>
          </a:p>
        </p:txBody>
      </p:sp>
      <p:sp>
        <p:nvSpPr>
          <p:cNvPr id="45" name="Rectangle 44"/>
          <p:cNvSpPr/>
          <p:nvPr/>
        </p:nvSpPr>
        <p:spPr>
          <a:xfrm>
            <a:off x="274320" y="5888736"/>
            <a:ext cx="219456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1">
                <a:solidFill>
                  <a:srgbClr val="0F172A"/>
                </a:solidFill>
              </a:defRPr>
            </a:pPr>
            <a:r>
              <a:t>LayoutLM</a:t>
            </a:r>
          </a:p>
        </p:txBody>
      </p:sp>
      <p:sp>
        <p:nvSpPr>
          <p:cNvPr id="46" name="Rectangle 45"/>
          <p:cNvSpPr/>
          <p:nvPr/>
        </p:nvSpPr>
        <p:spPr>
          <a:xfrm>
            <a:off x="2578608" y="5888736"/>
            <a:ext cx="164592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NER+Layout</a:t>
            </a:r>
          </a:p>
        </p:txBody>
      </p:sp>
      <p:sp>
        <p:nvSpPr>
          <p:cNvPr id="47" name="Rectangle 46"/>
          <p:cNvSpPr/>
          <p:nvPr/>
        </p:nvSpPr>
        <p:spPr>
          <a:xfrm>
            <a:off x="4334256" y="5888736"/>
            <a:ext cx="365760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Formulaires structurés</a:t>
            </a:r>
          </a:p>
        </p:txBody>
      </p:sp>
      <p:sp>
        <p:nvSpPr>
          <p:cNvPr id="48" name="Rectangle 47"/>
          <p:cNvSpPr/>
          <p:nvPr/>
        </p:nvSpPr>
        <p:spPr>
          <a:xfrm>
            <a:off x="8101583" y="5888736"/>
            <a:ext cx="3657600" cy="292608"/>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Inadapté cursive libre</a:t>
            </a:r>
          </a:p>
        </p:txBody>
      </p:sp>
      <p:sp>
        <p:nvSpPr>
          <p:cNvPr id="49" name="Rectangle 48"/>
          <p:cNvSpPr/>
          <p:nvPr/>
        </p:nvSpPr>
        <p:spPr>
          <a:xfrm>
            <a:off x="274320" y="6181344"/>
            <a:ext cx="219456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1">
                <a:solidFill>
                  <a:srgbClr val="0F172A"/>
                </a:solidFill>
              </a:defRPr>
            </a:pPr>
            <a:r>
              <a:t>VLM (LLaVA)</a:t>
            </a:r>
          </a:p>
        </p:txBody>
      </p:sp>
      <p:sp>
        <p:nvSpPr>
          <p:cNvPr id="50" name="Rectangle 49"/>
          <p:cNvSpPr/>
          <p:nvPr/>
        </p:nvSpPr>
        <p:spPr>
          <a:xfrm>
            <a:off x="2578608" y="6181344"/>
            <a:ext cx="164592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Multimodal</a:t>
            </a:r>
          </a:p>
        </p:txBody>
      </p:sp>
      <p:sp>
        <p:nvSpPr>
          <p:cNvPr id="51" name="Rectangle 50"/>
          <p:cNvSpPr/>
          <p:nvPr/>
        </p:nvSpPr>
        <p:spPr>
          <a:xfrm>
            <a:off x="4334256" y="6181344"/>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Ambiguïté visuelle</a:t>
            </a:r>
          </a:p>
        </p:txBody>
      </p:sp>
      <p:sp>
        <p:nvSpPr>
          <p:cNvPr id="52" name="Rectangle 51"/>
          <p:cNvSpPr/>
          <p:nvPr/>
        </p:nvSpPr>
        <p:spPr>
          <a:xfrm>
            <a:off x="8101583" y="6181344"/>
            <a:ext cx="3657600" cy="292608"/>
          </a:xfrm>
          <a:prstGeom prst="rect">
            <a:avLst/>
          </a:prstGeom>
          <a:solidFill>
            <a:srgbClr val="F1F5F9"/>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54864"/>
          <a:lstStyle/>
          <a:p>
            <a:pPr algn="ctr">
              <a:defRPr sz="750" b="0">
                <a:solidFill>
                  <a:srgbClr val="0F172A"/>
                </a:solidFill>
              </a:defRPr>
            </a:pPr>
            <a:r>
              <a:t>Lent (~8s/page GPU)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581C87"/>
          </a:solidFill>
          <a:ln w="19050">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3.1 OCR &amp; HTR</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3.2 GLiNER &amp; LayoutLM</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3.3 VLM &amp; Tableaux</a:t>
            </a:r>
          </a:p>
        </p:txBody>
      </p:sp>
      <p:sp>
        <p:nvSpPr>
          <p:cNvPr id="13" name="Rectangle 12"/>
          <p:cNvSpPr/>
          <p:nvPr/>
        </p:nvSpPr>
        <p:spPr>
          <a:xfrm>
            <a:off x="904775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3.4 Synthèse</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3 — ÉTAT DE L'ART</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Synthèse des choix technologiques et justification</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14 / 35</a:t>
            </a:r>
          </a:p>
        </p:txBody>
      </p:sp>
      <p:sp>
        <p:nvSpPr>
          <p:cNvPr id="18" name="Rounded Rectangle 17"/>
          <p:cNvSpPr/>
          <p:nvPr/>
        </p:nvSpPr>
        <p:spPr>
          <a:xfrm>
            <a:off x="274320" y="1591056"/>
            <a:ext cx="56692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66928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097280"/>
          <a:lstStyle/>
          <a:p>
            <a:pPr algn="ctr">
              <a:defRPr sz="1000" b="1">
                <a:solidFill>
                  <a:srgbClr val="FFFFFF"/>
                </a:solidFill>
              </a:defRPr>
            </a:pPr>
            <a:r>
              <a:t>EasyOCR + TrOCR</a:t>
            </a:r>
          </a:p>
        </p:txBody>
      </p:sp>
      <p:sp>
        <p:nvSpPr>
          <p:cNvPr id="20" name="Rectangle 19"/>
          <p:cNvSpPr/>
          <p:nvPr/>
        </p:nvSpPr>
        <p:spPr>
          <a:xfrm>
            <a:off x="4937760" y="1636776"/>
            <a:ext cx="9144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LECTURE</a:t>
            </a:r>
          </a:p>
        </p:txBody>
      </p:sp>
      <p:sp>
        <p:nvSpPr>
          <p:cNvPr id="21" name="TextBox 20"/>
          <p:cNvSpPr txBox="1"/>
          <p:nvPr/>
        </p:nvSpPr>
        <p:spPr>
          <a:xfrm>
            <a:off x="384048" y="1956816"/>
            <a:ext cx="5449824" cy="2139696"/>
          </a:xfrm>
          <a:prstGeom prst="rect">
            <a:avLst/>
          </a:prstGeom>
          <a:noFill/>
        </p:spPr>
        <p:txBody>
          <a:bodyPr wrap="square" lIns="0" tIns="0" rIns="0" bIns="0">
            <a:spAutoFit/>
          </a:bodyPr>
          <a:lstStyle/>
          <a:p>
            <a:pPr>
              <a:defRPr sz="900" b="1">
                <a:solidFill>
                  <a:srgbClr val="0F172A"/>
                </a:solidFill>
              </a:defRPr>
            </a:pPr>
            <a:r>
              <a:t>•  EasyOCR pour le texte imprimé (rapide, multilingue)</a:t>
            </a:r>
          </a:p>
          <a:p>
            <a:pPr>
              <a:spcBef>
                <a:spcPts val="300"/>
              </a:spcBef>
              <a:defRPr sz="900" b="1">
                <a:solidFill>
                  <a:srgbClr val="0F172A"/>
                </a:solidFill>
              </a:defRPr>
            </a:pPr>
            <a:r>
              <a:t>•  TrOCR fine-tuné pour les zones manuscrites identifiées par YOLO</a:t>
            </a:r>
          </a:p>
          <a:p>
            <a:pPr>
              <a:spcBef>
                <a:spcPts val="300"/>
              </a:spcBef>
              <a:defRPr sz="900" b="1">
                <a:solidFill>
                  <a:srgbClr val="0F172A"/>
                </a:solidFill>
              </a:defRPr>
            </a:pPr>
            <a:r>
              <a:t>•  Combinaison : couverture totale sans perdre en précision</a:t>
            </a:r>
          </a:p>
        </p:txBody>
      </p:sp>
      <p:sp>
        <p:nvSpPr>
          <p:cNvPr id="22" name="Rounded Rectangle 21"/>
          <p:cNvSpPr/>
          <p:nvPr/>
        </p:nvSpPr>
        <p:spPr>
          <a:xfrm>
            <a:off x="6035040" y="1591056"/>
            <a:ext cx="5882335"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0" y="1591056"/>
            <a:ext cx="588233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YOLOv8 (Ultralytics)</a:t>
            </a:r>
          </a:p>
        </p:txBody>
      </p:sp>
      <p:sp>
        <p:nvSpPr>
          <p:cNvPr id="24" name="Rectangle 23"/>
          <p:cNvSpPr/>
          <p:nvPr/>
        </p:nvSpPr>
        <p:spPr>
          <a:xfrm>
            <a:off x="10454335"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SEGMENTATION</a:t>
            </a:r>
          </a:p>
        </p:txBody>
      </p:sp>
      <p:sp>
        <p:nvSpPr>
          <p:cNvPr id="25" name="TextBox 24"/>
          <p:cNvSpPr txBox="1"/>
          <p:nvPr/>
        </p:nvSpPr>
        <p:spPr>
          <a:xfrm>
            <a:off x="6144768" y="1956816"/>
            <a:ext cx="5662879" cy="2139696"/>
          </a:xfrm>
          <a:prstGeom prst="rect">
            <a:avLst/>
          </a:prstGeom>
          <a:noFill/>
        </p:spPr>
        <p:txBody>
          <a:bodyPr wrap="square" lIns="0" tIns="0" rIns="0" bIns="0">
            <a:spAutoFit/>
          </a:bodyPr>
          <a:lstStyle/>
          <a:p>
            <a:pPr>
              <a:defRPr sz="900" b="1">
                <a:solidFill>
                  <a:srgbClr val="0F172A"/>
                </a:solidFill>
              </a:defRPr>
            </a:pPr>
            <a:r>
              <a:t>•  Détection des zones : cartouche, tableau parcelles, notes marginales</a:t>
            </a:r>
          </a:p>
          <a:p>
            <a:pPr>
              <a:spcBef>
                <a:spcPts val="300"/>
              </a:spcBef>
              <a:defRPr sz="900" b="1">
                <a:solidFill>
                  <a:srgbClr val="0F172A"/>
                </a:solidFill>
              </a:defRPr>
            </a:pPr>
            <a:r>
              <a:t>•  Modèle le plus léger de la famille YOLO (8M paramètres, ~20ms/image)</a:t>
            </a:r>
          </a:p>
          <a:p>
            <a:pPr>
              <a:spcBef>
                <a:spcPts val="300"/>
              </a:spcBef>
              <a:defRPr sz="900" b="1">
                <a:solidFill>
                  <a:srgbClr val="0F172A"/>
                </a:solidFill>
              </a:defRPr>
            </a:pPr>
            <a:r>
              <a:t>•  Fine-tuné sur 400 images annotées du fonds SIAPP</a:t>
            </a:r>
          </a:p>
        </p:txBody>
      </p:sp>
      <p:sp>
        <p:nvSpPr>
          <p:cNvPr id="26" name="Rounded Rectangle 25"/>
          <p:cNvSpPr/>
          <p:nvPr/>
        </p:nvSpPr>
        <p:spPr>
          <a:xfrm>
            <a:off x="274320" y="4279392"/>
            <a:ext cx="566928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279392"/>
            <a:ext cx="5669280" cy="32918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737360"/>
          <a:lstStyle/>
          <a:p>
            <a:pPr algn="ctr">
              <a:defRPr sz="1000" b="1">
                <a:solidFill>
                  <a:srgbClr val="FFFFFF"/>
                </a:solidFill>
              </a:defRPr>
            </a:pPr>
            <a:r>
              <a:t>GLiNER (zéro-shot)</a:t>
            </a:r>
          </a:p>
        </p:txBody>
      </p:sp>
      <p:sp>
        <p:nvSpPr>
          <p:cNvPr id="28" name="Rectangle 27"/>
          <p:cNvSpPr/>
          <p:nvPr/>
        </p:nvSpPr>
        <p:spPr>
          <a:xfrm>
            <a:off x="4297680" y="4325112"/>
            <a:ext cx="15544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65F46"/>
                </a:solidFill>
              </a:defRPr>
            </a:pPr>
            <a:r>
              <a:t>EXTRACTION NER</a:t>
            </a:r>
          </a:p>
        </p:txBody>
      </p:sp>
      <p:sp>
        <p:nvSpPr>
          <p:cNvPr id="29" name="TextBox 28"/>
          <p:cNvSpPr txBox="1"/>
          <p:nvPr/>
        </p:nvSpPr>
        <p:spPr>
          <a:xfrm>
            <a:off x="384048" y="4645152"/>
            <a:ext cx="5449824" cy="2048256"/>
          </a:xfrm>
          <a:prstGeom prst="rect">
            <a:avLst/>
          </a:prstGeom>
          <a:noFill/>
        </p:spPr>
        <p:txBody>
          <a:bodyPr wrap="square" lIns="0" tIns="0" rIns="0" bIns="0">
            <a:spAutoFit/>
          </a:bodyPr>
          <a:lstStyle/>
          <a:p>
            <a:pPr>
              <a:defRPr sz="900" b="1">
                <a:solidFill>
                  <a:srgbClr val="0F172A"/>
                </a:solidFill>
              </a:defRPr>
            </a:pPr>
            <a:r>
              <a:t>•  Extraction des 5 champs cibles sans données d'entraînement spécifiques</a:t>
            </a:r>
          </a:p>
          <a:p>
            <a:pPr>
              <a:spcBef>
                <a:spcPts val="300"/>
              </a:spcBef>
              <a:defRPr sz="900" b="1">
                <a:solidFill>
                  <a:srgbClr val="0F172A"/>
                </a:solidFill>
              </a:defRPr>
            </a:pPr>
            <a:r>
              <a:t>•  Supérieur à LayoutLM sur texte libre cursive non structuré</a:t>
            </a:r>
          </a:p>
          <a:p>
            <a:pPr>
              <a:spcBef>
                <a:spcPts val="300"/>
              </a:spcBef>
              <a:defRPr sz="900" b="1">
                <a:solidFill>
                  <a:srgbClr val="0F172A"/>
                </a:solidFill>
              </a:defRPr>
            </a:pPr>
            <a:r>
              <a:t>•  Intégré via Hugging Face — modèle urchade/gliner-multitask-large-v0.5</a:t>
            </a:r>
          </a:p>
        </p:txBody>
      </p:sp>
      <p:sp>
        <p:nvSpPr>
          <p:cNvPr id="30" name="Rounded Rectangle 29"/>
          <p:cNvSpPr/>
          <p:nvPr/>
        </p:nvSpPr>
        <p:spPr>
          <a:xfrm>
            <a:off x="6035040" y="4279392"/>
            <a:ext cx="5882335"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4279392"/>
            <a:ext cx="5882335"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280160"/>
          <a:lstStyle/>
          <a:p>
            <a:pPr algn="ctr">
              <a:defRPr sz="1000" b="1">
                <a:solidFill>
                  <a:srgbClr val="FFFFFF"/>
                </a:solidFill>
              </a:defRPr>
            </a:pPr>
            <a:r>
              <a:t>VLM Ollama (local)</a:t>
            </a:r>
          </a:p>
        </p:txBody>
      </p:sp>
      <p:sp>
        <p:nvSpPr>
          <p:cNvPr id="32" name="Rectangle 31"/>
          <p:cNvSpPr/>
          <p:nvPr/>
        </p:nvSpPr>
        <p:spPr>
          <a:xfrm>
            <a:off x="10728655" y="4325112"/>
            <a:ext cx="10972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6D28D9"/>
                </a:solidFill>
              </a:defRPr>
            </a:pPr>
            <a:r>
              <a:t>ARBITRAGE</a:t>
            </a:r>
          </a:p>
        </p:txBody>
      </p:sp>
      <p:sp>
        <p:nvSpPr>
          <p:cNvPr id="33" name="TextBox 32"/>
          <p:cNvSpPr txBox="1"/>
          <p:nvPr/>
        </p:nvSpPr>
        <p:spPr>
          <a:xfrm>
            <a:off x="6144768" y="4645152"/>
            <a:ext cx="5662879" cy="2048256"/>
          </a:xfrm>
          <a:prstGeom prst="rect">
            <a:avLst/>
          </a:prstGeom>
          <a:noFill/>
        </p:spPr>
        <p:txBody>
          <a:bodyPr wrap="square" lIns="0" tIns="0" rIns="0" bIns="0">
            <a:spAutoFit/>
          </a:bodyPr>
          <a:lstStyle/>
          <a:p>
            <a:pPr>
              <a:defRPr sz="900" b="1">
                <a:solidFill>
                  <a:srgbClr val="0F172A"/>
                </a:solidFill>
              </a:defRPr>
            </a:pPr>
            <a:r>
              <a:t>•  Résolution des ambiguïtés de communes (La Chap./A.) par analyse visuelle</a:t>
            </a:r>
          </a:p>
          <a:p>
            <a:pPr>
              <a:spcBef>
                <a:spcPts val="300"/>
              </a:spcBef>
              <a:defRPr sz="900" b="1">
                <a:solidFill>
                  <a:srgbClr val="0F172A"/>
                </a:solidFill>
              </a:defRPr>
            </a:pPr>
            <a:r>
              <a:t>•  LLaVA 7B ou Qwen2-VL 7B selon disponibilité GPU (≥ 8 Go VRAM)</a:t>
            </a:r>
          </a:p>
          <a:p>
            <a:pPr>
              <a:spcBef>
                <a:spcPts val="300"/>
              </a:spcBef>
              <a:defRPr sz="900" b="1">
                <a:solidFill>
                  <a:srgbClr val="0F172A"/>
                </a:solidFill>
              </a:defRPr>
            </a:pPr>
            <a:r>
              <a:t>•  Dernier recours uniquement : activé si score GLiNER &lt; 0.65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5F46"/>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65F46"/>
                </a:solidFill>
              </a:defRPr>
            </a:pPr>
            <a:r>
              <a:t>CHAPITRE 4</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Architecture &amp; Pipeline</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6 scripts modulaires, prétraitement, YOLOv8, GLiNER et arbitrage VLM</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15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065F46"/>
          </a:solidFill>
          <a:ln w="1905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4.1 Architecture</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4.2 Prétraitement</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4.3 YOLOv8 &amp; GLiNER</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4.4 Arbitrage VLM</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4 — ARCHITECTURE &amp; PIPELINE</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Architecture logicielle : 6 scripts Python modulaires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16 / 35</a:t>
            </a:r>
          </a:p>
        </p:txBody>
      </p:sp>
      <p:sp>
        <p:nvSpPr>
          <p:cNvPr id="18" name="Rounded Rectangle 17"/>
          <p:cNvSpPr/>
          <p:nvPr/>
        </p:nvSpPr>
        <p:spPr>
          <a:xfrm>
            <a:off x="274320" y="1591056"/>
            <a:ext cx="1892807" cy="2066543"/>
          </a:xfrm>
          <a:prstGeom prst="roundRect">
            <a:avLst/>
          </a:prstGeom>
          <a:solidFill>
            <a:srgbClr val="FFFFFF"/>
          </a:solidFill>
          <a:ln w="25400">
            <a:solidFill>
              <a:srgbClr val="0F25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1892807" cy="310896"/>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1609344"/>
            <a:ext cx="274320" cy="274320"/>
          </a:xfrm>
          <a:prstGeom prst="rect">
            <a:avLst/>
          </a:prstGeom>
          <a:noFill/>
        </p:spPr>
        <p:txBody>
          <a:bodyPr wrap="none" lIns="0" tIns="0" rIns="0" bIns="0">
            <a:spAutoFit/>
          </a:bodyPr>
          <a:lstStyle/>
          <a:p>
            <a:pPr>
              <a:defRPr sz="1100" b="1">
                <a:solidFill>
                  <a:srgbClr val="FFFFFF"/>
                </a:solidFill>
              </a:defRPr>
            </a:pPr>
            <a:r>
              <a:t>1</a:t>
            </a:r>
          </a:p>
        </p:txBody>
      </p:sp>
      <p:sp>
        <p:nvSpPr>
          <p:cNvPr id="21" name="TextBox 20"/>
          <p:cNvSpPr txBox="1"/>
          <p:nvPr/>
        </p:nvSpPr>
        <p:spPr>
          <a:xfrm>
            <a:off x="347472" y="1956816"/>
            <a:ext cx="1746504" cy="292608"/>
          </a:xfrm>
          <a:prstGeom prst="rect">
            <a:avLst/>
          </a:prstGeom>
          <a:noFill/>
        </p:spPr>
        <p:txBody>
          <a:bodyPr wrap="square" lIns="0" tIns="0" rIns="0" bIns="0">
            <a:spAutoFit/>
          </a:bodyPr>
          <a:lstStyle/>
          <a:p>
            <a:pPr>
              <a:defRPr sz="850" b="1">
                <a:solidFill>
                  <a:srgbClr val="0F2546"/>
                </a:solidFill>
              </a:defRPr>
            </a:pPr>
            <a:r>
              <a:t>main.py</a:t>
            </a:r>
          </a:p>
        </p:txBody>
      </p:sp>
      <p:sp>
        <p:nvSpPr>
          <p:cNvPr id="22" name="TextBox 21"/>
          <p:cNvSpPr txBox="1"/>
          <p:nvPr/>
        </p:nvSpPr>
        <p:spPr>
          <a:xfrm>
            <a:off x="347472" y="2286000"/>
            <a:ext cx="1746504" cy="237744"/>
          </a:xfrm>
          <a:prstGeom prst="rect">
            <a:avLst/>
          </a:prstGeom>
          <a:noFill/>
        </p:spPr>
        <p:txBody>
          <a:bodyPr wrap="square" lIns="0" tIns="0" rIns="0" bIns="0">
            <a:spAutoFit/>
          </a:bodyPr>
          <a:lstStyle/>
          <a:p>
            <a:pPr>
              <a:defRPr sz="800" b="1">
                <a:solidFill>
                  <a:srgbClr val="0F172A"/>
                </a:solidFill>
              </a:defRPr>
            </a:pPr>
            <a:r>
              <a:t>Orchestrateur</a:t>
            </a:r>
          </a:p>
        </p:txBody>
      </p:sp>
      <p:sp>
        <p:nvSpPr>
          <p:cNvPr id="23" name="TextBox 22"/>
          <p:cNvSpPr txBox="1"/>
          <p:nvPr/>
        </p:nvSpPr>
        <p:spPr>
          <a:xfrm>
            <a:off x="347472" y="2560320"/>
            <a:ext cx="1746504" cy="1005840"/>
          </a:xfrm>
          <a:prstGeom prst="rect">
            <a:avLst/>
          </a:prstGeom>
          <a:noFill/>
        </p:spPr>
        <p:txBody>
          <a:bodyPr wrap="square" lIns="0" tIns="0" rIns="0" bIns="0">
            <a:spAutoFit/>
          </a:bodyPr>
          <a:lstStyle/>
          <a:p>
            <a:pPr>
              <a:defRPr sz="800">
                <a:solidFill>
                  <a:srgbClr val="334155"/>
                </a:solidFill>
              </a:defRPr>
            </a:pPr>
            <a:r>
              <a:t>Lance la chaîne, gère la mémoire, nettoie les fichiers temporaires.</a:t>
            </a:r>
          </a:p>
        </p:txBody>
      </p:sp>
      <p:sp>
        <p:nvSpPr>
          <p:cNvPr id="24" name="Rounded Rectangle 23"/>
          <p:cNvSpPr/>
          <p:nvPr/>
        </p:nvSpPr>
        <p:spPr>
          <a:xfrm>
            <a:off x="2231135" y="1591056"/>
            <a:ext cx="1892807" cy="2066543"/>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31135" y="1591056"/>
            <a:ext cx="1892807" cy="31089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04287" y="1609344"/>
            <a:ext cx="274320" cy="274320"/>
          </a:xfrm>
          <a:prstGeom prst="rect">
            <a:avLst/>
          </a:prstGeom>
          <a:noFill/>
        </p:spPr>
        <p:txBody>
          <a:bodyPr wrap="none" lIns="0" tIns="0" rIns="0" bIns="0">
            <a:spAutoFit/>
          </a:bodyPr>
          <a:lstStyle/>
          <a:p>
            <a:pPr>
              <a:defRPr sz="1100" b="1">
                <a:solidFill>
                  <a:srgbClr val="FFFFFF"/>
                </a:solidFill>
              </a:defRPr>
            </a:pPr>
            <a:r>
              <a:t>2</a:t>
            </a:r>
          </a:p>
        </p:txBody>
      </p:sp>
      <p:sp>
        <p:nvSpPr>
          <p:cNvPr id="27" name="TextBox 26"/>
          <p:cNvSpPr txBox="1"/>
          <p:nvPr/>
        </p:nvSpPr>
        <p:spPr>
          <a:xfrm>
            <a:off x="2304287" y="1956816"/>
            <a:ext cx="1746504" cy="292608"/>
          </a:xfrm>
          <a:prstGeom prst="rect">
            <a:avLst/>
          </a:prstGeom>
          <a:noFill/>
        </p:spPr>
        <p:txBody>
          <a:bodyPr wrap="square" lIns="0" tIns="0" rIns="0" bIns="0">
            <a:spAutoFit/>
          </a:bodyPr>
          <a:lstStyle/>
          <a:p>
            <a:pPr>
              <a:defRPr sz="850" b="1">
                <a:solidFill>
                  <a:srgbClr val="0284C7"/>
                </a:solidFill>
              </a:defRPr>
            </a:pPr>
            <a:r>
              <a:t>plan_classifieur.py</a:t>
            </a:r>
          </a:p>
        </p:txBody>
      </p:sp>
      <p:sp>
        <p:nvSpPr>
          <p:cNvPr id="28" name="TextBox 27"/>
          <p:cNvSpPr txBox="1"/>
          <p:nvPr/>
        </p:nvSpPr>
        <p:spPr>
          <a:xfrm>
            <a:off x="2304287" y="2286000"/>
            <a:ext cx="1746504" cy="237744"/>
          </a:xfrm>
          <a:prstGeom prst="rect">
            <a:avLst/>
          </a:prstGeom>
          <a:noFill/>
        </p:spPr>
        <p:txBody>
          <a:bodyPr wrap="square" lIns="0" tIns="0" rIns="0" bIns="0">
            <a:spAutoFit/>
          </a:bodyPr>
          <a:lstStyle/>
          <a:p>
            <a:pPr>
              <a:defRPr sz="800" b="1">
                <a:solidFill>
                  <a:srgbClr val="0F172A"/>
                </a:solidFill>
              </a:defRPr>
            </a:pPr>
            <a:r>
              <a:t>Classification</a:t>
            </a:r>
          </a:p>
        </p:txBody>
      </p:sp>
      <p:sp>
        <p:nvSpPr>
          <p:cNvPr id="29" name="TextBox 28"/>
          <p:cNvSpPr txBox="1"/>
          <p:nvPr/>
        </p:nvSpPr>
        <p:spPr>
          <a:xfrm>
            <a:off x="2304287" y="2560320"/>
            <a:ext cx="1746504" cy="1005840"/>
          </a:xfrm>
          <a:prstGeom prst="rect">
            <a:avLst/>
          </a:prstGeom>
          <a:noFill/>
        </p:spPr>
        <p:txBody>
          <a:bodyPr wrap="square" lIns="0" tIns="0" rIns="0" bIns="0">
            <a:spAutoFit/>
          </a:bodyPr>
          <a:lstStyle/>
          <a:p>
            <a:pPr>
              <a:defRPr sz="800">
                <a:solidFill>
                  <a:srgbClr val="334155"/>
                </a:solidFill>
              </a:defRPr>
            </a:pPr>
            <a:r>
              <a:t>Distingue plan DAO, DMPC, registre manuscrit, pièce annexe — en &lt; 1 seconde.</a:t>
            </a:r>
          </a:p>
        </p:txBody>
      </p:sp>
      <p:sp>
        <p:nvSpPr>
          <p:cNvPr id="30" name="Rounded Rectangle 29"/>
          <p:cNvSpPr/>
          <p:nvPr/>
        </p:nvSpPr>
        <p:spPr>
          <a:xfrm>
            <a:off x="4187951" y="1591056"/>
            <a:ext cx="1892807" cy="2066543"/>
          </a:xfrm>
          <a:prstGeom prst="roundRect">
            <a:avLst/>
          </a:prstGeom>
          <a:solidFill>
            <a:srgbClr val="FFFFFF"/>
          </a:solidFill>
          <a:ln w="254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87951" y="1591056"/>
            <a:ext cx="1892807"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3" y="1609344"/>
            <a:ext cx="274320" cy="274320"/>
          </a:xfrm>
          <a:prstGeom prst="rect">
            <a:avLst/>
          </a:prstGeom>
          <a:noFill/>
        </p:spPr>
        <p:txBody>
          <a:bodyPr wrap="none" lIns="0" tIns="0" rIns="0" bIns="0">
            <a:spAutoFit/>
          </a:bodyPr>
          <a:lstStyle/>
          <a:p>
            <a:pPr>
              <a:defRPr sz="1100" b="1">
                <a:solidFill>
                  <a:srgbClr val="FFFFFF"/>
                </a:solidFill>
              </a:defRPr>
            </a:pPr>
            <a:r>
              <a:t>3</a:t>
            </a:r>
          </a:p>
        </p:txBody>
      </p:sp>
      <p:sp>
        <p:nvSpPr>
          <p:cNvPr id="33" name="TextBox 32"/>
          <p:cNvSpPr txBox="1"/>
          <p:nvPr/>
        </p:nvSpPr>
        <p:spPr>
          <a:xfrm>
            <a:off x="4261103" y="1956816"/>
            <a:ext cx="1746504" cy="292608"/>
          </a:xfrm>
          <a:prstGeom prst="rect">
            <a:avLst/>
          </a:prstGeom>
          <a:noFill/>
        </p:spPr>
        <p:txBody>
          <a:bodyPr wrap="square" lIns="0" tIns="0" rIns="0" bIns="0">
            <a:spAutoFit/>
          </a:bodyPr>
          <a:lstStyle/>
          <a:p>
            <a:pPr>
              <a:defRPr sz="850" b="1">
                <a:solidFill>
                  <a:srgbClr val="065F46"/>
                </a:solidFill>
              </a:defRPr>
            </a:pPr>
            <a:r>
              <a:t>spatial_extracteur.py</a:t>
            </a:r>
          </a:p>
        </p:txBody>
      </p:sp>
      <p:sp>
        <p:nvSpPr>
          <p:cNvPr id="34" name="TextBox 33"/>
          <p:cNvSpPr txBox="1"/>
          <p:nvPr/>
        </p:nvSpPr>
        <p:spPr>
          <a:xfrm>
            <a:off x="4261103" y="2286000"/>
            <a:ext cx="1746504" cy="237744"/>
          </a:xfrm>
          <a:prstGeom prst="rect">
            <a:avLst/>
          </a:prstGeom>
          <a:noFill/>
        </p:spPr>
        <p:txBody>
          <a:bodyPr wrap="square" lIns="0" tIns="0" rIns="0" bIns="0">
            <a:spAutoFit/>
          </a:bodyPr>
          <a:lstStyle/>
          <a:p>
            <a:pPr>
              <a:defRPr sz="800" b="1">
                <a:solidFill>
                  <a:srgbClr val="0F172A"/>
                </a:solidFill>
              </a:defRPr>
            </a:pPr>
            <a:r>
              <a:t>Segmentation YOLOv8</a:t>
            </a:r>
          </a:p>
        </p:txBody>
      </p:sp>
      <p:sp>
        <p:nvSpPr>
          <p:cNvPr id="35" name="TextBox 34"/>
          <p:cNvSpPr txBox="1"/>
          <p:nvPr/>
        </p:nvSpPr>
        <p:spPr>
          <a:xfrm>
            <a:off x="4261103" y="2560320"/>
            <a:ext cx="1746504" cy="1005840"/>
          </a:xfrm>
          <a:prstGeom prst="rect">
            <a:avLst/>
          </a:prstGeom>
          <a:noFill/>
        </p:spPr>
        <p:txBody>
          <a:bodyPr wrap="square" lIns="0" tIns="0" rIns="0" bIns="0">
            <a:spAutoFit/>
          </a:bodyPr>
          <a:lstStyle/>
          <a:p>
            <a:pPr>
              <a:defRPr sz="800">
                <a:solidFill>
                  <a:srgbClr val="334155"/>
                </a:solidFill>
              </a:defRPr>
            </a:pPr>
            <a:r>
              <a:t>Détecte et découpe les zones utiles (cartouche, tableau parcelles, annotations).</a:t>
            </a:r>
          </a:p>
        </p:txBody>
      </p:sp>
      <p:sp>
        <p:nvSpPr>
          <p:cNvPr id="36" name="Rounded Rectangle 35"/>
          <p:cNvSpPr/>
          <p:nvPr/>
        </p:nvSpPr>
        <p:spPr>
          <a:xfrm>
            <a:off x="6144767" y="1591056"/>
            <a:ext cx="1892807" cy="2066543"/>
          </a:xfrm>
          <a:prstGeom prst="roundRect">
            <a:avLst/>
          </a:prstGeom>
          <a:solidFill>
            <a:srgbClr val="FFFFFF"/>
          </a:solidFill>
          <a:ln w="25400">
            <a:solidFill>
              <a:srgbClr val="9A3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44767" y="1591056"/>
            <a:ext cx="1892807" cy="310896"/>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19" y="1609344"/>
            <a:ext cx="274320" cy="274320"/>
          </a:xfrm>
          <a:prstGeom prst="rect">
            <a:avLst/>
          </a:prstGeom>
          <a:noFill/>
        </p:spPr>
        <p:txBody>
          <a:bodyPr wrap="none" lIns="0" tIns="0" rIns="0" bIns="0">
            <a:spAutoFit/>
          </a:bodyPr>
          <a:lstStyle/>
          <a:p>
            <a:pPr>
              <a:defRPr sz="1100" b="1">
                <a:solidFill>
                  <a:srgbClr val="FFFFFF"/>
                </a:solidFill>
              </a:defRPr>
            </a:pPr>
            <a:r>
              <a:t>4</a:t>
            </a:r>
          </a:p>
        </p:txBody>
      </p:sp>
      <p:sp>
        <p:nvSpPr>
          <p:cNvPr id="39" name="TextBox 38"/>
          <p:cNvSpPr txBox="1"/>
          <p:nvPr/>
        </p:nvSpPr>
        <p:spPr>
          <a:xfrm>
            <a:off x="6217919" y="1956816"/>
            <a:ext cx="1746504" cy="292608"/>
          </a:xfrm>
          <a:prstGeom prst="rect">
            <a:avLst/>
          </a:prstGeom>
          <a:noFill/>
        </p:spPr>
        <p:txBody>
          <a:bodyPr wrap="square" lIns="0" tIns="0" rIns="0" bIns="0">
            <a:spAutoFit/>
          </a:bodyPr>
          <a:lstStyle/>
          <a:p>
            <a:pPr>
              <a:defRPr sz="850" b="1">
                <a:solidFill>
                  <a:srgbClr val="9A3412"/>
                </a:solidFill>
              </a:defRPr>
            </a:pPr>
            <a:r>
              <a:t>outil_ocr.py</a:t>
            </a:r>
          </a:p>
        </p:txBody>
      </p:sp>
      <p:sp>
        <p:nvSpPr>
          <p:cNvPr id="40" name="TextBox 39"/>
          <p:cNvSpPr txBox="1"/>
          <p:nvPr/>
        </p:nvSpPr>
        <p:spPr>
          <a:xfrm>
            <a:off x="6217919" y="2286000"/>
            <a:ext cx="1746504" cy="237744"/>
          </a:xfrm>
          <a:prstGeom prst="rect">
            <a:avLst/>
          </a:prstGeom>
          <a:noFill/>
        </p:spPr>
        <p:txBody>
          <a:bodyPr wrap="square" lIns="0" tIns="0" rIns="0" bIns="0">
            <a:spAutoFit/>
          </a:bodyPr>
          <a:lstStyle/>
          <a:p>
            <a:pPr>
              <a:defRPr sz="800" b="1">
                <a:solidFill>
                  <a:srgbClr val="0F172A"/>
                </a:solidFill>
              </a:defRPr>
            </a:pPr>
            <a:r>
              <a:t>OCR + HTR + GLiNER</a:t>
            </a:r>
          </a:p>
        </p:txBody>
      </p:sp>
      <p:sp>
        <p:nvSpPr>
          <p:cNvPr id="41" name="TextBox 40"/>
          <p:cNvSpPr txBox="1"/>
          <p:nvPr/>
        </p:nvSpPr>
        <p:spPr>
          <a:xfrm>
            <a:off x="6217919" y="2560320"/>
            <a:ext cx="1746504" cy="1005840"/>
          </a:xfrm>
          <a:prstGeom prst="rect">
            <a:avLst/>
          </a:prstGeom>
          <a:noFill/>
        </p:spPr>
        <p:txBody>
          <a:bodyPr wrap="square" lIns="0" tIns="0" rIns="0" bIns="0">
            <a:spAutoFit/>
          </a:bodyPr>
          <a:lstStyle/>
          <a:p>
            <a:pPr>
              <a:defRPr sz="800">
                <a:solidFill>
                  <a:srgbClr val="334155"/>
                </a:solidFill>
              </a:defRPr>
            </a:pPr>
            <a:r>
              <a:t>Lit le texte (EasyOCR + TrOCR) et extrait les 5 champs cibles.</a:t>
            </a:r>
          </a:p>
        </p:txBody>
      </p:sp>
      <p:sp>
        <p:nvSpPr>
          <p:cNvPr id="42" name="Rounded Rectangle 41"/>
          <p:cNvSpPr/>
          <p:nvPr/>
        </p:nvSpPr>
        <p:spPr>
          <a:xfrm>
            <a:off x="8101583" y="1591056"/>
            <a:ext cx="1892807" cy="2066543"/>
          </a:xfrm>
          <a:prstGeom prst="roundRect">
            <a:avLst/>
          </a:prstGeom>
          <a:solidFill>
            <a:srgbClr val="FFFF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01583" y="1591056"/>
            <a:ext cx="1892807"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74736" y="1609344"/>
            <a:ext cx="274320" cy="274320"/>
          </a:xfrm>
          <a:prstGeom prst="rect">
            <a:avLst/>
          </a:prstGeom>
          <a:noFill/>
        </p:spPr>
        <p:txBody>
          <a:bodyPr wrap="none" lIns="0" tIns="0" rIns="0" bIns="0">
            <a:spAutoFit/>
          </a:bodyPr>
          <a:lstStyle/>
          <a:p>
            <a:pPr>
              <a:defRPr sz="1100" b="1">
                <a:solidFill>
                  <a:srgbClr val="FFFFFF"/>
                </a:solidFill>
              </a:defRPr>
            </a:pPr>
            <a:r>
              <a:t>5</a:t>
            </a:r>
          </a:p>
        </p:txBody>
      </p:sp>
      <p:sp>
        <p:nvSpPr>
          <p:cNvPr id="45" name="TextBox 44"/>
          <p:cNvSpPr txBox="1"/>
          <p:nvPr/>
        </p:nvSpPr>
        <p:spPr>
          <a:xfrm>
            <a:off x="8174736" y="1956816"/>
            <a:ext cx="1746504" cy="292608"/>
          </a:xfrm>
          <a:prstGeom prst="rect">
            <a:avLst/>
          </a:prstGeom>
          <a:noFill/>
        </p:spPr>
        <p:txBody>
          <a:bodyPr wrap="square" lIns="0" tIns="0" rIns="0" bIns="0">
            <a:spAutoFit/>
          </a:bodyPr>
          <a:lstStyle/>
          <a:p>
            <a:pPr>
              <a:defRPr sz="850" b="1">
                <a:solidFill>
                  <a:srgbClr val="6D28D9"/>
                </a:solidFill>
              </a:defRPr>
            </a:pPr>
            <a:r>
              <a:t>coherence_controle.py</a:t>
            </a:r>
          </a:p>
        </p:txBody>
      </p:sp>
      <p:sp>
        <p:nvSpPr>
          <p:cNvPr id="46" name="TextBox 45"/>
          <p:cNvSpPr txBox="1"/>
          <p:nvPr/>
        </p:nvSpPr>
        <p:spPr>
          <a:xfrm>
            <a:off x="8174736" y="2286000"/>
            <a:ext cx="1746504" cy="237744"/>
          </a:xfrm>
          <a:prstGeom prst="rect">
            <a:avLst/>
          </a:prstGeom>
          <a:noFill/>
        </p:spPr>
        <p:txBody>
          <a:bodyPr wrap="square" lIns="0" tIns="0" rIns="0" bIns="0">
            <a:spAutoFit/>
          </a:bodyPr>
          <a:lstStyle/>
          <a:p>
            <a:pPr>
              <a:defRPr sz="800" b="1">
                <a:solidFill>
                  <a:srgbClr val="0F172A"/>
                </a:solidFill>
              </a:defRPr>
            </a:pPr>
            <a:r>
              <a:t>Contrôle qualité</a:t>
            </a:r>
          </a:p>
        </p:txBody>
      </p:sp>
      <p:sp>
        <p:nvSpPr>
          <p:cNvPr id="47" name="TextBox 46"/>
          <p:cNvSpPr txBox="1"/>
          <p:nvPr/>
        </p:nvSpPr>
        <p:spPr>
          <a:xfrm>
            <a:off x="8174736" y="2560320"/>
            <a:ext cx="1746504" cy="1005840"/>
          </a:xfrm>
          <a:prstGeom prst="rect">
            <a:avLst/>
          </a:prstGeom>
          <a:noFill/>
        </p:spPr>
        <p:txBody>
          <a:bodyPr wrap="square" lIns="0" tIns="0" rIns="0" bIns="0">
            <a:spAutoFit/>
          </a:bodyPr>
          <a:lstStyle/>
          <a:p>
            <a:pPr>
              <a:defRPr sz="800">
                <a:solidFill>
                  <a:srgbClr val="334155"/>
                </a:solidFill>
              </a:defRPr>
            </a:pPr>
            <a:r>
              <a:t>17 règles métier, Levenshtein INSEE, validation ISO 8601 pour les dates.</a:t>
            </a:r>
          </a:p>
        </p:txBody>
      </p:sp>
      <p:sp>
        <p:nvSpPr>
          <p:cNvPr id="48" name="Rounded Rectangle 47"/>
          <p:cNvSpPr/>
          <p:nvPr/>
        </p:nvSpPr>
        <p:spPr>
          <a:xfrm>
            <a:off x="10058400" y="1591056"/>
            <a:ext cx="1892807" cy="2066543"/>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058400" y="1591056"/>
            <a:ext cx="1892807" cy="31089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31552" y="1609344"/>
            <a:ext cx="274320" cy="274320"/>
          </a:xfrm>
          <a:prstGeom prst="rect">
            <a:avLst/>
          </a:prstGeom>
          <a:noFill/>
        </p:spPr>
        <p:txBody>
          <a:bodyPr wrap="none" lIns="0" tIns="0" rIns="0" bIns="0">
            <a:spAutoFit/>
          </a:bodyPr>
          <a:lstStyle/>
          <a:p>
            <a:pPr>
              <a:defRPr sz="1100" b="1">
                <a:solidFill>
                  <a:srgbClr val="FFFFFF"/>
                </a:solidFill>
              </a:defRPr>
            </a:pPr>
            <a:r>
              <a:t>5-6</a:t>
            </a:r>
          </a:p>
        </p:txBody>
      </p:sp>
      <p:sp>
        <p:nvSpPr>
          <p:cNvPr id="51" name="TextBox 50"/>
          <p:cNvSpPr txBox="1"/>
          <p:nvPr/>
        </p:nvSpPr>
        <p:spPr>
          <a:xfrm>
            <a:off x="10131552" y="1956816"/>
            <a:ext cx="1746504" cy="292608"/>
          </a:xfrm>
          <a:prstGeom prst="rect">
            <a:avLst/>
          </a:prstGeom>
          <a:noFill/>
        </p:spPr>
        <p:txBody>
          <a:bodyPr wrap="square" lIns="0" tIns="0" rIns="0" bIns="0">
            <a:spAutoFit/>
          </a:bodyPr>
          <a:lstStyle/>
          <a:p>
            <a:pPr>
              <a:defRPr sz="850" b="1">
                <a:solidFill>
                  <a:srgbClr val="0F766E"/>
                </a:solidFill>
              </a:defRPr>
            </a:pPr>
            <a:r>
              <a:t>app_validation.py + geofoncier_api.py</a:t>
            </a:r>
          </a:p>
        </p:txBody>
      </p:sp>
      <p:sp>
        <p:nvSpPr>
          <p:cNvPr id="52" name="TextBox 51"/>
          <p:cNvSpPr txBox="1"/>
          <p:nvPr/>
        </p:nvSpPr>
        <p:spPr>
          <a:xfrm>
            <a:off x="10131552" y="2286000"/>
            <a:ext cx="1746504" cy="237744"/>
          </a:xfrm>
          <a:prstGeom prst="rect">
            <a:avLst/>
          </a:prstGeom>
          <a:noFill/>
        </p:spPr>
        <p:txBody>
          <a:bodyPr wrap="square" lIns="0" tIns="0" rIns="0" bIns="0">
            <a:spAutoFit/>
          </a:bodyPr>
          <a:lstStyle/>
          <a:p>
            <a:pPr>
              <a:defRPr sz="800" b="1">
                <a:solidFill>
                  <a:srgbClr val="0F172A"/>
                </a:solidFill>
              </a:defRPr>
            </a:pPr>
            <a:r>
              <a:t>IHM &amp; API</a:t>
            </a:r>
          </a:p>
        </p:txBody>
      </p:sp>
      <p:sp>
        <p:nvSpPr>
          <p:cNvPr id="53" name="TextBox 52"/>
          <p:cNvSpPr txBox="1"/>
          <p:nvPr/>
        </p:nvSpPr>
        <p:spPr>
          <a:xfrm>
            <a:off x="10131552" y="2560320"/>
            <a:ext cx="1746504" cy="1005840"/>
          </a:xfrm>
          <a:prstGeom prst="rect">
            <a:avLst/>
          </a:prstGeom>
          <a:noFill/>
        </p:spPr>
        <p:txBody>
          <a:bodyPr wrap="square" lIns="0" tIns="0" rIns="0" bIns="0">
            <a:spAutoFit/>
          </a:bodyPr>
          <a:lstStyle/>
          <a:p>
            <a:pPr>
              <a:defRPr sz="800">
                <a:solidFill>
                  <a:srgbClr val="334155"/>
                </a:solidFill>
              </a:defRPr>
            </a:pPr>
            <a:r>
              <a:t>Interface Streamlit de relecture + génération du payload JSON REST.</a:t>
            </a:r>
          </a:p>
        </p:txBody>
      </p:sp>
      <p:sp>
        <p:nvSpPr>
          <p:cNvPr id="54" name="Rectangle 53"/>
          <p:cNvSpPr/>
          <p:nvPr/>
        </p:nvSpPr>
        <p:spPr>
          <a:xfrm>
            <a:off x="274320" y="3767328"/>
            <a:ext cx="11643055" cy="347472"/>
          </a:xfrm>
          <a:prstGeom prst="rect">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850" b="1">
                <a:solidFill>
                  <a:srgbClr val="0F2546"/>
                </a:solidFill>
              </a:defRPr>
            </a:pPr>
            <a:r>
              <a:t>Scan brut  →  Classification  →  Segmentation YOLOv8  →  OCR+NER  →  Contrôle qualité  →  IHM relecture  →  Versement Géofoncier</a:t>
            </a:r>
          </a:p>
        </p:txBody>
      </p:sp>
      <p:sp>
        <p:nvSpPr>
          <p:cNvPr id="55" name="Rectangle 54"/>
          <p:cNvSpPr/>
          <p:nvPr/>
        </p:nvSpPr>
        <p:spPr>
          <a:xfrm>
            <a:off x="274320" y="4224528"/>
            <a:ext cx="11643055" cy="223113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7472" y="4261104"/>
            <a:ext cx="11496751" cy="256032"/>
          </a:xfrm>
          <a:prstGeom prst="rect">
            <a:avLst/>
          </a:prstGeom>
          <a:noFill/>
        </p:spPr>
        <p:txBody>
          <a:bodyPr wrap="square" tIns="0" bIns="0" lIns="0" rIns="0">
            <a:spAutoFit/>
          </a:bodyPr>
          <a:lstStyle/>
          <a:p>
            <a:pPr algn="ctr">
              <a:defRPr sz="800" b="1">
                <a:solidFill>
                  <a:srgbClr val="0F2546"/>
                </a:solidFill>
              </a:defRPr>
            </a:pPr>
            <a:r>
              <a:t>ARCHITECTURE COMPLÈTE DU PIPELINE — 6 MODULES PYTHON 3.10</a:t>
            </a:r>
          </a:p>
        </p:txBody>
      </p:sp>
      <p:pic>
        <p:nvPicPr>
          <p:cNvPr id="57" name="Picture 56" descr="architecture_globale.png"/>
          <p:cNvPicPr>
            <a:picLocks noChangeAspect="1"/>
          </p:cNvPicPr>
          <p:nvPr/>
        </p:nvPicPr>
        <p:blipFill>
          <a:blip r:embed="rId2"/>
          <a:stretch>
            <a:fillRect/>
          </a:stretch>
        </p:blipFill>
        <p:spPr>
          <a:xfrm>
            <a:off x="4696552" y="4535424"/>
            <a:ext cx="2798590" cy="1627632"/>
          </a:xfrm>
          <a:prstGeom prst="rect">
            <a:avLst/>
          </a:prstGeom>
        </p:spPr>
      </p:pic>
      <p:sp>
        <p:nvSpPr>
          <p:cNvPr id="58" name="TextBox 57"/>
          <p:cNvSpPr txBox="1"/>
          <p:nvPr/>
        </p:nvSpPr>
        <p:spPr>
          <a:xfrm>
            <a:off x="347472" y="6217920"/>
            <a:ext cx="11496751" cy="219456"/>
          </a:xfrm>
          <a:prstGeom prst="rect">
            <a:avLst/>
          </a:prstGeom>
          <a:noFill/>
        </p:spPr>
        <p:txBody>
          <a:bodyPr wrap="square" tIns="0" bIns="0" lIns="0" rIns="0">
            <a:spAutoFit/>
          </a:bodyPr>
          <a:lstStyle/>
          <a:p>
            <a:pPr algn="ctr">
              <a:defRPr sz="750">
                <a:solidFill>
                  <a:srgbClr val="475569"/>
                </a:solidFill>
              </a:defRPr>
            </a:pPr>
            <a:r>
              <a:t>Environnement : Windows 10, venv dédié, GPU local (NVIDIA) — aucune dépendance cloud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065F46"/>
          </a:solidFill>
          <a:ln w="1905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4.1 Architecture</a:t>
            </a:r>
          </a:p>
        </p:txBody>
      </p:sp>
      <p:sp>
        <p:nvSpPr>
          <p:cNvPr id="11" name="Rectangle 10"/>
          <p:cNvSpPr/>
          <p:nvPr/>
        </p:nvSpPr>
        <p:spPr>
          <a:xfrm>
            <a:off x="319879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4.2 Prétraitement</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4.3 YOLOv8 &amp; GLiNER</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4.4 Arbitrage VLM</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4 — ARCHITECTURE &amp; PIPELINE</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Prétraitement image : redressement, binarisation et 300 DPI</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17 / 35</a:t>
            </a:r>
          </a:p>
        </p:txBody>
      </p:sp>
      <p:sp>
        <p:nvSpPr>
          <p:cNvPr id="18" name="Rounded Rectangle 17"/>
          <p:cNvSpPr/>
          <p:nvPr/>
        </p:nvSpPr>
        <p:spPr>
          <a:xfrm>
            <a:off x="274320" y="1591056"/>
            <a:ext cx="539496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097280"/>
          <a:lstStyle/>
          <a:p>
            <a:pPr algn="ctr">
              <a:defRPr sz="1000" b="1">
                <a:solidFill>
                  <a:srgbClr val="FFFFFF"/>
                </a:solidFill>
              </a:defRPr>
            </a:pPr>
            <a:r>
              <a:t>Les 3 étapes du prétraitement</a:t>
            </a:r>
          </a:p>
        </p:txBody>
      </p:sp>
      <p:sp>
        <p:nvSpPr>
          <p:cNvPr id="20" name="Rectangle 19"/>
          <p:cNvSpPr/>
          <p:nvPr/>
        </p:nvSpPr>
        <p:spPr>
          <a:xfrm>
            <a:off x="4663440" y="1636776"/>
            <a:ext cx="9144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300 DPI</a:t>
            </a:r>
          </a:p>
        </p:txBody>
      </p:sp>
      <p:sp>
        <p:nvSpPr>
          <p:cNvPr id="21" name="TextBox 20"/>
          <p:cNvSpPr txBox="1"/>
          <p:nvPr/>
        </p:nvSpPr>
        <p:spPr>
          <a:xfrm>
            <a:off x="384048" y="1956816"/>
            <a:ext cx="5175504" cy="2139696"/>
          </a:xfrm>
          <a:prstGeom prst="rect">
            <a:avLst/>
          </a:prstGeom>
          <a:noFill/>
        </p:spPr>
        <p:txBody>
          <a:bodyPr wrap="square" lIns="0" tIns="0" rIns="0" bIns="0">
            <a:spAutoFit/>
          </a:bodyPr>
          <a:lstStyle/>
          <a:p>
            <a:pPr>
              <a:defRPr sz="950" b="1">
                <a:solidFill>
                  <a:srgbClr val="0F172A"/>
                </a:solidFill>
              </a:defRPr>
            </a:pPr>
            <a:r>
              <a:t>•  Résolution minimale : 300 DPI</a:t>
            </a:r>
          </a:p>
          <a:p>
            <a:pPr>
              <a:spcBef>
                <a:spcPts val="100"/>
              </a:spcBef>
              <a:defRPr sz="850">
                <a:solidFill>
                  <a:srgbClr val="334155"/>
                </a:solidFill>
              </a:defRPr>
            </a:pPr>
            <a:r>
              <a:t>   Seuil empirique retenu pour une OCR fiable sur documents manuscrits anciens. En dessous, le CER explose.</a:t>
            </a:r>
          </a:p>
          <a:p>
            <a:pPr>
              <a:spcBef>
                <a:spcPts val="500"/>
              </a:spcBef>
              <a:defRPr sz="950" b="1">
                <a:solidFill>
                  <a:srgbClr val="0F172A"/>
                </a:solidFill>
              </a:defRPr>
            </a:pPr>
            <a:r>
              <a:t>•  Détection de l'inclinaison (Hough)</a:t>
            </a:r>
          </a:p>
          <a:p>
            <a:pPr>
              <a:spcBef>
                <a:spcPts val="100"/>
              </a:spcBef>
              <a:defRPr sz="850">
                <a:solidFill>
                  <a:srgbClr val="334155"/>
                </a:solidFill>
              </a:defRPr>
            </a:pPr>
            <a:r>
              <a:t>   Transformée de Hough sur les lignes du tableau pour estimer l'angle de rotation. Correction automatique.</a:t>
            </a:r>
          </a:p>
          <a:p>
            <a:pPr>
              <a:spcBef>
                <a:spcPts val="500"/>
              </a:spcBef>
              <a:defRPr sz="950" b="1">
                <a:solidFill>
                  <a:srgbClr val="0F172A"/>
                </a:solidFill>
              </a:defRPr>
            </a:pPr>
            <a:r>
              <a:t>•  Binarisation adaptative (Otsu)</a:t>
            </a:r>
          </a:p>
          <a:p>
            <a:pPr>
              <a:spcBef>
                <a:spcPts val="100"/>
              </a:spcBef>
              <a:defRPr sz="850">
                <a:solidFill>
                  <a:srgbClr val="334155"/>
                </a:solidFill>
              </a:defRPr>
            </a:pPr>
            <a:r>
              <a:t>   Seuillage automatique qui maximise la variance inter-classe. Résistant aux variations d'encre et d'éclairage.</a:t>
            </a:r>
          </a:p>
        </p:txBody>
      </p:sp>
      <p:sp>
        <p:nvSpPr>
          <p:cNvPr id="22" name="Rectangle 21"/>
          <p:cNvSpPr/>
          <p:nvPr/>
        </p:nvSpPr>
        <p:spPr>
          <a:xfrm>
            <a:off x="347472" y="411480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Tous les traitements se font en mémoire (PIL + OpenCV) sans réécriture disque intermédiaire.</a:t>
            </a:r>
          </a:p>
        </p:txBody>
      </p:sp>
      <p:sp>
        <p:nvSpPr>
          <p:cNvPr id="23" name="Rounded Rectangle 22"/>
          <p:cNvSpPr/>
          <p:nvPr/>
        </p:nvSpPr>
        <p:spPr>
          <a:xfrm>
            <a:off x="5852160" y="1591056"/>
            <a:ext cx="606521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188720"/>
          <a:lstStyle/>
          <a:p>
            <a:pPr algn="ctr">
              <a:defRPr sz="1000" b="1">
                <a:solidFill>
                  <a:srgbClr val="FFFFFF"/>
                </a:solidFill>
              </a:defRPr>
            </a:pPr>
            <a:r>
              <a:t>Impact mesurable sur la qualité</a:t>
            </a:r>
          </a:p>
        </p:txBody>
      </p:sp>
      <p:sp>
        <p:nvSpPr>
          <p:cNvPr id="25" name="Rectangle 24"/>
          <p:cNvSpPr/>
          <p:nvPr/>
        </p:nvSpPr>
        <p:spPr>
          <a:xfrm>
            <a:off x="10820095" y="1636776"/>
            <a:ext cx="10058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-18% CER</a:t>
            </a:r>
          </a:p>
        </p:txBody>
      </p:sp>
      <p:sp>
        <p:nvSpPr>
          <p:cNvPr id="26" name="TextBox 25"/>
          <p:cNvSpPr txBox="1"/>
          <p:nvPr/>
        </p:nvSpPr>
        <p:spPr>
          <a:xfrm>
            <a:off x="5961888" y="1956816"/>
            <a:ext cx="5845759" cy="2139696"/>
          </a:xfrm>
          <a:prstGeom prst="rect">
            <a:avLst/>
          </a:prstGeom>
          <a:noFill/>
        </p:spPr>
        <p:txBody>
          <a:bodyPr wrap="square" lIns="0" tIns="0" rIns="0" bIns="0">
            <a:spAutoFit/>
          </a:bodyPr>
          <a:lstStyle/>
          <a:p>
            <a:pPr>
              <a:defRPr sz="950" b="1">
                <a:solidFill>
                  <a:srgbClr val="0F172A"/>
                </a:solidFill>
              </a:defRPr>
            </a:pPr>
            <a:r>
              <a:t>•  Résultat : gain de 18 % de CER</a:t>
            </a:r>
          </a:p>
          <a:p>
            <a:pPr>
              <a:spcBef>
                <a:spcPts val="100"/>
              </a:spcBef>
              <a:defRPr sz="850">
                <a:solidFill>
                  <a:srgbClr val="334155"/>
                </a:solidFill>
              </a:defRPr>
            </a:pPr>
            <a:r>
              <a:t>   Sur le corpus test de 50 registres, le prétraitement Hough + Otsu réduit le taux d'erreur de 18 points.</a:t>
            </a:r>
          </a:p>
          <a:p>
            <a:pPr>
              <a:spcBef>
                <a:spcPts val="500"/>
              </a:spcBef>
              <a:defRPr sz="950" b="1">
                <a:solidFill>
                  <a:srgbClr val="0F172A"/>
                </a:solidFill>
              </a:defRPr>
            </a:pPr>
            <a:r>
              <a:t>•  Découpe des zones (crop YOLOv8)</a:t>
            </a:r>
          </a:p>
          <a:p>
            <a:pPr>
              <a:spcBef>
                <a:spcPts val="100"/>
              </a:spcBef>
              <a:defRPr sz="850">
                <a:solidFill>
                  <a:srgbClr val="334155"/>
                </a:solidFill>
              </a:defRPr>
            </a:pPr>
            <a:r>
              <a:t>   Après redressement, YOLOv8 découpe les boîtes englobantes des zones d'intérêt pour l'OCR ciblé.</a:t>
            </a:r>
          </a:p>
          <a:p>
            <a:pPr>
              <a:spcBef>
                <a:spcPts val="500"/>
              </a:spcBef>
              <a:defRPr sz="950" b="1">
                <a:solidFill>
                  <a:srgbClr val="0F172A"/>
                </a:solidFill>
              </a:defRPr>
            </a:pPr>
            <a:r>
              <a:t>•  Normalisation des contrastes</a:t>
            </a:r>
          </a:p>
          <a:p>
            <a:pPr>
              <a:spcBef>
                <a:spcPts val="100"/>
              </a:spcBef>
              <a:defRPr sz="850">
                <a:solidFill>
                  <a:srgbClr val="334155"/>
                </a:solidFill>
              </a:defRPr>
            </a:pPr>
            <a:r>
              <a:t>   CLAHE (Contrast Limited Adaptive Histogram Equalization) appliqué aux zones à fort contraste réduit.</a:t>
            </a:r>
          </a:p>
        </p:txBody>
      </p:sp>
      <p:sp>
        <p:nvSpPr>
          <p:cNvPr id="27" name="Rectangle 26"/>
          <p:cNvSpPr/>
          <p:nvPr/>
        </p:nvSpPr>
        <p:spPr>
          <a:xfrm>
            <a:off x="5925312" y="411480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Pipeline PIL → OpenCV → Pillow : traitement in-memory, compatible GPU via CUDA.</a:t>
            </a:r>
          </a:p>
        </p:txBody>
      </p:sp>
      <p:sp>
        <p:nvSpPr>
          <p:cNvPr id="28" name="Rectangle 27"/>
          <p:cNvSpPr/>
          <p:nvPr/>
        </p:nvSpPr>
        <p:spPr>
          <a:xfrm>
            <a:off x="274320" y="4553712"/>
            <a:ext cx="55778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590288"/>
            <a:ext cx="5431536" cy="256032"/>
          </a:xfrm>
          <a:prstGeom prst="rect">
            <a:avLst/>
          </a:prstGeom>
          <a:noFill/>
        </p:spPr>
        <p:txBody>
          <a:bodyPr wrap="square" tIns="0" bIns="0" lIns="0" rIns="0">
            <a:spAutoFit/>
          </a:bodyPr>
          <a:lstStyle/>
          <a:p>
            <a:pPr algn="ctr">
              <a:defRPr sz="800" b="1">
                <a:solidFill>
                  <a:srgbClr val="0F2546"/>
                </a:solidFill>
              </a:defRPr>
            </a:pPr>
            <a:r>
              <a:t>DOCUMENT AVANT PRÉTRAITEMENT</a:t>
            </a:r>
          </a:p>
        </p:txBody>
      </p:sp>
      <p:pic>
        <p:nvPicPr>
          <p:cNvPr id="30" name="Picture 29" descr="4513_DA_124_crop.png"/>
          <p:cNvPicPr>
            <a:picLocks noChangeAspect="1"/>
          </p:cNvPicPr>
          <p:nvPr/>
        </p:nvPicPr>
        <p:blipFill>
          <a:blip r:embed="rId2"/>
          <a:stretch>
            <a:fillRect/>
          </a:stretch>
        </p:blipFill>
        <p:spPr>
          <a:xfrm>
            <a:off x="463250" y="4864608"/>
            <a:ext cx="5199978" cy="1591056"/>
          </a:xfrm>
          <a:prstGeom prst="rect">
            <a:avLst/>
          </a:prstGeom>
        </p:spPr>
      </p:pic>
      <p:sp>
        <p:nvSpPr>
          <p:cNvPr id="31" name="TextBox 30"/>
          <p:cNvSpPr txBox="1"/>
          <p:nvPr/>
        </p:nvSpPr>
        <p:spPr>
          <a:xfrm>
            <a:off x="347472" y="6510528"/>
            <a:ext cx="5431536" cy="219456"/>
          </a:xfrm>
          <a:prstGeom prst="rect">
            <a:avLst/>
          </a:prstGeom>
          <a:noFill/>
        </p:spPr>
        <p:txBody>
          <a:bodyPr wrap="square" tIns="0" bIns="0" lIns="0" rIns="0">
            <a:spAutoFit/>
          </a:bodyPr>
          <a:lstStyle/>
          <a:p>
            <a:pPr algn="ctr">
              <a:defRPr sz="750">
                <a:solidFill>
                  <a:srgbClr val="475569"/>
                </a:solidFill>
              </a:defRPr>
            </a:pPr>
            <a:r>
              <a:t>Registre brut scanné — inclinaison et contraste variable</a:t>
            </a:r>
          </a:p>
        </p:txBody>
      </p:sp>
      <p:sp>
        <p:nvSpPr>
          <p:cNvPr id="32" name="Rectangle 31"/>
          <p:cNvSpPr/>
          <p:nvPr/>
        </p:nvSpPr>
        <p:spPr>
          <a:xfrm>
            <a:off x="6035040" y="4553712"/>
            <a:ext cx="5882335"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4590288"/>
            <a:ext cx="5736031" cy="256032"/>
          </a:xfrm>
          <a:prstGeom prst="rect">
            <a:avLst/>
          </a:prstGeom>
          <a:noFill/>
        </p:spPr>
        <p:txBody>
          <a:bodyPr wrap="square" tIns="0" bIns="0" lIns="0" rIns="0">
            <a:spAutoFit/>
          </a:bodyPr>
          <a:lstStyle/>
          <a:p>
            <a:pPr algn="ctr">
              <a:defRPr sz="800" b="1">
                <a:solidFill>
                  <a:srgbClr val="0F2546"/>
                </a:solidFill>
              </a:defRPr>
            </a:pPr>
            <a:r>
              <a:t>DOCUMENT APRÈS REDRESSEMENT HOUGH + OTSU</a:t>
            </a:r>
          </a:p>
        </p:txBody>
      </p:sp>
      <p:pic>
        <p:nvPicPr>
          <p:cNvPr id="34" name="Picture 33" descr="4513_DA_124_centered_crop.png"/>
          <p:cNvPicPr>
            <a:picLocks noChangeAspect="1"/>
          </p:cNvPicPr>
          <p:nvPr/>
        </p:nvPicPr>
        <p:blipFill>
          <a:blip r:embed="rId3"/>
          <a:stretch>
            <a:fillRect/>
          </a:stretch>
        </p:blipFill>
        <p:spPr>
          <a:xfrm>
            <a:off x="6196110" y="4864608"/>
            <a:ext cx="5560194" cy="1591056"/>
          </a:xfrm>
          <a:prstGeom prst="rect">
            <a:avLst/>
          </a:prstGeom>
        </p:spPr>
      </p:pic>
      <p:sp>
        <p:nvSpPr>
          <p:cNvPr id="35" name="TextBox 34"/>
          <p:cNvSpPr txBox="1"/>
          <p:nvPr/>
        </p:nvSpPr>
        <p:spPr>
          <a:xfrm>
            <a:off x="6108192" y="6510528"/>
            <a:ext cx="5736031" cy="219456"/>
          </a:xfrm>
          <a:prstGeom prst="rect">
            <a:avLst/>
          </a:prstGeom>
          <a:noFill/>
        </p:spPr>
        <p:txBody>
          <a:bodyPr wrap="square" tIns="0" bIns="0" lIns="0" rIns="0">
            <a:spAutoFit/>
          </a:bodyPr>
          <a:lstStyle/>
          <a:p>
            <a:pPr algn="ctr">
              <a:defRPr sz="750">
                <a:solidFill>
                  <a:srgbClr val="475569"/>
                </a:solidFill>
              </a:defRPr>
            </a:pPr>
            <a:r>
              <a:t>Registre redressé, binarisé — prêt pour OCR/HTR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065F46"/>
          </a:solidFill>
          <a:ln w="1905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4.1 Architecture</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4.2 Prétraitement</a:t>
            </a:r>
          </a:p>
        </p:txBody>
      </p:sp>
      <p:sp>
        <p:nvSpPr>
          <p:cNvPr id="12" name="Rectangle 11"/>
          <p:cNvSpPr/>
          <p:nvPr/>
        </p:nvSpPr>
        <p:spPr>
          <a:xfrm>
            <a:off x="612327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4.3 YOLOv8 &amp; GLiNER</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4.4 Arbitrage VLM</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4 — ARCHITECTURE &amp; PIPELINE</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Détection des zones (YOLOv8) et extraction sémantique (GLiNER)</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18 / 35</a:t>
            </a:r>
          </a:p>
        </p:txBody>
      </p:sp>
      <p:sp>
        <p:nvSpPr>
          <p:cNvPr id="18" name="Rounded Rectangle 17"/>
          <p:cNvSpPr/>
          <p:nvPr/>
        </p:nvSpPr>
        <p:spPr>
          <a:xfrm>
            <a:off x="274320" y="1591056"/>
            <a:ext cx="5486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YOLOv8 : segmentation spatiale</a:t>
            </a:r>
          </a:p>
        </p:txBody>
      </p:sp>
      <p:sp>
        <p:nvSpPr>
          <p:cNvPr id="20" name="Rectangle 19"/>
          <p:cNvSpPr/>
          <p:nvPr/>
        </p:nvSpPr>
        <p:spPr>
          <a:xfrm>
            <a:off x="4297680"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MAP@0.5=0.87</a:t>
            </a:r>
          </a:p>
        </p:txBody>
      </p:sp>
      <p:sp>
        <p:nvSpPr>
          <p:cNvPr id="21" name="TextBox 20"/>
          <p:cNvSpPr txBox="1"/>
          <p:nvPr/>
        </p:nvSpPr>
        <p:spPr>
          <a:xfrm>
            <a:off x="384048" y="1956816"/>
            <a:ext cx="5266944" cy="2048256"/>
          </a:xfrm>
          <a:prstGeom prst="rect">
            <a:avLst/>
          </a:prstGeom>
          <a:noFill/>
        </p:spPr>
        <p:txBody>
          <a:bodyPr wrap="square" lIns="0" tIns="0" rIns="0" bIns="0">
            <a:spAutoFit/>
          </a:bodyPr>
          <a:lstStyle/>
          <a:p>
            <a:pPr>
              <a:defRPr sz="950" b="1">
                <a:solidFill>
                  <a:srgbClr val="0F172A"/>
                </a:solidFill>
              </a:defRPr>
            </a:pPr>
            <a:r>
              <a:t>•  YOLOv8n — 8M paramètres</a:t>
            </a:r>
          </a:p>
          <a:p>
            <a:pPr>
              <a:spcBef>
                <a:spcPts val="100"/>
              </a:spcBef>
              <a:defRPr sz="850">
                <a:solidFill>
                  <a:srgbClr val="334155"/>
                </a:solidFill>
              </a:defRPr>
            </a:pPr>
            <a:r>
              <a:t>   Ultralytics (2023). Variante nano, ~20 ms/image sur GPU. Entraîné sur 400 images annotées du fonds SIAPP.</a:t>
            </a:r>
          </a:p>
          <a:p>
            <a:pPr>
              <a:spcBef>
                <a:spcPts val="500"/>
              </a:spcBef>
              <a:defRPr sz="950" b="1">
                <a:solidFill>
                  <a:srgbClr val="0F172A"/>
                </a:solidFill>
              </a:defRPr>
            </a:pPr>
            <a:r>
              <a:t>•  3 classes de zones détectées</a:t>
            </a:r>
          </a:p>
          <a:p>
            <a:pPr>
              <a:spcBef>
                <a:spcPts val="100"/>
              </a:spcBef>
              <a:defRPr sz="850">
                <a:solidFill>
                  <a:srgbClr val="334155"/>
                </a:solidFill>
              </a:defRPr>
            </a:pPr>
            <a:r>
              <a:t>   Cartouche d'identification, tableau de parcelles, annotations marginales et cachets.</a:t>
            </a:r>
          </a:p>
          <a:p>
            <a:pPr>
              <a:spcBef>
                <a:spcPts val="500"/>
              </a:spcBef>
              <a:defRPr sz="950" b="1">
                <a:solidFill>
                  <a:srgbClr val="0F172A"/>
                </a:solidFill>
              </a:defRPr>
            </a:pPr>
            <a:r>
              <a:t>•  mAP@0.5 = 0.87 sur corpus test</a:t>
            </a:r>
          </a:p>
          <a:p>
            <a:pPr>
              <a:spcBef>
                <a:spcPts val="100"/>
              </a:spcBef>
              <a:defRPr sz="850">
                <a:solidFill>
                  <a:srgbClr val="334155"/>
                </a:solidFill>
              </a:defRPr>
            </a:pPr>
            <a:r>
              <a:t>   Performances mesurées sur 80 images de test (split 80/20). Seuil de confiance : 0.45.</a:t>
            </a:r>
          </a:p>
        </p:txBody>
      </p:sp>
      <p:sp>
        <p:nvSpPr>
          <p:cNvPr id="22" name="Rectangle 21"/>
          <p:cNvSpPr/>
          <p:nvPr/>
        </p:nvSpPr>
        <p:spPr>
          <a:xfrm>
            <a:off x="347472" y="402336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Ultralytics YOLOv8 : https://github.com/ultralytics/ultralytics — AGPL-3.0</a:t>
            </a:r>
          </a:p>
        </p:txBody>
      </p:sp>
      <p:sp>
        <p:nvSpPr>
          <p:cNvPr id="23" name="Rounded Rectangle 22"/>
          <p:cNvSpPr/>
          <p:nvPr/>
        </p:nvSpPr>
        <p:spPr>
          <a:xfrm>
            <a:off x="5943600" y="1591056"/>
            <a:ext cx="597377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0" y="1591056"/>
            <a:ext cx="597377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645920"/>
          <a:lstStyle/>
          <a:p>
            <a:pPr algn="ctr">
              <a:defRPr sz="1000" b="1">
                <a:solidFill>
                  <a:srgbClr val="FFFFFF"/>
                </a:solidFill>
              </a:defRPr>
            </a:pPr>
            <a:r>
              <a:t>GLiNER : extraction NER zéro-shot</a:t>
            </a:r>
          </a:p>
        </p:txBody>
      </p:sp>
      <p:sp>
        <p:nvSpPr>
          <p:cNvPr id="25" name="Rectangle 24"/>
          <p:cNvSpPr/>
          <p:nvPr/>
        </p:nvSpPr>
        <p:spPr>
          <a:xfrm>
            <a:off x="10362895" y="1636776"/>
            <a:ext cx="14630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NER ZÉRO-SHOT</a:t>
            </a:r>
          </a:p>
        </p:txBody>
      </p:sp>
      <p:sp>
        <p:nvSpPr>
          <p:cNvPr id="26" name="TextBox 25"/>
          <p:cNvSpPr txBox="1"/>
          <p:nvPr/>
        </p:nvSpPr>
        <p:spPr>
          <a:xfrm>
            <a:off x="6053328" y="1956816"/>
            <a:ext cx="5754319" cy="2048256"/>
          </a:xfrm>
          <a:prstGeom prst="rect">
            <a:avLst/>
          </a:prstGeom>
          <a:noFill/>
        </p:spPr>
        <p:txBody>
          <a:bodyPr wrap="square" lIns="0" tIns="0" rIns="0" bIns="0">
            <a:spAutoFit/>
          </a:bodyPr>
          <a:lstStyle/>
          <a:p>
            <a:pPr>
              <a:defRPr sz="950" b="1">
                <a:solidFill>
                  <a:srgbClr val="0F172A"/>
                </a:solidFill>
              </a:defRPr>
            </a:pPr>
            <a:r>
              <a:t>•  GLiNER en zéro-shot NER</a:t>
            </a:r>
          </a:p>
          <a:p>
            <a:pPr>
              <a:spcBef>
                <a:spcPts val="100"/>
              </a:spcBef>
              <a:defRPr sz="850">
                <a:solidFill>
                  <a:srgbClr val="334155"/>
                </a:solidFill>
              </a:defRPr>
            </a:pPr>
            <a:r>
              <a:t>   Modèle : urchade/gliner-multitask-large-v0.5 (Hugging Face). Extraction des 5 champs obligatoires pour Géofoncier.</a:t>
            </a:r>
          </a:p>
          <a:p>
            <a:pPr>
              <a:spcBef>
                <a:spcPts val="500"/>
              </a:spcBef>
              <a:defRPr sz="950" b="1">
                <a:solidFill>
                  <a:srgbClr val="0F172A"/>
                </a:solidFill>
              </a:defRPr>
            </a:pPr>
            <a:r>
              <a:t>•  5 entités extraites</a:t>
            </a:r>
          </a:p>
          <a:p>
            <a:pPr>
              <a:spcBef>
                <a:spcPts val="100"/>
              </a:spcBef>
              <a:defRPr sz="850">
                <a:solidFill>
                  <a:srgbClr val="334155"/>
                </a:solidFill>
              </a:defRPr>
            </a:pPr>
            <a:r>
              <a:t>   Commune (code INSEE), date de l'acte, surface en m², nature de l'opération, type d'acte.</a:t>
            </a:r>
          </a:p>
          <a:p>
            <a:pPr>
              <a:spcBef>
                <a:spcPts val="500"/>
              </a:spcBef>
              <a:defRPr sz="950" b="1">
                <a:solidFill>
                  <a:srgbClr val="0F172A"/>
                </a:solidFill>
              </a:defRPr>
            </a:pPr>
            <a:r>
              <a:t>•  Score de confiance par entité</a:t>
            </a:r>
          </a:p>
          <a:p>
            <a:pPr>
              <a:spcBef>
                <a:spcPts val="100"/>
              </a:spcBef>
              <a:defRPr sz="850">
                <a:solidFill>
                  <a:srgbClr val="334155"/>
                </a:solidFill>
              </a:defRPr>
            </a:pPr>
            <a:r>
              <a:t>   GLiNER retourne un score [0, 1] par entité. Si score &lt; 0.65 sur commune ou date, le VLM est activé.</a:t>
            </a:r>
          </a:p>
        </p:txBody>
      </p:sp>
      <p:sp>
        <p:nvSpPr>
          <p:cNvPr id="27" name="Rectangle 26"/>
          <p:cNvSpPr/>
          <p:nvPr/>
        </p:nvSpPr>
        <p:spPr>
          <a:xfrm>
            <a:off x="6016752" y="402336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GLiNER : urchade/GLiNER — Apache 2.0 — Hugging Face Hub</a:t>
            </a:r>
          </a:p>
        </p:txBody>
      </p:sp>
      <p:sp>
        <p:nvSpPr>
          <p:cNvPr id="28" name="Rectangle 27"/>
          <p:cNvSpPr/>
          <p:nvPr/>
        </p:nvSpPr>
        <p:spPr>
          <a:xfrm>
            <a:off x="274320" y="4462272"/>
            <a:ext cx="2798064"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8M</a:t>
            </a:r>
          </a:p>
          <a:p>
            <a:pPr algn="ctr">
              <a:spcBef>
                <a:spcPts val="200"/>
              </a:spcBef>
              <a:defRPr sz="700" b="1">
                <a:solidFill>
                  <a:srgbClr val="0F172A"/>
                </a:solidFill>
              </a:defRPr>
            </a:pPr>
            <a:r>
              <a:t>PARAMÈTRES YOLO</a:t>
            </a:r>
          </a:p>
          <a:p>
            <a:pPr algn="ctr">
              <a:spcBef>
                <a:spcPts val="100"/>
              </a:spcBef>
              <a:defRPr sz="650">
                <a:solidFill>
                  <a:srgbClr val="475569"/>
                </a:solidFill>
              </a:defRPr>
            </a:pPr>
            <a:r>
              <a:t>Nano — 20ms/image GPU</a:t>
            </a:r>
          </a:p>
        </p:txBody>
      </p:sp>
      <p:sp>
        <p:nvSpPr>
          <p:cNvPr id="29" name="Rectangle 28"/>
          <p:cNvSpPr/>
          <p:nvPr/>
        </p:nvSpPr>
        <p:spPr>
          <a:xfrm>
            <a:off x="3182112" y="4462272"/>
            <a:ext cx="2798064"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mAP 0.87</a:t>
            </a:r>
          </a:p>
          <a:p>
            <a:pPr algn="ctr">
              <a:spcBef>
                <a:spcPts val="200"/>
              </a:spcBef>
              <a:defRPr sz="700" b="1">
                <a:solidFill>
                  <a:srgbClr val="0F172A"/>
                </a:solidFill>
              </a:defRPr>
            </a:pPr>
            <a:r>
              <a:t>PRÉCISION YOLO</a:t>
            </a:r>
          </a:p>
          <a:p>
            <a:pPr algn="ctr">
              <a:spcBef>
                <a:spcPts val="100"/>
              </a:spcBef>
              <a:defRPr sz="650">
                <a:solidFill>
                  <a:srgbClr val="475569"/>
                </a:solidFill>
              </a:defRPr>
            </a:pPr>
            <a:r>
              <a:t>Sur corpus test 80 img.</a:t>
            </a:r>
          </a:p>
        </p:txBody>
      </p:sp>
      <p:sp>
        <p:nvSpPr>
          <p:cNvPr id="30" name="Rectangle 29"/>
          <p:cNvSpPr/>
          <p:nvPr/>
        </p:nvSpPr>
        <p:spPr>
          <a:xfrm>
            <a:off x="6089904" y="4462272"/>
            <a:ext cx="2798064"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5 Entités</a:t>
            </a:r>
          </a:p>
          <a:p>
            <a:pPr algn="ctr">
              <a:spcBef>
                <a:spcPts val="200"/>
              </a:spcBef>
              <a:defRPr sz="700" b="1">
                <a:solidFill>
                  <a:srgbClr val="0F172A"/>
                </a:solidFill>
              </a:defRPr>
            </a:pPr>
            <a:r>
              <a:t>EXTRACTION NER</a:t>
            </a:r>
          </a:p>
          <a:p>
            <a:pPr algn="ctr">
              <a:spcBef>
                <a:spcPts val="100"/>
              </a:spcBef>
              <a:defRPr sz="650">
                <a:solidFill>
                  <a:srgbClr val="475569"/>
                </a:solidFill>
              </a:defRPr>
            </a:pPr>
            <a:r>
              <a:t>Commune, date, surface...</a:t>
            </a:r>
          </a:p>
        </p:txBody>
      </p:sp>
      <p:sp>
        <p:nvSpPr>
          <p:cNvPr id="31" name="Rectangle 30"/>
          <p:cNvSpPr/>
          <p:nvPr/>
        </p:nvSpPr>
        <p:spPr>
          <a:xfrm>
            <a:off x="8997696" y="4462272"/>
            <a:ext cx="2825496" cy="914400"/>
          </a:xfrm>
          <a:prstGeom prst="rect">
            <a:avLst/>
          </a:prstGeom>
          <a:solidFill>
            <a:srgbClr val="EDE9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6D28D9"/>
                </a:solidFill>
              </a:defRPr>
            </a:pPr>
            <a:r>
              <a:t>Seuil 0.65</a:t>
            </a:r>
          </a:p>
          <a:p>
            <a:pPr algn="ctr">
              <a:spcBef>
                <a:spcPts val="200"/>
              </a:spcBef>
              <a:defRPr sz="700" b="1">
                <a:solidFill>
                  <a:srgbClr val="0F172A"/>
                </a:solidFill>
              </a:defRPr>
            </a:pPr>
            <a:r>
              <a:t>VLM ACTIVÉ SI</a:t>
            </a:r>
          </a:p>
          <a:p>
            <a:pPr algn="ctr">
              <a:spcBef>
                <a:spcPts val="100"/>
              </a:spcBef>
              <a:defRPr sz="650">
                <a:solidFill>
                  <a:srgbClr val="475569"/>
                </a:solidFill>
              </a:defRPr>
            </a:pPr>
            <a:r>
              <a:t>Score GLiNER &lt; 0.65</a:t>
            </a:r>
          </a:p>
        </p:txBody>
      </p:sp>
      <p:sp>
        <p:nvSpPr>
          <p:cNvPr id="32" name="Rectangle 31"/>
          <p:cNvSpPr/>
          <p:nvPr/>
        </p:nvSpPr>
        <p:spPr>
          <a:xfrm>
            <a:off x="274320" y="5486400"/>
            <a:ext cx="11643055" cy="126187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 y="5522976"/>
            <a:ext cx="11496751" cy="256032"/>
          </a:xfrm>
          <a:prstGeom prst="rect">
            <a:avLst/>
          </a:prstGeom>
          <a:noFill/>
        </p:spPr>
        <p:txBody>
          <a:bodyPr wrap="square" tIns="0" bIns="0" lIns="0" rIns="0">
            <a:spAutoFit/>
          </a:bodyPr>
          <a:lstStyle/>
          <a:p>
            <a:pPr algn="ctr">
              <a:defRPr sz="800" b="1">
                <a:solidFill>
                  <a:srgbClr val="0F2546"/>
                </a:solidFill>
              </a:defRPr>
            </a:pPr>
            <a:r>
              <a:t>EXEMPLE DE ZONES DÉTECTÉES PAR YOLOV8 SUR UN REGISTRE SIAPP</a:t>
            </a:r>
          </a:p>
        </p:txBody>
      </p:sp>
      <p:pic>
        <p:nvPicPr>
          <p:cNvPr id="34" name="Picture 33" descr="Chap2_pastilles_enhanced.jpg"/>
          <p:cNvPicPr>
            <a:picLocks noChangeAspect="1"/>
          </p:cNvPicPr>
          <p:nvPr/>
        </p:nvPicPr>
        <p:blipFill>
          <a:blip r:embed="rId2"/>
          <a:stretch>
            <a:fillRect/>
          </a:stretch>
        </p:blipFill>
        <p:spPr>
          <a:xfrm>
            <a:off x="5338636" y="5797296"/>
            <a:ext cx="1514422" cy="658367"/>
          </a:xfrm>
          <a:prstGeom prst="rect">
            <a:avLst/>
          </a:prstGeom>
        </p:spPr>
      </p:pic>
      <p:sp>
        <p:nvSpPr>
          <p:cNvPr id="35" name="TextBox 34"/>
          <p:cNvSpPr txBox="1"/>
          <p:nvPr/>
        </p:nvSpPr>
        <p:spPr>
          <a:xfrm>
            <a:off x="347472" y="6510528"/>
            <a:ext cx="11496751" cy="219456"/>
          </a:xfrm>
          <a:prstGeom prst="rect">
            <a:avLst/>
          </a:prstGeom>
          <a:noFill/>
        </p:spPr>
        <p:txBody>
          <a:bodyPr wrap="square" tIns="0" bIns="0" lIns="0" rIns="0">
            <a:spAutoFit/>
          </a:bodyPr>
          <a:lstStyle/>
          <a:p>
            <a:pPr algn="ctr">
              <a:defRPr sz="750">
                <a:solidFill>
                  <a:srgbClr val="475569"/>
                </a:solidFill>
              </a:defRPr>
            </a:pPr>
            <a:r>
              <a:t>Boîtes englobantes sur cartouche + tableau parcelles (source : GEO-SIAPP)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065F46"/>
          </a:solidFill>
          <a:ln w="1905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4.1 Architecture</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4.2 Prétraitement</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4.3 YOLOv8 &amp; GLiNER</a:t>
            </a:r>
          </a:p>
        </p:txBody>
      </p:sp>
      <p:sp>
        <p:nvSpPr>
          <p:cNvPr id="13" name="Rectangle 12"/>
          <p:cNvSpPr/>
          <p:nvPr/>
        </p:nvSpPr>
        <p:spPr>
          <a:xfrm>
            <a:off x="904775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4.4 Arbitrage VLM</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4 — ARCHITECTURE &amp; PIPELINE</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Arbitrage VLM : le cas concret de La Chapelle-sous-Aubenas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19 / 35</a:t>
            </a:r>
          </a:p>
        </p:txBody>
      </p:sp>
      <p:sp>
        <p:nvSpPr>
          <p:cNvPr id="18" name="Rounded Rectangle 17"/>
          <p:cNvSpPr/>
          <p:nvPr/>
        </p:nvSpPr>
        <p:spPr>
          <a:xfrm>
            <a:off x="274320" y="1591056"/>
            <a:ext cx="65836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658368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188720"/>
          <a:lstStyle/>
          <a:p>
            <a:pPr algn="ctr">
              <a:defRPr sz="1000" b="1">
                <a:solidFill>
                  <a:srgbClr val="FFFFFF"/>
                </a:solidFill>
              </a:defRPr>
            </a:pPr>
            <a:r>
              <a:t>Le problème des abréviations ardéchoises</a:t>
            </a:r>
          </a:p>
        </p:txBody>
      </p:sp>
      <p:sp>
        <p:nvSpPr>
          <p:cNvPr id="20" name="Rectangle 19"/>
          <p:cNvSpPr/>
          <p:nvPr/>
        </p:nvSpPr>
        <p:spPr>
          <a:xfrm>
            <a:off x="5760720" y="1636776"/>
            <a:ext cx="10058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CAS RÉEL</a:t>
            </a:r>
          </a:p>
        </p:txBody>
      </p:sp>
      <p:sp>
        <p:nvSpPr>
          <p:cNvPr id="21" name="TextBox 20"/>
          <p:cNvSpPr txBox="1"/>
          <p:nvPr/>
        </p:nvSpPr>
        <p:spPr>
          <a:xfrm>
            <a:off x="384048" y="1956816"/>
            <a:ext cx="6364224" cy="2596896"/>
          </a:xfrm>
          <a:prstGeom prst="rect">
            <a:avLst/>
          </a:prstGeom>
          <a:noFill/>
        </p:spPr>
        <p:txBody>
          <a:bodyPr wrap="square" lIns="0" tIns="0" rIns="0" bIns="0">
            <a:spAutoFit/>
          </a:bodyPr>
          <a:lstStyle/>
          <a:p>
            <a:pPr>
              <a:defRPr sz="950" b="1">
                <a:solidFill>
                  <a:srgbClr val="0F172A"/>
                </a:solidFill>
              </a:defRPr>
            </a:pPr>
            <a:r>
              <a:t>•  Problème : abréviation locale incompréhensible</a:t>
            </a:r>
          </a:p>
          <a:p>
            <a:pPr>
              <a:spcBef>
                <a:spcPts val="100"/>
              </a:spcBef>
              <a:defRPr sz="850">
                <a:solidFill>
                  <a:srgbClr val="334155"/>
                </a:solidFill>
              </a:defRPr>
            </a:pPr>
            <a:r>
              <a:t>   Dans les registres, 'La Chap./A.' désigne La Chapelle-sous-Aubenas — une commune de 1 800 habitants en Ardèche que nul modèle généraliste ne connaît.</a:t>
            </a:r>
          </a:p>
          <a:p>
            <a:pPr>
              <a:spcBef>
                <a:spcPts val="500"/>
              </a:spcBef>
              <a:defRPr sz="950" b="1">
                <a:solidFill>
                  <a:srgbClr val="0F172A"/>
                </a:solidFill>
              </a:defRPr>
            </a:pPr>
            <a:r>
              <a:t>•  GLiNER renvoie score &lt; 0.65 sur commune</a:t>
            </a:r>
          </a:p>
          <a:p>
            <a:pPr>
              <a:spcBef>
                <a:spcPts val="100"/>
              </a:spcBef>
              <a:defRPr sz="850">
                <a:solidFill>
                  <a:srgbClr val="334155"/>
                </a:solidFill>
              </a:defRPr>
            </a:pPr>
            <a:r>
              <a:t>   Sans contexte géographique local, aucun modèle de langue ne peut résoudre 'La Chap./A.' de façon certaine.</a:t>
            </a:r>
          </a:p>
          <a:p>
            <a:pPr>
              <a:spcBef>
                <a:spcPts val="500"/>
              </a:spcBef>
              <a:defRPr sz="950" b="1">
                <a:solidFill>
                  <a:srgbClr val="0F172A"/>
                </a:solidFill>
              </a:defRPr>
            </a:pPr>
            <a:r>
              <a:t>•  Activation du VLM (LLaVA 7B / Qwen2-VL)</a:t>
            </a:r>
          </a:p>
          <a:p>
            <a:pPr>
              <a:spcBef>
                <a:spcPts val="100"/>
              </a:spcBef>
              <a:defRPr sz="850">
                <a:solidFill>
                  <a:srgbClr val="334155"/>
                </a:solidFill>
              </a:defRPr>
            </a:pPr>
            <a:r>
              <a:t>   Le VLM reçoit l'image de la cellule + le contexte de la page. Il identifie la commune à 97 % de précision.</a:t>
            </a:r>
          </a:p>
        </p:txBody>
      </p:sp>
      <p:sp>
        <p:nvSpPr>
          <p:cNvPr id="22" name="Rectangle 21"/>
          <p:cNvSpPr/>
          <p:nvPr/>
        </p:nvSpPr>
        <p:spPr>
          <a:xfrm>
            <a:off x="347472" y="4572000"/>
            <a:ext cx="643737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Résultat : Le VLM retourne 'La Chapelle-sous-Aubenas' et son code INSEE (07035).</a:t>
            </a:r>
          </a:p>
        </p:txBody>
      </p:sp>
      <p:sp>
        <p:nvSpPr>
          <p:cNvPr id="23" name="Rounded Rectangle 22"/>
          <p:cNvSpPr/>
          <p:nvPr/>
        </p:nvSpPr>
        <p:spPr>
          <a:xfrm>
            <a:off x="7040880" y="1591056"/>
            <a:ext cx="4876495" cy="3291840"/>
          </a:xfrm>
          <a:prstGeom prst="roundRect">
            <a:avLst/>
          </a:prstGeom>
          <a:solidFill>
            <a:srgbClr val="EDE9FE"/>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8040" y="1664208"/>
            <a:ext cx="4663440" cy="274320"/>
          </a:xfrm>
          <a:prstGeom prst="rect">
            <a:avLst/>
          </a:prstGeom>
          <a:noFill/>
        </p:spPr>
        <p:txBody>
          <a:bodyPr wrap="none" lIns="0" tIns="0" rIns="0" bIns="0">
            <a:spAutoFit/>
          </a:bodyPr>
          <a:lstStyle/>
          <a:p>
            <a:pPr>
              <a:defRPr sz="900" b="1">
                <a:solidFill>
                  <a:srgbClr val="6D28D9"/>
                </a:solidFill>
              </a:defRPr>
            </a:pPr>
            <a:r>
              <a:t>POURQUOI LE VLM ?</a:t>
            </a:r>
          </a:p>
        </p:txBody>
      </p:sp>
      <p:sp>
        <p:nvSpPr>
          <p:cNvPr id="25" name="TextBox 24"/>
          <p:cNvSpPr txBox="1"/>
          <p:nvPr/>
        </p:nvSpPr>
        <p:spPr>
          <a:xfrm>
            <a:off x="7178040" y="1993392"/>
            <a:ext cx="4663440" cy="2560320"/>
          </a:xfrm>
          <a:prstGeom prst="rect">
            <a:avLst/>
          </a:prstGeom>
          <a:noFill/>
        </p:spPr>
        <p:txBody>
          <a:bodyPr wrap="square" lIns="0" tIns="0" rIns="0" bIns="0">
            <a:spAutoFit/>
          </a:bodyPr>
          <a:lstStyle/>
          <a:p>
            <a:pPr>
              <a:spcBef>
                <a:spcPts val="200"/>
              </a:spcBef>
              <a:defRPr sz="850" b="1">
                <a:solidFill>
                  <a:srgbClr val="0F172A"/>
                </a:solidFill>
              </a:defRPr>
            </a:pPr>
            <a:r>
              <a:t>Abréviations rencontrées dans les registres :</a:t>
            </a:r>
          </a:p>
          <a:p>
            <a:pPr>
              <a:spcBef>
                <a:spcPts val="200"/>
              </a:spcBef>
              <a:defRPr sz="850" b="0">
                <a:solidFill>
                  <a:srgbClr val="0F172A"/>
                </a:solidFill>
              </a:defRPr>
            </a:pPr>
            <a:r>
              <a:t>• La Chap./A.  →  La Chapelle-sous-Aubenas (07035)</a:t>
            </a:r>
          </a:p>
          <a:p>
            <a:pPr>
              <a:spcBef>
                <a:spcPts val="200"/>
              </a:spcBef>
              <a:defRPr sz="850" b="0">
                <a:solidFill>
                  <a:srgbClr val="0F172A"/>
                </a:solidFill>
              </a:defRPr>
            </a:pPr>
            <a:r>
              <a:t>• St-Prix  →  Saint-Prix (07)</a:t>
            </a:r>
          </a:p>
          <a:p>
            <a:pPr>
              <a:spcBef>
                <a:spcPts val="200"/>
              </a:spcBef>
              <a:defRPr sz="850" b="0">
                <a:solidFill>
                  <a:srgbClr val="B43232"/>
                </a:solidFill>
              </a:defRPr>
            </a:pPr>
            <a:r>
              <a:t>• Champ.  →  Champagne (07033) ou Champagne-le-Sec (86)</a:t>
            </a:r>
          </a:p>
          <a:p>
            <a:pPr>
              <a:spcBef>
                <a:spcPts val="200"/>
              </a:spcBef>
              <a:defRPr sz="850" b="0">
                <a:solidFill>
                  <a:srgbClr val="0F172A"/>
                </a:solidFill>
              </a:defRPr>
            </a:pPr>
            <a:r>
              <a:t>• Vals  →  Vals-les-Bains (07324)</a:t>
            </a:r>
          </a:p>
          <a:p>
            <a:pPr>
              <a:spcBef>
                <a:spcPts val="200"/>
              </a:spcBef>
              <a:defRPr sz="850" b="0">
                <a:solidFill>
                  <a:srgbClr val="0F172A"/>
                </a:solidFill>
              </a:defRPr>
            </a:pPr>
          </a:p>
          <a:p>
            <a:pPr>
              <a:spcBef>
                <a:spcPts val="200"/>
              </a:spcBef>
              <a:defRPr sz="850" b="0">
                <a:solidFill>
                  <a:srgbClr val="475569"/>
                </a:solidFill>
              </a:defRPr>
            </a:pPr>
            <a:r>
              <a:t>Sans contexte géographique ardéchois, impossible de trancher 'Champ.' entre 2 communes.</a:t>
            </a:r>
          </a:p>
          <a:p>
            <a:pPr>
              <a:spcBef>
                <a:spcPts val="200"/>
              </a:spcBef>
              <a:defRPr sz="850" b="0">
                <a:solidFill>
                  <a:srgbClr val="0F172A"/>
                </a:solidFill>
              </a:defRPr>
            </a:pPr>
          </a:p>
          <a:p>
            <a:pPr>
              <a:spcBef>
                <a:spcPts val="200"/>
              </a:spcBef>
              <a:defRPr sz="850" b="0">
                <a:solidFill>
                  <a:srgbClr val="6D28D9"/>
                </a:solidFill>
              </a:defRPr>
            </a:pPr>
            <a:r>
              <a:t>Le VLM analyse l'image + contexte de la page pour lever l'ambiguïté.</a:t>
            </a:r>
          </a:p>
        </p:txBody>
      </p:sp>
      <p:sp>
        <p:nvSpPr>
          <p:cNvPr id="26" name="Rectangle 25"/>
          <p:cNvSpPr/>
          <p:nvPr/>
        </p:nvSpPr>
        <p:spPr>
          <a:xfrm>
            <a:off x="274320" y="5029200"/>
            <a:ext cx="2798064" cy="914400"/>
          </a:xfrm>
          <a:prstGeom prst="rect">
            <a:avLst/>
          </a:prstGeom>
          <a:solidFill>
            <a:srgbClr val="EDE9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6D28D9"/>
                </a:solidFill>
              </a:defRPr>
            </a:pPr>
            <a:r>
              <a:t>&lt; 0.65</a:t>
            </a:r>
          </a:p>
          <a:p>
            <a:pPr algn="ctr">
              <a:spcBef>
                <a:spcPts val="200"/>
              </a:spcBef>
              <a:defRPr sz="700" b="1">
                <a:solidFill>
                  <a:srgbClr val="0F172A"/>
                </a:solidFill>
              </a:defRPr>
            </a:pPr>
            <a:r>
              <a:t>SEUIL ACTIVATION VLM</a:t>
            </a:r>
          </a:p>
          <a:p>
            <a:pPr algn="ctr">
              <a:spcBef>
                <a:spcPts val="100"/>
              </a:spcBef>
              <a:defRPr sz="650">
                <a:solidFill>
                  <a:srgbClr val="475569"/>
                </a:solidFill>
              </a:defRPr>
            </a:pPr>
            <a:r>
              <a:t>Score GLiNER commune</a:t>
            </a:r>
          </a:p>
        </p:txBody>
      </p:sp>
      <p:sp>
        <p:nvSpPr>
          <p:cNvPr id="27" name="Rectangle 26"/>
          <p:cNvSpPr/>
          <p:nvPr/>
        </p:nvSpPr>
        <p:spPr>
          <a:xfrm>
            <a:off x="3182112" y="5029200"/>
            <a:ext cx="2798064"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97 %</a:t>
            </a:r>
          </a:p>
          <a:p>
            <a:pPr algn="ctr">
              <a:spcBef>
                <a:spcPts val="200"/>
              </a:spcBef>
              <a:defRPr sz="700" b="1">
                <a:solidFill>
                  <a:srgbClr val="0F172A"/>
                </a:solidFill>
              </a:defRPr>
            </a:pPr>
            <a:r>
              <a:t>PRÉCISION VLM</a:t>
            </a:r>
          </a:p>
          <a:p>
            <a:pPr algn="ctr">
              <a:spcBef>
                <a:spcPts val="100"/>
              </a:spcBef>
              <a:defRPr sz="650">
                <a:solidFill>
                  <a:srgbClr val="475569"/>
                </a:solidFill>
              </a:defRPr>
            </a:pPr>
            <a:r>
              <a:t>Sur communes ambiguës</a:t>
            </a:r>
          </a:p>
        </p:txBody>
      </p:sp>
      <p:sp>
        <p:nvSpPr>
          <p:cNvPr id="28" name="Rectangle 27"/>
          <p:cNvSpPr/>
          <p:nvPr/>
        </p:nvSpPr>
        <p:spPr>
          <a:xfrm>
            <a:off x="6089904" y="5029200"/>
            <a:ext cx="2798064" cy="914400"/>
          </a:xfrm>
          <a:prstGeom prst="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D97706"/>
                </a:solidFill>
              </a:defRPr>
            </a:pPr>
            <a:r>
              <a:t>~8s</a:t>
            </a:r>
          </a:p>
          <a:p>
            <a:pPr algn="ctr">
              <a:spcBef>
                <a:spcPts val="200"/>
              </a:spcBef>
              <a:defRPr sz="700" b="1">
                <a:solidFill>
                  <a:srgbClr val="0F172A"/>
                </a:solidFill>
              </a:defRPr>
            </a:pPr>
            <a:r>
              <a:t>TEMPS ARBITRAGE VLM</a:t>
            </a:r>
          </a:p>
          <a:p>
            <a:pPr algn="ctr">
              <a:spcBef>
                <a:spcPts val="100"/>
              </a:spcBef>
              <a:defRPr sz="650">
                <a:solidFill>
                  <a:srgbClr val="475569"/>
                </a:solidFill>
              </a:defRPr>
            </a:pPr>
            <a:r>
              <a:t>LLaVA 7B sur GPU local</a:t>
            </a:r>
          </a:p>
        </p:txBody>
      </p:sp>
      <p:sp>
        <p:nvSpPr>
          <p:cNvPr id="29" name="Rectangle 28"/>
          <p:cNvSpPr/>
          <p:nvPr/>
        </p:nvSpPr>
        <p:spPr>
          <a:xfrm>
            <a:off x="8997696" y="5029200"/>
            <a:ext cx="2825496"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0% Cloud</a:t>
            </a:r>
          </a:p>
          <a:p>
            <a:pPr algn="ctr">
              <a:spcBef>
                <a:spcPts val="200"/>
              </a:spcBef>
              <a:defRPr sz="700" b="1">
                <a:solidFill>
                  <a:srgbClr val="0F172A"/>
                </a:solidFill>
              </a:defRPr>
            </a:pPr>
            <a:r>
              <a:t>DÉPLOIEMENT</a:t>
            </a:r>
          </a:p>
          <a:p>
            <a:pPr algn="ctr">
              <a:spcBef>
                <a:spcPts val="100"/>
              </a:spcBef>
              <a:defRPr sz="650">
                <a:solidFill>
                  <a:srgbClr val="475569"/>
                </a:solidFill>
              </a:defRPr>
            </a:pPr>
            <a:r>
              <a:t>100% local — Ollama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9A3412"/>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9A3412"/>
                </a:solidFill>
              </a:defRPr>
            </a:pPr>
            <a:r>
              <a:t>CHAPITRE 5</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Validation &amp; Résultats</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Interface Streamlit, vue miroir, carte Folium et démonstration vidéo</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9A3412"/>
          </a:solidFill>
          <a:ln w="19050">
            <a:solidFill>
              <a:srgbClr val="9A3412"/>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3844442"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5.1 Streamlit</a:t>
            </a:r>
          </a:p>
        </p:txBody>
      </p:sp>
      <p:sp>
        <p:nvSpPr>
          <p:cNvPr id="11" name="Rectangle 10"/>
          <p:cNvSpPr/>
          <p:nvPr/>
        </p:nvSpPr>
        <p:spPr>
          <a:xfrm>
            <a:off x="4173626"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5.2 Vue miroir &amp; Folium</a:t>
            </a:r>
          </a:p>
        </p:txBody>
      </p:sp>
      <p:sp>
        <p:nvSpPr>
          <p:cNvPr id="12" name="Rectangle 11"/>
          <p:cNvSpPr/>
          <p:nvPr/>
        </p:nvSpPr>
        <p:spPr>
          <a:xfrm>
            <a:off x="8072932"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5.3 Démonstration vidéo</a:t>
            </a:r>
          </a:p>
        </p:txBody>
      </p:sp>
      <p:sp>
        <p:nvSpPr>
          <p:cNvPr id="13" name="TextBox 12"/>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5 — VALIDATION &amp; RÉSULTATS</a:t>
            </a:r>
          </a:p>
        </p:txBody>
      </p:sp>
      <p:sp>
        <p:nvSpPr>
          <p:cNvPr id="14" name="TextBox 13"/>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Interface Streamlit : validation humaine avant versement</a:t>
            </a:r>
          </a:p>
        </p:txBody>
      </p:sp>
      <p:sp>
        <p:nvSpPr>
          <p:cNvPr id="15" name="Rectangle 14"/>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21 / 35</a:t>
            </a:r>
          </a:p>
        </p:txBody>
      </p:sp>
      <p:sp>
        <p:nvSpPr>
          <p:cNvPr id="17" name="Rounded Rectangle 16"/>
          <p:cNvSpPr/>
          <p:nvPr/>
        </p:nvSpPr>
        <p:spPr>
          <a:xfrm>
            <a:off x="274320" y="1591056"/>
            <a:ext cx="539496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280160"/>
          <a:lstStyle/>
          <a:p>
            <a:pPr algn="ctr">
              <a:defRPr sz="1000" b="1">
                <a:solidFill>
                  <a:srgbClr val="FFFFFF"/>
                </a:solidFill>
              </a:defRPr>
            </a:pPr>
            <a:r>
              <a:t>Interface de validation Streamlit</a:t>
            </a:r>
          </a:p>
        </p:txBody>
      </p:sp>
      <p:sp>
        <p:nvSpPr>
          <p:cNvPr id="19" name="Rectangle 18"/>
          <p:cNvSpPr/>
          <p:nvPr/>
        </p:nvSpPr>
        <p:spPr>
          <a:xfrm>
            <a:off x="4480560" y="1636776"/>
            <a:ext cx="10972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PORT 8501</a:t>
            </a:r>
          </a:p>
        </p:txBody>
      </p:sp>
      <p:sp>
        <p:nvSpPr>
          <p:cNvPr id="20" name="TextBox 19"/>
          <p:cNvSpPr txBox="1"/>
          <p:nvPr/>
        </p:nvSpPr>
        <p:spPr>
          <a:xfrm>
            <a:off x="384048" y="1956816"/>
            <a:ext cx="5175504" cy="2048256"/>
          </a:xfrm>
          <a:prstGeom prst="rect">
            <a:avLst/>
          </a:prstGeom>
          <a:noFill/>
        </p:spPr>
        <p:txBody>
          <a:bodyPr wrap="square" lIns="0" tIns="0" rIns="0" bIns="0">
            <a:spAutoFit/>
          </a:bodyPr>
          <a:lstStyle/>
          <a:p>
            <a:pPr>
              <a:defRPr sz="950" b="1">
                <a:solidFill>
                  <a:srgbClr val="0F172A"/>
                </a:solidFill>
              </a:defRPr>
            </a:pPr>
            <a:r>
              <a:t>•  Application locale (port 8501)</a:t>
            </a:r>
          </a:p>
          <a:p>
            <a:pPr>
              <a:spcBef>
                <a:spcPts val="100"/>
              </a:spcBef>
              <a:defRPr sz="850">
                <a:solidFill>
                  <a:srgbClr val="334155"/>
                </a:solidFill>
              </a:defRPr>
            </a:pPr>
            <a:r>
              <a:t>   Interface web Streamlit déployée localement. Aucune donnée ne sort du réseau du cabinet.</a:t>
            </a:r>
          </a:p>
          <a:p>
            <a:pPr>
              <a:spcBef>
                <a:spcPts val="500"/>
              </a:spcBef>
              <a:defRPr sz="950" b="1">
                <a:solidFill>
                  <a:srgbClr val="0F172A"/>
                </a:solidFill>
              </a:defRPr>
            </a:pPr>
            <a:r>
              <a:t>•  Vue miroir : scan vs extraction</a:t>
            </a:r>
          </a:p>
          <a:p>
            <a:pPr>
              <a:spcBef>
                <a:spcPts val="100"/>
              </a:spcBef>
              <a:defRPr sz="850">
                <a:solidFill>
                  <a:srgbClr val="334155"/>
                </a:solidFill>
              </a:defRPr>
            </a:pPr>
            <a:r>
              <a:t>   Côte à côte : le scan du document original à gauche, les métadonnées extraites à droite. Correction manuelle possible.</a:t>
            </a:r>
          </a:p>
          <a:p>
            <a:pPr>
              <a:spcBef>
                <a:spcPts val="500"/>
              </a:spcBef>
              <a:defRPr sz="950" b="1">
                <a:solidFill>
                  <a:srgbClr val="0F172A"/>
                </a:solidFill>
              </a:defRPr>
            </a:pPr>
            <a:r>
              <a:t>•  Validation par champ</a:t>
            </a:r>
          </a:p>
          <a:p>
            <a:pPr>
              <a:spcBef>
                <a:spcPts val="100"/>
              </a:spcBef>
              <a:defRPr sz="850">
                <a:solidFill>
                  <a:srgbClr val="334155"/>
                </a:solidFill>
              </a:defRPr>
            </a:pPr>
            <a:r>
              <a:t>   Chaque champ peut être corrigé individuellement. Un bouton 'Valider' finalise le JSON avant versement.</a:t>
            </a:r>
          </a:p>
        </p:txBody>
      </p:sp>
      <p:sp>
        <p:nvSpPr>
          <p:cNvPr id="21" name="Rectangle 20"/>
          <p:cNvSpPr/>
          <p:nvPr/>
        </p:nvSpPr>
        <p:spPr>
          <a:xfrm>
            <a:off x="347472" y="402336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Déploiement : streamlit run app_validation.py — aucun serveur externe requis.</a:t>
            </a:r>
          </a:p>
        </p:txBody>
      </p:sp>
      <p:sp>
        <p:nvSpPr>
          <p:cNvPr id="22" name="Rectangle 21"/>
          <p:cNvSpPr/>
          <p:nvPr/>
        </p:nvSpPr>
        <p:spPr>
          <a:xfrm>
            <a:off x="5852160" y="1591056"/>
            <a:ext cx="6065215" cy="2743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25312" y="1627632"/>
            <a:ext cx="5918911" cy="256032"/>
          </a:xfrm>
          <a:prstGeom prst="rect">
            <a:avLst/>
          </a:prstGeom>
          <a:noFill/>
        </p:spPr>
        <p:txBody>
          <a:bodyPr wrap="square" tIns="0" bIns="0" lIns="0" rIns="0">
            <a:spAutoFit/>
          </a:bodyPr>
          <a:lstStyle/>
          <a:p>
            <a:pPr algn="ctr">
              <a:defRPr sz="800" b="1">
                <a:solidFill>
                  <a:srgbClr val="0F2546"/>
                </a:solidFill>
              </a:defRPr>
            </a:pPr>
            <a:r>
              <a:t>INTERFACE STREAMLIT — RECHERCHE DE RÉFÉRENCE</a:t>
            </a:r>
          </a:p>
        </p:txBody>
      </p:sp>
      <p:pic>
        <p:nvPicPr>
          <p:cNvPr id="24" name="Picture 23" descr="Etape 1_recherche_reference.jpg"/>
          <p:cNvPicPr>
            <a:picLocks noChangeAspect="1"/>
          </p:cNvPicPr>
          <p:nvPr/>
        </p:nvPicPr>
        <p:blipFill>
          <a:blip r:embed="rId2"/>
          <a:stretch>
            <a:fillRect/>
          </a:stretch>
        </p:blipFill>
        <p:spPr>
          <a:xfrm>
            <a:off x="5925312" y="2207943"/>
            <a:ext cx="5918911" cy="1527713"/>
          </a:xfrm>
          <a:prstGeom prst="rect">
            <a:avLst/>
          </a:prstGeom>
        </p:spPr>
      </p:pic>
      <p:sp>
        <p:nvSpPr>
          <p:cNvPr id="25" name="TextBox 24"/>
          <p:cNvSpPr txBox="1"/>
          <p:nvPr/>
        </p:nvSpPr>
        <p:spPr>
          <a:xfrm>
            <a:off x="5925312" y="4096512"/>
            <a:ext cx="5918911" cy="219456"/>
          </a:xfrm>
          <a:prstGeom prst="rect">
            <a:avLst/>
          </a:prstGeom>
          <a:noFill/>
        </p:spPr>
        <p:txBody>
          <a:bodyPr wrap="square" tIns="0" bIns="0" lIns="0" rIns="0">
            <a:spAutoFit/>
          </a:bodyPr>
          <a:lstStyle/>
          <a:p>
            <a:pPr algn="ctr">
              <a:defRPr sz="750">
                <a:solidFill>
                  <a:srgbClr val="475569"/>
                </a:solidFill>
              </a:defRPr>
            </a:pPr>
            <a:r>
              <a:t>Étape 1 : saisie de la référence d'affaire et chargement du scan</a:t>
            </a:r>
          </a:p>
        </p:txBody>
      </p:sp>
      <p:sp>
        <p:nvSpPr>
          <p:cNvPr id="26" name="Rectangle 25"/>
          <p:cNvSpPr/>
          <p:nvPr/>
        </p:nvSpPr>
        <p:spPr>
          <a:xfrm>
            <a:off x="274320" y="4462272"/>
            <a:ext cx="55778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4498848"/>
            <a:ext cx="5431536" cy="256032"/>
          </a:xfrm>
          <a:prstGeom prst="rect">
            <a:avLst/>
          </a:prstGeom>
          <a:noFill/>
        </p:spPr>
        <p:txBody>
          <a:bodyPr wrap="square" tIns="0" bIns="0" lIns="0" rIns="0">
            <a:spAutoFit/>
          </a:bodyPr>
          <a:lstStyle/>
          <a:p>
            <a:pPr algn="ctr">
              <a:defRPr sz="800" b="1">
                <a:solidFill>
                  <a:srgbClr val="0F2546"/>
                </a:solidFill>
              </a:defRPr>
            </a:pPr>
            <a:r>
              <a:t>VUE MIROIR — MÉTADONNÉES EXTRAITES VS SCAN ORIGINAL</a:t>
            </a:r>
          </a:p>
        </p:txBody>
      </p:sp>
      <p:pic>
        <p:nvPicPr>
          <p:cNvPr id="28" name="Picture 27" descr="5.5_reprtoire_A_infos.jpg"/>
          <p:cNvPicPr>
            <a:picLocks noChangeAspect="1"/>
          </p:cNvPicPr>
          <p:nvPr/>
        </p:nvPicPr>
        <p:blipFill>
          <a:blip r:embed="rId3"/>
          <a:stretch>
            <a:fillRect/>
          </a:stretch>
        </p:blipFill>
        <p:spPr>
          <a:xfrm>
            <a:off x="2766814" y="4773168"/>
            <a:ext cx="592851" cy="1591056"/>
          </a:xfrm>
          <a:prstGeom prst="rect">
            <a:avLst/>
          </a:prstGeom>
        </p:spPr>
      </p:pic>
      <p:sp>
        <p:nvSpPr>
          <p:cNvPr id="29" name="TextBox 28"/>
          <p:cNvSpPr txBox="1"/>
          <p:nvPr/>
        </p:nvSpPr>
        <p:spPr>
          <a:xfrm>
            <a:off x="347472" y="6419088"/>
            <a:ext cx="5431536" cy="219456"/>
          </a:xfrm>
          <a:prstGeom prst="rect">
            <a:avLst/>
          </a:prstGeom>
          <a:noFill/>
        </p:spPr>
        <p:txBody>
          <a:bodyPr wrap="square" tIns="0" bIns="0" lIns="0" rIns="0">
            <a:spAutoFit/>
          </a:bodyPr>
          <a:lstStyle/>
          <a:p>
            <a:pPr algn="ctr">
              <a:defRPr sz="750">
                <a:solidFill>
                  <a:srgbClr val="475569"/>
                </a:solidFill>
              </a:defRPr>
            </a:pPr>
            <a:r>
              <a:t>Affichage côte à côte permettant la correction manuelle champ par champ</a:t>
            </a:r>
          </a:p>
        </p:txBody>
      </p:sp>
      <p:sp>
        <p:nvSpPr>
          <p:cNvPr id="30" name="Rectangle 29"/>
          <p:cNvSpPr/>
          <p:nvPr/>
        </p:nvSpPr>
        <p:spPr>
          <a:xfrm>
            <a:off x="6035040" y="4462272"/>
            <a:ext cx="5882335"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4498848"/>
            <a:ext cx="5736031" cy="256032"/>
          </a:xfrm>
          <a:prstGeom prst="rect">
            <a:avLst/>
          </a:prstGeom>
          <a:noFill/>
        </p:spPr>
        <p:txBody>
          <a:bodyPr wrap="square" tIns="0" bIns="0" lIns="0" rIns="0">
            <a:spAutoFit/>
          </a:bodyPr>
          <a:lstStyle/>
          <a:p>
            <a:pPr algn="ctr">
              <a:defRPr sz="800" b="1">
                <a:solidFill>
                  <a:srgbClr val="0F2546"/>
                </a:solidFill>
              </a:defRPr>
            </a:pPr>
            <a:r>
              <a:t>ÉTAPE 2 — LOCALISATION CARTOGRAPHIQUE</a:t>
            </a:r>
          </a:p>
        </p:txBody>
      </p:sp>
      <p:pic>
        <p:nvPicPr>
          <p:cNvPr id="32" name="Picture 31" descr="Etape_2_localisation_cartographie.jpg"/>
          <p:cNvPicPr>
            <a:picLocks noChangeAspect="1"/>
          </p:cNvPicPr>
          <p:nvPr/>
        </p:nvPicPr>
        <p:blipFill>
          <a:blip r:embed="rId4"/>
          <a:stretch>
            <a:fillRect/>
          </a:stretch>
        </p:blipFill>
        <p:spPr>
          <a:xfrm>
            <a:off x="7546844" y="4773168"/>
            <a:ext cx="2858726" cy="1591056"/>
          </a:xfrm>
          <a:prstGeom prst="rect">
            <a:avLst/>
          </a:prstGeom>
        </p:spPr>
      </p:pic>
      <p:sp>
        <p:nvSpPr>
          <p:cNvPr id="33" name="TextBox 32"/>
          <p:cNvSpPr txBox="1"/>
          <p:nvPr/>
        </p:nvSpPr>
        <p:spPr>
          <a:xfrm>
            <a:off x="6108192" y="6419088"/>
            <a:ext cx="5736031" cy="219456"/>
          </a:xfrm>
          <a:prstGeom prst="rect">
            <a:avLst/>
          </a:prstGeom>
          <a:noFill/>
        </p:spPr>
        <p:txBody>
          <a:bodyPr wrap="square" tIns="0" bIns="0" lIns="0" rIns="0">
            <a:spAutoFit/>
          </a:bodyPr>
          <a:lstStyle/>
          <a:p>
            <a:pPr algn="ctr">
              <a:defRPr sz="750">
                <a:solidFill>
                  <a:srgbClr val="475569"/>
                </a:solidFill>
              </a:defRPr>
            </a:pPr>
            <a:r>
              <a:t>Positionnement de l'affaire sur la carte avant versement API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9A3412"/>
          </a:solidFill>
          <a:ln w="19050">
            <a:solidFill>
              <a:srgbClr val="9A3412"/>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5.1 Streamlit</a:t>
            </a:r>
          </a:p>
        </p:txBody>
      </p:sp>
      <p:sp>
        <p:nvSpPr>
          <p:cNvPr id="11" name="Rectangle 10"/>
          <p:cNvSpPr/>
          <p:nvPr/>
        </p:nvSpPr>
        <p:spPr>
          <a:xfrm>
            <a:off x="4173626" y="457200"/>
            <a:ext cx="3844442"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5.2 Vue miroir &amp; Folium</a:t>
            </a:r>
          </a:p>
        </p:txBody>
      </p:sp>
      <p:sp>
        <p:nvSpPr>
          <p:cNvPr id="12" name="Rectangle 11"/>
          <p:cNvSpPr/>
          <p:nvPr/>
        </p:nvSpPr>
        <p:spPr>
          <a:xfrm>
            <a:off x="8072932" y="457200"/>
            <a:ext cx="3844442"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5.3 Démonstration vidéo</a:t>
            </a:r>
          </a:p>
        </p:txBody>
      </p:sp>
      <p:sp>
        <p:nvSpPr>
          <p:cNvPr id="13" name="TextBox 12"/>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5 — VALIDATION &amp; RÉSULTATS</a:t>
            </a:r>
          </a:p>
        </p:txBody>
      </p:sp>
      <p:sp>
        <p:nvSpPr>
          <p:cNvPr id="14" name="TextBox 13"/>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Répertoire d'affaires et cartographie Folium</a:t>
            </a:r>
          </a:p>
        </p:txBody>
      </p:sp>
      <p:sp>
        <p:nvSpPr>
          <p:cNvPr id="15" name="Rectangle 14"/>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22 / 35</a:t>
            </a:r>
          </a:p>
        </p:txBody>
      </p:sp>
      <p:sp>
        <p:nvSpPr>
          <p:cNvPr id="17" name="Rounded Rectangle 16"/>
          <p:cNvSpPr/>
          <p:nvPr/>
        </p:nvSpPr>
        <p:spPr>
          <a:xfrm>
            <a:off x="274320" y="1591056"/>
            <a:ext cx="539496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371600"/>
          <a:lstStyle/>
          <a:p>
            <a:pPr algn="ctr">
              <a:defRPr sz="1000" b="1">
                <a:solidFill>
                  <a:srgbClr val="FFFFFF"/>
                </a:solidFill>
              </a:defRPr>
            </a:pPr>
            <a:r>
              <a:t>Répertoire numérique des affaires</a:t>
            </a:r>
          </a:p>
        </p:txBody>
      </p:sp>
      <p:sp>
        <p:nvSpPr>
          <p:cNvPr id="19" name="Rectangle 18"/>
          <p:cNvSpPr/>
          <p:nvPr/>
        </p:nvSpPr>
        <p:spPr>
          <a:xfrm>
            <a:off x="4389120" y="1636776"/>
            <a:ext cx="11887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EXPORT CSV</a:t>
            </a:r>
          </a:p>
        </p:txBody>
      </p:sp>
      <p:sp>
        <p:nvSpPr>
          <p:cNvPr id="20" name="TextBox 19"/>
          <p:cNvSpPr txBox="1"/>
          <p:nvPr/>
        </p:nvSpPr>
        <p:spPr>
          <a:xfrm>
            <a:off x="384048" y="1956816"/>
            <a:ext cx="5175504" cy="1956816"/>
          </a:xfrm>
          <a:prstGeom prst="rect">
            <a:avLst/>
          </a:prstGeom>
          <a:noFill/>
        </p:spPr>
        <p:txBody>
          <a:bodyPr wrap="square" lIns="0" tIns="0" rIns="0" bIns="0">
            <a:spAutoFit/>
          </a:bodyPr>
          <a:lstStyle/>
          <a:p>
            <a:pPr>
              <a:defRPr sz="900" b="1">
                <a:solidFill>
                  <a:srgbClr val="0F172A"/>
                </a:solidFill>
              </a:defRPr>
            </a:pPr>
            <a:r>
              <a:t>•  Répertoire alphabétique des affaires</a:t>
            </a:r>
          </a:p>
          <a:p>
            <a:pPr>
              <a:spcBef>
                <a:spcPts val="100"/>
              </a:spcBef>
              <a:defRPr sz="800">
                <a:solidFill>
                  <a:srgbClr val="334155"/>
                </a:solidFill>
              </a:defRPr>
            </a:pPr>
            <a:r>
              <a:t>   Liste filtrée et recherchable de tous les dossiers traités, avec accès direct au scan et aux métadonnées.</a:t>
            </a:r>
          </a:p>
          <a:p>
            <a:pPr>
              <a:spcBef>
                <a:spcPts val="300"/>
              </a:spcBef>
              <a:defRPr sz="900" b="1">
                <a:solidFill>
                  <a:srgbClr val="0F172A"/>
                </a:solidFill>
              </a:defRPr>
            </a:pPr>
            <a:r>
              <a:t>•  Export CSV / Excel</a:t>
            </a:r>
          </a:p>
          <a:p>
            <a:pPr>
              <a:spcBef>
                <a:spcPts val="100"/>
              </a:spcBef>
              <a:defRPr sz="800">
                <a:solidFill>
                  <a:srgbClr val="334155"/>
                </a:solidFill>
              </a:defRPr>
            </a:pPr>
            <a:r>
              <a:t>   Génération automatique d'un fichier de synthèse pour le cabinet, avec tous les champs validés.</a:t>
            </a:r>
          </a:p>
          <a:p>
            <a:pPr>
              <a:spcBef>
                <a:spcPts val="300"/>
              </a:spcBef>
              <a:defRPr sz="900" b="1">
                <a:solidFill>
                  <a:srgbClr val="0F172A"/>
                </a:solidFill>
              </a:defRPr>
            </a:pPr>
            <a:r>
              <a:t>•  Traçabilité des modifications</a:t>
            </a:r>
          </a:p>
          <a:p>
            <a:pPr>
              <a:spcBef>
                <a:spcPts val="100"/>
              </a:spcBef>
              <a:defRPr sz="800">
                <a:solidFill>
                  <a:srgbClr val="334155"/>
                </a:solidFill>
              </a:defRPr>
            </a:pPr>
            <a:r>
              <a:t>   Journal horodaté de chaque correction manuelle — conforme aux exigences de l'article 55 du décret 1996.</a:t>
            </a:r>
          </a:p>
        </p:txBody>
      </p:sp>
      <p:sp>
        <p:nvSpPr>
          <p:cNvPr id="21" name="Rectangle 20"/>
          <p:cNvSpPr/>
          <p:nvPr/>
        </p:nvSpPr>
        <p:spPr>
          <a:xfrm>
            <a:off x="347472" y="393192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Le répertoire remplace les anciens fichiers Excel manuels tenus par le cabinet.</a:t>
            </a:r>
          </a:p>
        </p:txBody>
      </p:sp>
      <p:sp>
        <p:nvSpPr>
          <p:cNvPr id="22" name="Rounded Rectangle 21"/>
          <p:cNvSpPr/>
          <p:nvPr/>
        </p:nvSpPr>
        <p:spPr>
          <a:xfrm>
            <a:off x="5852160" y="1591056"/>
            <a:ext cx="606521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920240"/>
          <a:lstStyle/>
          <a:p>
            <a:pPr algn="ctr">
              <a:defRPr sz="1000" b="1">
                <a:solidFill>
                  <a:srgbClr val="FFFFFF"/>
                </a:solidFill>
              </a:defRPr>
            </a:pPr>
            <a:r>
              <a:t>Cartographie des affaires (Folium)</a:t>
            </a:r>
          </a:p>
        </p:txBody>
      </p:sp>
      <p:sp>
        <p:nvSpPr>
          <p:cNvPr id="24" name="Rectangle 23"/>
          <p:cNvSpPr/>
          <p:nvPr/>
        </p:nvSpPr>
        <p:spPr>
          <a:xfrm>
            <a:off x="10088575" y="1636776"/>
            <a:ext cx="1737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FOLIUM / LEAFLET</a:t>
            </a:r>
          </a:p>
        </p:txBody>
      </p:sp>
      <p:sp>
        <p:nvSpPr>
          <p:cNvPr id="25" name="TextBox 24"/>
          <p:cNvSpPr txBox="1"/>
          <p:nvPr/>
        </p:nvSpPr>
        <p:spPr>
          <a:xfrm>
            <a:off x="5961888" y="1956816"/>
            <a:ext cx="5845759" cy="1956816"/>
          </a:xfrm>
          <a:prstGeom prst="rect">
            <a:avLst/>
          </a:prstGeom>
          <a:noFill/>
        </p:spPr>
        <p:txBody>
          <a:bodyPr wrap="square" lIns="0" tIns="0" rIns="0" bIns="0">
            <a:spAutoFit/>
          </a:bodyPr>
          <a:lstStyle/>
          <a:p>
            <a:pPr>
              <a:defRPr sz="900" b="1">
                <a:solidFill>
                  <a:srgbClr val="0F172A"/>
                </a:solidFill>
              </a:defRPr>
            </a:pPr>
            <a:r>
              <a:t>•  Carte interactive Folium (Leaflet.js)</a:t>
            </a:r>
          </a:p>
          <a:p>
            <a:pPr>
              <a:spcBef>
                <a:spcPts val="100"/>
              </a:spcBef>
              <a:defRPr sz="800">
                <a:solidFill>
                  <a:srgbClr val="334155"/>
                </a:solidFill>
              </a:defRPr>
            </a:pPr>
            <a:r>
              <a:t>   Chaque affaire validée apparaît comme un marqueur géolocalisé sur une carte OpenStreetMap.</a:t>
            </a:r>
          </a:p>
          <a:p>
            <a:pPr>
              <a:spcBef>
                <a:spcPts val="300"/>
              </a:spcBef>
              <a:defRPr sz="900" b="1">
                <a:solidFill>
                  <a:srgbClr val="0F172A"/>
                </a:solidFill>
              </a:defRPr>
            </a:pPr>
            <a:r>
              <a:t>•  Informations au clic</a:t>
            </a:r>
          </a:p>
          <a:p>
            <a:pPr>
              <a:spcBef>
                <a:spcPts val="100"/>
              </a:spcBef>
              <a:defRPr sz="800">
                <a:solidFill>
                  <a:srgbClr val="334155"/>
                </a:solidFill>
              </a:defRPr>
            </a:pPr>
            <a:r>
              <a:t>   Clic sur un marqueur : référence, commune, date, surface, lien vers le scan PDF.</a:t>
            </a:r>
          </a:p>
          <a:p>
            <a:pPr>
              <a:spcBef>
                <a:spcPts val="300"/>
              </a:spcBef>
              <a:defRPr sz="900" b="1">
                <a:solidFill>
                  <a:srgbClr val="0F172A"/>
                </a:solidFill>
              </a:defRPr>
            </a:pPr>
            <a:r>
              <a:t>•  Export HTML autonome</a:t>
            </a:r>
          </a:p>
          <a:p>
            <a:pPr>
              <a:spcBef>
                <a:spcPts val="100"/>
              </a:spcBef>
              <a:defRPr sz="800">
                <a:solidFill>
                  <a:srgbClr val="334155"/>
                </a:solidFill>
              </a:defRPr>
            </a:pPr>
            <a:r>
              <a:t>   La carte est exportée en HTML autonome — consultable sans connexion internet.</a:t>
            </a:r>
          </a:p>
        </p:txBody>
      </p:sp>
      <p:sp>
        <p:nvSpPr>
          <p:cNvPr id="26" name="Rectangle 25"/>
          <p:cNvSpPr/>
          <p:nvPr/>
        </p:nvSpPr>
        <p:spPr>
          <a:xfrm>
            <a:off x="5925312" y="393192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Superposition possible avec les couches cadastrales WMS du Géoportail IGN.</a:t>
            </a:r>
          </a:p>
        </p:txBody>
      </p:sp>
      <p:sp>
        <p:nvSpPr>
          <p:cNvPr id="27" name="Rectangle 26"/>
          <p:cNvSpPr/>
          <p:nvPr/>
        </p:nvSpPr>
        <p:spPr>
          <a:xfrm>
            <a:off x="274320" y="4352544"/>
            <a:ext cx="557784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4389120"/>
            <a:ext cx="5431536" cy="256032"/>
          </a:xfrm>
          <a:prstGeom prst="rect">
            <a:avLst/>
          </a:prstGeom>
          <a:noFill/>
        </p:spPr>
        <p:txBody>
          <a:bodyPr wrap="square" tIns="0" bIns="0" lIns="0" rIns="0">
            <a:spAutoFit/>
          </a:bodyPr>
          <a:lstStyle/>
          <a:p>
            <a:pPr algn="ctr">
              <a:defRPr sz="800" b="1">
                <a:solidFill>
                  <a:srgbClr val="0F2546"/>
                </a:solidFill>
              </a:defRPr>
            </a:pPr>
            <a:r>
              <a:t>RÉPERTOIRE DES AFFAIRES — LISTE FILTRÉE</a:t>
            </a:r>
          </a:p>
        </p:txBody>
      </p:sp>
      <p:pic>
        <p:nvPicPr>
          <p:cNvPr id="29" name="Picture 28" descr="5.5_reprtoire_A_liste.jpg"/>
          <p:cNvPicPr>
            <a:picLocks noChangeAspect="1"/>
          </p:cNvPicPr>
          <p:nvPr/>
        </p:nvPicPr>
        <p:blipFill>
          <a:blip r:embed="rId2"/>
          <a:stretch>
            <a:fillRect/>
          </a:stretch>
        </p:blipFill>
        <p:spPr>
          <a:xfrm>
            <a:off x="347472" y="5032915"/>
            <a:ext cx="5431536" cy="1034985"/>
          </a:xfrm>
          <a:prstGeom prst="rect">
            <a:avLst/>
          </a:prstGeom>
        </p:spPr>
      </p:pic>
      <p:sp>
        <p:nvSpPr>
          <p:cNvPr id="30" name="TextBox 29"/>
          <p:cNvSpPr txBox="1"/>
          <p:nvPr/>
        </p:nvSpPr>
        <p:spPr>
          <a:xfrm>
            <a:off x="347472" y="6492240"/>
            <a:ext cx="5431536" cy="219456"/>
          </a:xfrm>
          <a:prstGeom prst="rect">
            <a:avLst/>
          </a:prstGeom>
          <a:noFill/>
        </p:spPr>
        <p:txBody>
          <a:bodyPr wrap="square" tIns="0" bIns="0" lIns="0" rIns="0">
            <a:spAutoFit/>
          </a:bodyPr>
          <a:lstStyle/>
          <a:p>
            <a:pPr algn="ctr">
              <a:defRPr sz="750">
                <a:solidFill>
                  <a:srgbClr val="475569"/>
                </a:solidFill>
              </a:defRPr>
            </a:pPr>
            <a:r>
              <a:t>Recherche par commune, date ou référence — export CSV en 1 clic</a:t>
            </a:r>
          </a:p>
        </p:txBody>
      </p:sp>
      <p:sp>
        <p:nvSpPr>
          <p:cNvPr id="31" name="Rectangle 30"/>
          <p:cNvSpPr/>
          <p:nvPr/>
        </p:nvSpPr>
        <p:spPr>
          <a:xfrm>
            <a:off x="6035040" y="4352544"/>
            <a:ext cx="5882335"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8192" y="4389120"/>
            <a:ext cx="5736031" cy="256032"/>
          </a:xfrm>
          <a:prstGeom prst="rect">
            <a:avLst/>
          </a:prstGeom>
          <a:noFill/>
        </p:spPr>
        <p:txBody>
          <a:bodyPr wrap="square" tIns="0" bIns="0" lIns="0" rIns="0">
            <a:spAutoFit/>
          </a:bodyPr>
          <a:lstStyle/>
          <a:p>
            <a:pPr algn="ctr">
              <a:defRPr sz="800" b="1">
                <a:solidFill>
                  <a:srgbClr val="0F2546"/>
                </a:solidFill>
              </a:defRPr>
            </a:pPr>
            <a:r>
              <a:t>CARTE FOLIUM — LOCALISATION DES AFFAIRES</a:t>
            </a:r>
          </a:p>
        </p:txBody>
      </p:sp>
      <p:pic>
        <p:nvPicPr>
          <p:cNvPr id="33" name="Picture 32" descr="6.4_etape2_parcelles.jpg"/>
          <p:cNvPicPr>
            <a:picLocks noChangeAspect="1"/>
          </p:cNvPicPr>
          <p:nvPr/>
        </p:nvPicPr>
        <p:blipFill>
          <a:blip r:embed="rId3"/>
          <a:stretch>
            <a:fillRect/>
          </a:stretch>
        </p:blipFill>
        <p:spPr>
          <a:xfrm>
            <a:off x="7233668" y="4663440"/>
            <a:ext cx="3485077" cy="1773936"/>
          </a:xfrm>
          <a:prstGeom prst="rect">
            <a:avLst/>
          </a:prstGeom>
        </p:spPr>
      </p:pic>
      <p:sp>
        <p:nvSpPr>
          <p:cNvPr id="34" name="TextBox 33"/>
          <p:cNvSpPr txBox="1"/>
          <p:nvPr/>
        </p:nvSpPr>
        <p:spPr>
          <a:xfrm>
            <a:off x="6108192" y="6492240"/>
            <a:ext cx="5736031" cy="219456"/>
          </a:xfrm>
          <a:prstGeom prst="rect">
            <a:avLst/>
          </a:prstGeom>
          <a:noFill/>
        </p:spPr>
        <p:txBody>
          <a:bodyPr wrap="square" tIns="0" bIns="0" lIns="0" rIns="0">
            <a:spAutoFit/>
          </a:bodyPr>
          <a:lstStyle/>
          <a:p>
            <a:pPr algn="ctr">
              <a:defRPr sz="750">
                <a:solidFill>
                  <a:srgbClr val="475569"/>
                </a:solidFill>
              </a:defRPr>
            </a:pPr>
            <a:r>
              <a:t>Marqueurs géolocalisés sur fond OpenStreetMap + couche cadastrale 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457200" y="182880"/>
            <a:ext cx="11277295" cy="457200"/>
          </a:xfrm>
          <a:prstGeom prst="rect">
            <a:avLst/>
          </a:prstGeom>
          <a:noFill/>
        </p:spPr>
        <p:txBody>
          <a:bodyPr wrap="none" lIns="0" tIns="0" rIns="0" bIns="0">
            <a:spAutoFit/>
          </a:bodyPr>
          <a:lstStyle/>
          <a:p>
            <a:pPr algn="ctr">
              <a:defRPr sz="1400" b="1">
                <a:solidFill>
                  <a:srgbClr val="0284C7"/>
                </a:solidFill>
              </a:defRPr>
            </a:pPr>
            <a:r>
              <a:t>DÉMONSTRATION — Pipeline complet sur un registre réel</a:t>
            </a:r>
          </a:p>
        </p:txBody>
      </p:sp>
      <p:pic>
        <p:nvPicPr>
          <p:cNvPr id="3" name="Demonstration_PFE_Condensee_1m25.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00887" y="713232"/>
            <a:ext cx="10789920" cy="5650992"/>
          </a:xfrm>
          <a:prstGeom prst="rect">
            <a:avLst/>
          </a:prstGeom>
        </p:spPr>
      </p:pic>
      <p:sp>
        <p:nvSpPr>
          <p:cNvPr id="4" name="TextBox 3"/>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23 / 35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766E"/>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F766E"/>
                </a:solidFill>
              </a:defRPr>
            </a:pPr>
            <a:r>
              <a:t>CHAPITRE 6</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Intégration Géofoncier</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API REST, versement par lot, cas de Prades et évaluation F1</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24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0F766E"/>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6.1 API REST &amp; JWT</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6.2 Versement par lot</a:t>
            </a:r>
          </a:p>
        </p:txBody>
      </p:sp>
      <p:sp>
        <p:nvSpPr>
          <p:cNvPr id="12" name="Rectangle 11"/>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6.3 Cas de Prades</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6.4 Éval. F1</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6 — INTÉGRATION GÉOFONCIER</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Protocole API REST et versement automatisé par lot</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25 / 35</a:t>
            </a:r>
          </a:p>
        </p:txBody>
      </p:sp>
      <p:sp>
        <p:nvSpPr>
          <p:cNvPr id="18" name="Rounded Rectangle 17"/>
          <p:cNvSpPr/>
          <p:nvPr/>
        </p:nvSpPr>
        <p:spPr>
          <a:xfrm>
            <a:off x="274320" y="1591056"/>
            <a:ext cx="539496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371600"/>
          <a:lstStyle/>
          <a:p>
            <a:pPr algn="ctr">
              <a:defRPr sz="1000" b="1">
                <a:solidFill>
                  <a:srgbClr val="FFFFFF"/>
                </a:solidFill>
              </a:defRPr>
            </a:pPr>
            <a:r>
              <a:t>Protocole API Géofoncier</a:t>
            </a:r>
          </a:p>
        </p:txBody>
      </p:sp>
      <p:sp>
        <p:nvSpPr>
          <p:cNvPr id="20" name="Rectangle 19"/>
          <p:cNvSpPr/>
          <p:nvPr/>
        </p:nvSpPr>
        <p:spPr>
          <a:xfrm>
            <a:off x="4389120" y="1636776"/>
            <a:ext cx="11887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REST / JWT</a:t>
            </a:r>
          </a:p>
        </p:txBody>
      </p:sp>
      <p:sp>
        <p:nvSpPr>
          <p:cNvPr id="21" name="TextBox 20"/>
          <p:cNvSpPr txBox="1"/>
          <p:nvPr/>
        </p:nvSpPr>
        <p:spPr>
          <a:xfrm>
            <a:off x="384048" y="1956816"/>
            <a:ext cx="5175504" cy="2048256"/>
          </a:xfrm>
          <a:prstGeom prst="rect">
            <a:avLst/>
          </a:prstGeom>
          <a:noFill/>
        </p:spPr>
        <p:txBody>
          <a:bodyPr wrap="square" lIns="0" tIns="0" rIns="0" bIns="0">
            <a:spAutoFit/>
          </a:bodyPr>
          <a:lstStyle/>
          <a:p>
            <a:pPr>
              <a:defRPr sz="950" b="1">
                <a:solidFill>
                  <a:srgbClr val="0F172A"/>
                </a:solidFill>
              </a:defRPr>
            </a:pPr>
            <a:r>
              <a:t>•  Authentification JWT Bearer</a:t>
            </a:r>
          </a:p>
          <a:p>
            <a:pPr>
              <a:spcBef>
                <a:spcPts val="100"/>
              </a:spcBef>
              <a:defRPr sz="850">
                <a:solidFill>
                  <a:srgbClr val="334155"/>
                </a:solidFill>
              </a:defRPr>
            </a:pPr>
            <a:r>
              <a:t>   Token obtenu via POST /api/auth — validité 1 heure. Renouvellement automatique par le script.</a:t>
            </a:r>
          </a:p>
          <a:p>
            <a:pPr>
              <a:spcBef>
                <a:spcPts val="500"/>
              </a:spcBef>
              <a:defRPr sz="950" b="1">
                <a:solidFill>
                  <a:srgbClr val="0F172A"/>
                </a:solidFill>
              </a:defRPr>
            </a:pPr>
            <a:r>
              <a:t>•  Endpoint de versement</a:t>
            </a:r>
          </a:p>
          <a:p>
            <a:pPr>
              <a:spcBef>
                <a:spcPts val="100"/>
              </a:spcBef>
              <a:defRPr sz="850">
                <a:solidFill>
                  <a:srgbClr val="334155"/>
                </a:solidFill>
              </a:defRPr>
            </a:pPr>
            <a:r>
              <a:t>   POST /api/v2/affaires — payload JSON avec les 5 champs + pièce jointe PDF (multipart/form-data).</a:t>
            </a:r>
          </a:p>
          <a:p>
            <a:pPr>
              <a:spcBef>
                <a:spcPts val="500"/>
              </a:spcBef>
              <a:defRPr sz="950" b="1">
                <a:solidFill>
                  <a:srgbClr val="0F172A"/>
                </a:solidFill>
              </a:defRPr>
            </a:pPr>
            <a:r>
              <a:t>•  Vérification de doublon (GET)</a:t>
            </a:r>
          </a:p>
          <a:p>
            <a:pPr>
              <a:spcBef>
                <a:spcPts val="100"/>
              </a:spcBef>
              <a:defRPr sz="850">
                <a:solidFill>
                  <a:srgbClr val="334155"/>
                </a:solidFill>
              </a:defRPr>
            </a:pPr>
            <a:r>
              <a:t>   Avant versement, GET /api/v2/affaires?commune=... détecte les doublons par commune + date.</a:t>
            </a:r>
          </a:p>
        </p:txBody>
      </p:sp>
      <p:sp>
        <p:nvSpPr>
          <p:cNvPr id="22" name="Rectangle 21"/>
          <p:cNvSpPr/>
          <p:nvPr/>
        </p:nvSpPr>
        <p:spPr>
          <a:xfrm>
            <a:off x="347472" y="402336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La documentation Swagger est accessible sur GéofoncierEXPERT pour les membres OGE.</a:t>
            </a:r>
          </a:p>
        </p:txBody>
      </p:sp>
      <p:sp>
        <p:nvSpPr>
          <p:cNvPr id="23" name="Rounded Rectangle 22"/>
          <p:cNvSpPr/>
          <p:nvPr/>
        </p:nvSpPr>
        <p:spPr>
          <a:xfrm>
            <a:off x="5852160" y="1591056"/>
            <a:ext cx="606521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371600"/>
          <a:lstStyle/>
          <a:p>
            <a:pPr algn="ctr">
              <a:defRPr sz="1000" b="1">
                <a:solidFill>
                  <a:srgbClr val="FFFFFF"/>
                </a:solidFill>
              </a:defRPr>
            </a:pPr>
            <a:r>
              <a:t>Versement par lot et gestion d'erreurs</a:t>
            </a:r>
          </a:p>
        </p:txBody>
      </p:sp>
      <p:sp>
        <p:nvSpPr>
          <p:cNvPr id="25" name="Rectangle 24"/>
          <p:cNvSpPr/>
          <p:nvPr/>
        </p:nvSpPr>
        <p:spPr>
          <a:xfrm>
            <a:off x="10637215" y="1636776"/>
            <a:ext cx="11887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BATCH MODE</a:t>
            </a:r>
          </a:p>
        </p:txBody>
      </p:sp>
      <p:sp>
        <p:nvSpPr>
          <p:cNvPr id="26" name="TextBox 25"/>
          <p:cNvSpPr txBox="1"/>
          <p:nvPr/>
        </p:nvSpPr>
        <p:spPr>
          <a:xfrm>
            <a:off x="5961888" y="1956816"/>
            <a:ext cx="5845759" cy="2048256"/>
          </a:xfrm>
          <a:prstGeom prst="rect">
            <a:avLst/>
          </a:prstGeom>
          <a:noFill/>
        </p:spPr>
        <p:txBody>
          <a:bodyPr wrap="square" lIns="0" tIns="0" rIns="0" bIns="0">
            <a:spAutoFit/>
          </a:bodyPr>
          <a:lstStyle/>
          <a:p>
            <a:pPr>
              <a:defRPr sz="950" b="1">
                <a:solidFill>
                  <a:srgbClr val="0F172A"/>
                </a:solidFill>
              </a:defRPr>
            </a:pPr>
            <a:r>
              <a:t>•  Versement en lot (batch mode)</a:t>
            </a:r>
          </a:p>
          <a:p>
            <a:pPr>
              <a:spcBef>
                <a:spcPts val="100"/>
              </a:spcBef>
              <a:defRPr sz="850">
                <a:solidFill>
                  <a:srgbClr val="334155"/>
                </a:solidFill>
              </a:defRPr>
            </a:pPr>
            <a:r>
              <a:t>   Traitement de plusieurs dossiers en séquence : délai d'1 seconde entre requêtes pour respecter le rate-limit.</a:t>
            </a:r>
          </a:p>
          <a:p>
            <a:pPr>
              <a:spcBef>
                <a:spcPts val="500"/>
              </a:spcBef>
              <a:defRPr sz="950" b="1">
                <a:solidFill>
                  <a:srgbClr val="0F172A"/>
                </a:solidFill>
              </a:defRPr>
            </a:pPr>
            <a:r>
              <a:t>•  Gestion des erreurs HTTP</a:t>
            </a:r>
          </a:p>
          <a:p>
            <a:pPr>
              <a:spcBef>
                <a:spcPts val="100"/>
              </a:spcBef>
              <a:defRPr sz="850">
                <a:solidFill>
                  <a:srgbClr val="334155"/>
                </a:solidFill>
              </a:defRPr>
            </a:pPr>
            <a:r>
              <a:t>   Codes 400/409/500 : journalisation dans un fichier log + notification Streamlit. Reprise possible.</a:t>
            </a:r>
          </a:p>
          <a:p>
            <a:pPr>
              <a:spcBef>
                <a:spcPts val="500"/>
              </a:spcBef>
              <a:defRPr sz="950" b="1">
                <a:solidFill>
                  <a:srgbClr val="0F172A"/>
                </a:solidFill>
              </a:defRPr>
            </a:pPr>
            <a:r>
              <a:t>•  Rapport de versement automatique</a:t>
            </a:r>
          </a:p>
          <a:p>
            <a:pPr>
              <a:spcBef>
                <a:spcPts val="100"/>
              </a:spcBef>
              <a:defRPr sz="850">
                <a:solidFill>
                  <a:srgbClr val="334155"/>
                </a:solidFill>
              </a:defRPr>
            </a:pPr>
            <a:r>
              <a:t>   Fichier CSV horodaté résumant : référence, commune, date, statut HTTP, ID Géofoncier retourné.</a:t>
            </a:r>
          </a:p>
        </p:txBody>
      </p:sp>
      <p:sp>
        <p:nvSpPr>
          <p:cNvPr id="27" name="Rectangle 26"/>
          <p:cNvSpPr/>
          <p:nvPr/>
        </p:nvSpPr>
        <p:spPr>
          <a:xfrm>
            <a:off x="5925312" y="402336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Débit constaté : 80 à 120 dossiers versés par heure selon la connexion.</a:t>
            </a:r>
          </a:p>
        </p:txBody>
      </p:sp>
      <p:sp>
        <p:nvSpPr>
          <p:cNvPr id="28" name="Rectangle 27"/>
          <p:cNvSpPr/>
          <p:nvPr/>
        </p:nvSpPr>
        <p:spPr>
          <a:xfrm>
            <a:off x="274320" y="4462272"/>
            <a:ext cx="5577840" cy="217627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498848"/>
            <a:ext cx="5431536" cy="256032"/>
          </a:xfrm>
          <a:prstGeom prst="rect">
            <a:avLst/>
          </a:prstGeom>
          <a:noFill/>
        </p:spPr>
        <p:txBody>
          <a:bodyPr wrap="square" tIns="0" bIns="0" lIns="0" rIns="0">
            <a:spAutoFit/>
          </a:bodyPr>
          <a:lstStyle/>
          <a:p>
            <a:pPr algn="ctr">
              <a:defRPr sz="800" b="1">
                <a:solidFill>
                  <a:srgbClr val="0F2546"/>
                </a:solidFill>
              </a:defRPr>
            </a:pPr>
            <a:r>
              <a:t>INTERFACE GÉOFONCIER — CONFIRMATION DE VERSEMENT</a:t>
            </a:r>
          </a:p>
        </p:txBody>
      </p:sp>
      <p:pic>
        <p:nvPicPr>
          <p:cNvPr id="30" name="Picture 29" descr="Etape 3_Versement_geofoncier.jpg"/>
          <p:cNvPicPr>
            <a:picLocks noChangeAspect="1"/>
          </p:cNvPicPr>
          <p:nvPr/>
        </p:nvPicPr>
        <p:blipFill>
          <a:blip r:embed="rId2"/>
          <a:stretch>
            <a:fillRect/>
          </a:stretch>
        </p:blipFill>
        <p:spPr>
          <a:xfrm>
            <a:off x="1239498" y="4773168"/>
            <a:ext cx="3647483" cy="1572768"/>
          </a:xfrm>
          <a:prstGeom prst="rect">
            <a:avLst/>
          </a:prstGeom>
        </p:spPr>
      </p:pic>
      <p:sp>
        <p:nvSpPr>
          <p:cNvPr id="31" name="TextBox 30"/>
          <p:cNvSpPr txBox="1"/>
          <p:nvPr/>
        </p:nvSpPr>
        <p:spPr>
          <a:xfrm>
            <a:off x="347472" y="6400800"/>
            <a:ext cx="5431536" cy="219456"/>
          </a:xfrm>
          <a:prstGeom prst="rect">
            <a:avLst/>
          </a:prstGeom>
          <a:noFill/>
        </p:spPr>
        <p:txBody>
          <a:bodyPr wrap="square" tIns="0" bIns="0" lIns="0" rIns="0">
            <a:spAutoFit/>
          </a:bodyPr>
          <a:lstStyle/>
          <a:p>
            <a:pPr algn="ctr">
              <a:defRPr sz="750">
                <a:solidFill>
                  <a:srgbClr val="475569"/>
                </a:solidFill>
              </a:defRPr>
            </a:pPr>
            <a:r>
              <a:t>Pastille créée sur Géofoncier après versement réussi (HTTP 201)</a:t>
            </a:r>
          </a:p>
        </p:txBody>
      </p:sp>
      <p:sp>
        <p:nvSpPr>
          <p:cNvPr id="32" name="Rectangle 31"/>
          <p:cNvSpPr/>
          <p:nvPr/>
        </p:nvSpPr>
        <p:spPr>
          <a:xfrm>
            <a:off x="6035040" y="4462272"/>
            <a:ext cx="5882335" cy="217627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4498848"/>
            <a:ext cx="5736031" cy="256032"/>
          </a:xfrm>
          <a:prstGeom prst="rect">
            <a:avLst/>
          </a:prstGeom>
          <a:noFill/>
        </p:spPr>
        <p:txBody>
          <a:bodyPr wrap="square" tIns="0" bIns="0" lIns="0" rIns="0">
            <a:spAutoFit/>
          </a:bodyPr>
          <a:lstStyle/>
          <a:p>
            <a:pPr algn="ctr">
              <a:defRPr sz="800" b="1">
                <a:solidFill>
                  <a:srgbClr val="0F2546"/>
                </a:solidFill>
              </a:defRPr>
            </a:pPr>
            <a:r>
              <a:t>PASTILLE GÉOFONCIER — VUE CARTOGRAPHIQUE</a:t>
            </a:r>
          </a:p>
        </p:txBody>
      </p:sp>
      <p:pic>
        <p:nvPicPr>
          <p:cNvPr id="34" name="Picture 33" descr="6_succes_pastille.jpg"/>
          <p:cNvPicPr>
            <a:picLocks noChangeAspect="1"/>
          </p:cNvPicPr>
          <p:nvPr/>
        </p:nvPicPr>
        <p:blipFill>
          <a:blip r:embed="rId3"/>
          <a:stretch>
            <a:fillRect/>
          </a:stretch>
        </p:blipFill>
        <p:spPr>
          <a:xfrm>
            <a:off x="6108192" y="5200010"/>
            <a:ext cx="5736031" cy="719082"/>
          </a:xfrm>
          <a:prstGeom prst="rect">
            <a:avLst/>
          </a:prstGeom>
        </p:spPr>
      </p:pic>
      <p:sp>
        <p:nvSpPr>
          <p:cNvPr id="35" name="TextBox 34"/>
          <p:cNvSpPr txBox="1"/>
          <p:nvPr/>
        </p:nvSpPr>
        <p:spPr>
          <a:xfrm>
            <a:off x="6108192" y="6400800"/>
            <a:ext cx="5736031" cy="219456"/>
          </a:xfrm>
          <a:prstGeom prst="rect">
            <a:avLst/>
          </a:prstGeom>
          <a:noFill/>
        </p:spPr>
        <p:txBody>
          <a:bodyPr wrap="square" tIns="0" bIns="0" lIns="0" rIns="0">
            <a:spAutoFit/>
          </a:bodyPr>
          <a:lstStyle/>
          <a:p>
            <a:pPr algn="ctr">
              <a:defRPr sz="750">
                <a:solidFill>
                  <a:srgbClr val="475569"/>
                </a:solidFill>
              </a:defRPr>
            </a:pPr>
            <a:r>
              <a:t>L'acte historique apparaît désormais sur la carte Géofoncier de la commune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0F766E"/>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6.1 API REST &amp; JWT</a:t>
            </a:r>
          </a:p>
        </p:txBody>
      </p:sp>
      <p:sp>
        <p:nvSpPr>
          <p:cNvPr id="11" name="Rectangle 10"/>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6.2 Versement par lot</a:t>
            </a:r>
          </a:p>
        </p:txBody>
      </p:sp>
      <p:sp>
        <p:nvSpPr>
          <p:cNvPr id="12" name="Rectangle 11"/>
          <p:cNvSpPr/>
          <p:nvPr/>
        </p:nvSpPr>
        <p:spPr>
          <a:xfrm>
            <a:off x="612327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6.3 Cas de Prades</a:t>
            </a:r>
          </a:p>
        </p:txBody>
      </p:sp>
      <p:sp>
        <p:nvSpPr>
          <p:cNvPr id="13" name="Rectangle 12"/>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6.4 Éval. F1</a:t>
            </a:r>
          </a:p>
        </p:txBody>
      </p:sp>
      <p:sp>
        <p:nvSpPr>
          <p:cNvPr id="14" name="TextBox 13"/>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6 — INTÉGRATION GÉOFONCIER</a:t>
            </a:r>
          </a:p>
        </p:txBody>
      </p:sp>
      <p:sp>
        <p:nvSpPr>
          <p:cNvPr id="15" name="TextBox 14"/>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Cas de Prades et évaluation quantitative des performances</a:t>
            </a:r>
          </a:p>
        </p:txBody>
      </p:sp>
      <p:sp>
        <p:nvSpPr>
          <p:cNvPr id="16" name="Rectangle 15"/>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26 / 35</a:t>
            </a:r>
          </a:p>
        </p:txBody>
      </p:sp>
      <p:sp>
        <p:nvSpPr>
          <p:cNvPr id="18" name="Rounded Rectangle 17"/>
          <p:cNvSpPr/>
          <p:nvPr/>
        </p:nvSpPr>
        <p:spPr>
          <a:xfrm>
            <a:off x="274320" y="1591056"/>
            <a:ext cx="548640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Cas opérationnel : commune de Prades</a:t>
            </a:r>
          </a:p>
        </p:txBody>
      </p:sp>
      <p:sp>
        <p:nvSpPr>
          <p:cNvPr id="20" name="Rectangle 19"/>
          <p:cNvSpPr/>
          <p:nvPr/>
        </p:nvSpPr>
        <p:spPr>
          <a:xfrm>
            <a:off x="4297680"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47/50 SUCCÈS</a:t>
            </a:r>
          </a:p>
        </p:txBody>
      </p:sp>
      <p:sp>
        <p:nvSpPr>
          <p:cNvPr id="21" name="TextBox 20"/>
          <p:cNvSpPr txBox="1"/>
          <p:nvPr/>
        </p:nvSpPr>
        <p:spPr>
          <a:xfrm>
            <a:off x="384048" y="1956816"/>
            <a:ext cx="5266944" cy="1956816"/>
          </a:xfrm>
          <a:prstGeom prst="rect">
            <a:avLst/>
          </a:prstGeom>
          <a:noFill/>
        </p:spPr>
        <p:txBody>
          <a:bodyPr wrap="square" lIns="0" tIns="0" rIns="0" bIns="0">
            <a:spAutoFit/>
          </a:bodyPr>
          <a:lstStyle/>
          <a:p>
            <a:pPr>
              <a:defRPr sz="900" b="1">
                <a:solidFill>
                  <a:srgbClr val="0F172A"/>
                </a:solidFill>
              </a:defRPr>
            </a:pPr>
            <a:r>
              <a:t>•  Commune de Prades (Ardèche) — test grandeur réelle</a:t>
            </a:r>
          </a:p>
          <a:p>
            <a:pPr>
              <a:spcBef>
                <a:spcPts val="100"/>
              </a:spcBef>
              <a:defRPr sz="800">
                <a:solidFill>
                  <a:srgbClr val="334155"/>
                </a:solidFill>
              </a:defRPr>
            </a:pPr>
            <a:r>
              <a:t>   50 dossiers des années 1970-1990 versés en conditions réelles, avec validation humaine à chaque étape.</a:t>
            </a:r>
          </a:p>
          <a:p>
            <a:pPr>
              <a:spcBef>
                <a:spcPts val="300"/>
              </a:spcBef>
              <a:defRPr sz="900" b="1">
                <a:solidFill>
                  <a:srgbClr val="0F172A"/>
                </a:solidFill>
              </a:defRPr>
            </a:pPr>
            <a:r>
              <a:t>•  Résultat : 47 / 50 dossiers versés avec succès</a:t>
            </a:r>
          </a:p>
          <a:p>
            <a:pPr>
              <a:spcBef>
                <a:spcPts val="100"/>
              </a:spcBef>
              <a:defRPr sz="800">
                <a:solidFill>
                  <a:srgbClr val="334155"/>
                </a:solidFill>
              </a:defRPr>
            </a:pPr>
            <a:r>
              <a:t>   3 échecs : 2 sur qualité scan trop dégradée (&lt; 200 DPI), 1 sur doublon existant dans Géofoncier.</a:t>
            </a:r>
          </a:p>
          <a:p>
            <a:pPr>
              <a:spcBef>
                <a:spcPts val="300"/>
              </a:spcBef>
              <a:defRPr sz="900" b="1">
                <a:solidFill>
                  <a:srgbClr val="0F172A"/>
                </a:solidFill>
              </a:defRPr>
            </a:pPr>
            <a:r>
              <a:t>•  Validation par le cabinet</a:t>
            </a:r>
          </a:p>
          <a:p>
            <a:pPr>
              <a:spcBef>
                <a:spcPts val="100"/>
              </a:spcBef>
              <a:defRPr sz="800">
                <a:solidFill>
                  <a:srgbClr val="334155"/>
                </a:solidFill>
              </a:defRPr>
            </a:pPr>
            <a:r>
              <a:t>   M. Hague a validé la cohérence des métadonnées extraites pour chacun des 47 dossiers versés.</a:t>
            </a:r>
          </a:p>
        </p:txBody>
      </p:sp>
      <p:sp>
        <p:nvSpPr>
          <p:cNvPr id="22" name="Rectangle 21"/>
          <p:cNvSpPr/>
          <p:nvPr/>
        </p:nvSpPr>
        <p:spPr>
          <a:xfrm>
            <a:off x="347472" y="393192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Gain de temps estimé : 4h de saisie manuelle évitée pour 50 dossiers.</a:t>
            </a:r>
          </a:p>
        </p:txBody>
      </p:sp>
      <p:sp>
        <p:nvSpPr>
          <p:cNvPr id="23" name="TextBox 22"/>
          <p:cNvSpPr txBox="1"/>
          <p:nvPr/>
        </p:nvSpPr>
        <p:spPr>
          <a:xfrm>
            <a:off x="5852160" y="1591056"/>
            <a:ext cx="6065215" cy="237744"/>
          </a:xfrm>
          <a:prstGeom prst="rect">
            <a:avLst/>
          </a:prstGeom>
          <a:noFill/>
        </p:spPr>
        <p:txBody>
          <a:bodyPr wrap="none">
            <a:spAutoFit/>
          </a:bodyPr>
          <a:lstStyle/>
          <a:p>
            <a:pPr>
              <a:defRPr sz="800" b="1">
                <a:solidFill>
                  <a:srgbClr val="0284C7"/>
                </a:solidFill>
              </a:defRPr>
            </a:pPr>
            <a:r>
              <a:t>SCORES F1 PAR CHAMP OBLIGATOIRE GÉOFONCIER</a:t>
            </a:r>
          </a:p>
        </p:txBody>
      </p:sp>
      <p:sp>
        <p:nvSpPr>
          <p:cNvPr id="24" name="TextBox 23"/>
          <p:cNvSpPr txBox="1"/>
          <p:nvPr/>
        </p:nvSpPr>
        <p:spPr>
          <a:xfrm>
            <a:off x="5852160" y="1883664"/>
            <a:ext cx="2834640" cy="402336"/>
          </a:xfrm>
          <a:prstGeom prst="rect">
            <a:avLst/>
          </a:prstGeom>
          <a:noFill/>
        </p:spPr>
        <p:txBody>
          <a:bodyPr wrap="none" tIns="91440">
            <a:spAutoFit/>
          </a:bodyPr>
          <a:lstStyle/>
          <a:p>
            <a:pPr>
              <a:defRPr sz="900" b="0">
                <a:solidFill>
                  <a:srgbClr val="0F172A"/>
                </a:solidFill>
              </a:defRPr>
            </a:pPr>
            <a:r>
              <a:t>Commune (code INSEE)</a:t>
            </a:r>
          </a:p>
        </p:txBody>
      </p:sp>
      <p:sp>
        <p:nvSpPr>
          <p:cNvPr id="25" name="Rectangle 24"/>
          <p:cNvSpPr/>
          <p:nvPr/>
        </p:nvSpPr>
        <p:spPr>
          <a:xfrm>
            <a:off x="8796528" y="19476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96528" y="1947672"/>
            <a:ext cx="2234793"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65408" y="1883664"/>
            <a:ext cx="850392" cy="402336"/>
          </a:xfrm>
          <a:prstGeom prst="rect">
            <a:avLst/>
          </a:prstGeom>
          <a:noFill/>
        </p:spPr>
        <p:txBody>
          <a:bodyPr wrap="none" tIns="73152">
            <a:spAutoFit/>
          </a:bodyPr>
          <a:lstStyle/>
          <a:p>
            <a:pPr>
              <a:defRPr sz="950" b="1">
                <a:solidFill>
                  <a:srgbClr val="16A34A"/>
                </a:solidFill>
              </a:defRPr>
            </a:pPr>
            <a:r>
              <a:t>F1 = 0.94</a:t>
            </a:r>
          </a:p>
        </p:txBody>
      </p:sp>
      <p:sp>
        <p:nvSpPr>
          <p:cNvPr id="28" name="TextBox 27"/>
          <p:cNvSpPr txBox="1"/>
          <p:nvPr/>
        </p:nvSpPr>
        <p:spPr>
          <a:xfrm>
            <a:off x="5852160" y="2340864"/>
            <a:ext cx="2834640" cy="402336"/>
          </a:xfrm>
          <a:prstGeom prst="rect">
            <a:avLst/>
          </a:prstGeom>
          <a:noFill/>
        </p:spPr>
        <p:txBody>
          <a:bodyPr wrap="none" tIns="91440">
            <a:spAutoFit/>
          </a:bodyPr>
          <a:lstStyle/>
          <a:p>
            <a:pPr>
              <a:defRPr sz="900" b="0">
                <a:solidFill>
                  <a:srgbClr val="0F172A"/>
                </a:solidFill>
              </a:defRPr>
            </a:pPr>
            <a:r>
              <a:t>Date de l'acte</a:t>
            </a:r>
          </a:p>
        </p:txBody>
      </p:sp>
      <p:sp>
        <p:nvSpPr>
          <p:cNvPr id="29" name="Rectangle 28"/>
          <p:cNvSpPr/>
          <p:nvPr/>
        </p:nvSpPr>
        <p:spPr>
          <a:xfrm>
            <a:off x="8796528" y="24048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96528" y="2404872"/>
            <a:ext cx="216347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65408" y="2340864"/>
            <a:ext cx="850392" cy="402336"/>
          </a:xfrm>
          <a:prstGeom prst="rect">
            <a:avLst/>
          </a:prstGeom>
          <a:noFill/>
        </p:spPr>
        <p:txBody>
          <a:bodyPr wrap="none" tIns="73152">
            <a:spAutoFit/>
          </a:bodyPr>
          <a:lstStyle/>
          <a:p>
            <a:pPr>
              <a:defRPr sz="950" b="1">
                <a:solidFill>
                  <a:srgbClr val="16A34A"/>
                </a:solidFill>
              </a:defRPr>
            </a:pPr>
            <a:r>
              <a:t>F1 = 0.91</a:t>
            </a:r>
          </a:p>
        </p:txBody>
      </p:sp>
      <p:sp>
        <p:nvSpPr>
          <p:cNvPr id="32" name="TextBox 31"/>
          <p:cNvSpPr txBox="1"/>
          <p:nvPr/>
        </p:nvSpPr>
        <p:spPr>
          <a:xfrm>
            <a:off x="5852160" y="2798064"/>
            <a:ext cx="2834640" cy="402336"/>
          </a:xfrm>
          <a:prstGeom prst="rect">
            <a:avLst/>
          </a:prstGeom>
          <a:noFill/>
        </p:spPr>
        <p:txBody>
          <a:bodyPr wrap="none" tIns="91440">
            <a:spAutoFit/>
          </a:bodyPr>
          <a:lstStyle/>
          <a:p>
            <a:pPr>
              <a:defRPr sz="900" b="0">
                <a:solidFill>
                  <a:srgbClr val="0F172A"/>
                </a:solidFill>
              </a:defRPr>
            </a:pPr>
            <a:r>
              <a:t>Surface (m²)</a:t>
            </a:r>
          </a:p>
        </p:txBody>
      </p:sp>
      <p:sp>
        <p:nvSpPr>
          <p:cNvPr id="33" name="Rectangle 32"/>
          <p:cNvSpPr/>
          <p:nvPr/>
        </p:nvSpPr>
        <p:spPr>
          <a:xfrm>
            <a:off x="8796528" y="28620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96528" y="2862072"/>
            <a:ext cx="2092147" cy="274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65408" y="2798064"/>
            <a:ext cx="850392" cy="402336"/>
          </a:xfrm>
          <a:prstGeom prst="rect">
            <a:avLst/>
          </a:prstGeom>
          <a:noFill/>
        </p:spPr>
        <p:txBody>
          <a:bodyPr wrap="none" tIns="73152">
            <a:spAutoFit/>
          </a:bodyPr>
          <a:lstStyle/>
          <a:p>
            <a:pPr>
              <a:defRPr sz="950" b="1">
                <a:solidFill>
                  <a:srgbClr val="0284C7"/>
                </a:solidFill>
              </a:defRPr>
            </a:pPr>
            <a:r>
              <a:t>F1 = 0.88</a:t>
            </a:r>
          </a:p>
        </p:txBody>
      </p:sp>
      <p:sp>
        <p:nvSpPr>
          <p:cNvPr id="36" name="TextBox 35"/>
          <p:cNvSpPr txBox="1"/>
          <p:nvPr/>
        </p:nvSpPr>
        <p:spPr>
          <a:xfrm>
            <a:off x="5852160" y="3255264"/>
            <a:ext cx="2834640" cy="402336"/>
          </a:xfrm>
          <a:prstGeom prst="rect">
            <a:avLst/>
          </a:prstGeom>
          <a:noFill/>
        </p:spPr>
        <p:txBody>
          <a:bodyPr wrap="none" tIns="91440">
            <a:spAutoFit/>
          </a:bodyPr>
          <a:lstStyle/>
          <a:p>
            <a:pPr>
              <a:defRPr sz="900" b="0">
                <a:solidFill>
                  <a:srgbClr val="0F172A"/>
                </a:solidFill>
              </a:defRPr>
            </a:pPr>
            <a:r>
              <a:t>Nature opération</a:t>
            </a:r>
          </a:p>
        </p:txBody>
      </p:sp>
      <p:sp>
        <p:nvSpPr>
          <p:cNvPr id="37" name="Rectangle 36"/>
          <p:cNvSpPr/>
          <p:nvPr/>
        </p:nvSpPr>
        <p:spPr>
          <a:xfrm>
            <a:off x="8796528" y="33192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96528" y="3319272"/>
            <a:ext cx="2020824" cy="274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65408" y="3255264"/>
            <a:ext cx="850392" cy="402336"/>
          </a:xfrm>
          <a:prstGeom prst="rect">
            <a:avLst/>
          </a:prstGeom>
          <a:noFill/>
        </p:spPr>
        <p:txBody>
          <a:bodyPr wrap="none" tIns="73152">
            <a:spAutoFit/>
          </a:bodyPr>
          <a:lstStyle/>
          <a:p>
            <a:pPr>
              <a:defRPr sz="950" b="1">
                <a:solidFill>
                  <a:srgbClr val="0284C7"/>
                </a:solidFill>
              </a:defRPr>
            </a:pPr>
            <a:r>
              <a:t>F1 = 0.85</a:t>
            </a:r>
          </a:p>
        </p:txBody>
      </p:sp>
      <p:sp>
        <p:nvSpPr>
          <p:cNvPr id="40" name="TextBox 39"/>
          <p:cNvSpPr txBox="1"/>
          <p:nvPr/>
        </p:nvSpPr>
        <p:spPr>
          <a:xfrm>
            <a:off x="5852160" y="3712464"/>
            <a:ext cx="2834640" cy="402336"/>
          </a:xfrm>
          <a:prstGeom prst="rect">
            <a:avLst/>
          </a:prstGeom>
          <a:noFill/>
        </p:spPr>
        <p:txBody>
          <a:bodyPr wrap="none" tIns="91440">
            <a:spAutoFit/>
          </a:bodyPr>
          <a:lstStyle/>
          <a:p>
            <a:pPr>
              <a:defRPr sz="900" b="0">
                <a:solidFill>
                  <a:srgbClr val="0F172A"/>
                </a:solidFill>
              </a:defRPr>
            </a:pPr>
            <a:r>
              <a:t>Type d'acte</a:t>
            </a:r>
          </a:p>
        </p:txBody>
      </p:sp>
      <p:sp>
        <p:nvSpPr>
          <p:cNvPr id="41" name="Rectangle 40"/>
          <p:cNvSpPr/>
          <p:nvPr/>
        </p:nvSpPr>
        <p:spPr>
          <a:xfrm>
            <a:off x="8796528" y="37764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796528" y="3776472"/>
            <a:ext cx="194950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265408" y="3712464"/>
            <a:ext cx="850392" cy="402336"/>
          </a:xfrm>
          <a:prstGeom prst="rect">
            <a:avLst/>
          </a:prstGeom>
          <a:noFill/>
        </p:spPr>
        <p:txBody>
          <a:bodyPr wrap="none" tIns="73152">
            <a:spAutoFit/>
          </a:bodyPr>
          <a:lstStyle/>
          <a:p>
            <a:pPr>
              <a:defRPr sz="950" b="1">
                <a:solidFill>
                  <a:srgbClr val="D97706"/>
                </a:solidFill>
              </a:defRPr>
            </a:pPr>
            <a:r>
              <a:t>F1 = 0.82</a:t>
            </a:r>
          </a:p>
        </p:txBody>
      </p:sp>
      <p:sp>
        <p:nvSpPr>
          <p:cNvPr id="44" name="TextBox 43"/>
          <p:cNvSpPr txBox="1"/>
          <p:nvPr/>
        </p:nvSpPr>
        <p:spPr>
          <a:xfrm>
            <a:off x="5852160" y="4169664"/>
            <a:ext cx="2834640" cy="402336"/>
          </a:xfrm>
          <a:prstGeom prst="rect">
            <a:avLst/>
          </a:prstGeom>
          <a:noFill/>
        </p:spPr>
        <p:txBody>
          <a:bodyPr wrap="none" tIns="91440">
            <a:spAutoFit/>
          </a:bodyPr>
          <a:lstStyle/>
          <a:p>
            <a:pPr>
              <a:defRPr sz="950" b="1">
                <a:solidFill>
                  <a:srgbClr val="0F172A"/>
                </a:solidFill>
              </a:defRPr>
            </a:pPr>
            <a:r>
              <a:t>Score global</a:t>
            </a:r>
          </a:p>
        </p:txBody>
      </p:sp>
      <p:sp>
        <p:nvSpPr>
          <p:cNvPr id="45" name="Rectangle 44"/>
          <p:cNvSpPr/>
          <p:nvPr/>
        </p:nvSpPr>
        <p:spPr>
          <a:xfrm>
            <a:off x="8796528" y="4233672"/>
            <a:ext cx="2377440" cy="274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96528" y="4233672"/>
            <a:ext cx="2092147"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65408" y="4169664"/>
            <a:ext cx="850392" cy="402336"/>
          </a:xfrm>
          <a:prstGeom prst="rect">
            <a:avLst/>
          </a:prstGeom>
          <a:noFill/>
        </p:spPr>
        <p:txBody>
          <a:bodyPr wrap="none" tIns="73152">
            <a:spAutoFit/>
          </a:bodyPr>
          <a:lstStyle/>
          <a:p>
            <a:pPr>
              <a:defRPr sz="1000" b="1">
                <a:solidFill>
                  <a:srgbClr val="16A34A"/>
                </a:solidFill>
              </a:defRPr>
            </a:pPr>
            <a:r>
              <a:t>F1 = 0.88</a:t>
            </a:r>
          </a:p>
        </p:txBody>
      </p:sp>
      <p:sp>
        <p:nvSpPr>
          <p:cNvPr id="48" name="Rectangle 47"/>
          <p:cNvSpPr/>
          <p:nvPr/>
        </p:nvSpPr>
        <p:spPr>
          <a:xfrm>
            <a:off x="274320" y="4370832"/>
            <a:ext cx="11643055" cy="22677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72" y="4407408"/>
            <a:ext cx="11496751" cy="256032"/>
          </a:xfrm>
          <a:prstGeom prst="rect">
            <a:avLst/>
          </a:prstGeom>
          <a:noFill/>
        </p:spPr>
        <p:txBody>
          <a:bodyPr wrap="square" tIns="0" bIns="0" lIns="0" rIns="0">
            <a:spAutoFit/>
          </a:bodyPr>
          <a:lstStyle/>
          <a:p>
            <a:pPr algn="ctr">
              <a:defRPr sz="800" b="1">
                <a:solidFill>
                  <a:srgbClr val="0F2546"/>
                </a:solidFill>
              </a:defRPr>
            </a:pPr>
            <a:r>
              <a:t>CONFIRMATION DE VERSEMENT GÉOFONCIER — COMMUNE DE PRADES</a:t>
            </a:r>
          </a:p>
        </p:txBody>
      </p:sp>
      <p:pic>
        <p:nvPicPr>
          <p:cNvPr id="50" name="Picture 49" descr="6.4_match_confirm.jpg"/>
          <p:cNvPicPr>
            <a:picLocks noChangeAspect="1"/>
          </p:cNvPicPr>
          <p:nvPr/>
        </p:nvPicPr>
        <p:blipFill>
          <a:blip r:embed="rId2"/>
          <a:stretch>
            <a:fillRect/>
          </a:stretch>
        </p:blipFill>
        <p:spPr>
          <a:xfrm>
            <a:off x="3376767" y="4681728"/>
            <a:ext cx="5438160" cy="1664208"/>
          </a:xfrm>
          <a:prstGeom prst="rect">
            <a:avLst/>
          </a:prstGeom>
        </p:spPr>
      </p:pic>
      <p:sp>
        <p:nvSpPr>
          <p:cNvPr id="51" name="TextBox 50"/>
          <p:cNvSpPr txBox="1"/>
          <p:nvPr/>
        </p:nvSpPr>
        <p:spPr>
          <a:xfrm>
            <a:off x="347472" y="6400800"/>
            <a:ext cx="11496751" cy="219456"/>
          </a:xfrm>
          <a:prstGeom prst="rect">
            <a:avLst/>
          </a:prstGeom>
          <a:noFill/>
        </p:spPr>
        <p:txBody>
          <a:bodyPr wrap="square" tIns="0" bIns="0" lIns="0" rIns="0">
            <a:spAutoFit/>
          </a:bodyPr>
          <a:lstStyle/>
          <a:p>
            <a:pPr algn="ctr">
              <a:defRPr sz="750">
                <a:solidFill>
                  <a:srgbClr val="475569"/>
                </a:solidFill>
              </a:defRPr>
            </a:pPr>
            <a:r>
              <a:t>Capture de la pastille créée sur Géofoncier après versement des 47 dossiers (HTTP 201)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6D28D9"/>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6D28D9"/>
                </a:solidFill>
              </a:defRPr>
            </a:pPr>
            <a:r>
              <a:t>CHAPITRE 7</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Limites &amp; Perspectives</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Limites physiques du système, retours terrain et pistes d'évolution</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27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6D28D9"/>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7. LIMITES</a:t>
            </a:r>
          </a:p>
        </p:txBody>
      </p:sp>
      <p:sp>
        <p:nvSpPr>
          <p:cNvPr id="9" name="Rectangle 8"/>
          <p:cNvSpPr/>
          <p:nvPr/>
        </p:nvSpPr>
        <p:spPr>
          <a:xfrm>
            <a:off x="1049399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8. CONCL.</a:t>
            </a:r>
          </a:p>
        </p:txBody>
      </p:sp>
      <p:sp>
        <p:nvSpPr>
          <p:cNvPr id="10" name="Rectangle 9"/>
          <p:cNvSpPr/>
          <p:nvPr/>
        </p:nvSpPr>
        <p:spPr>
          <a:xfrm>
            <a:off x="274320" y="457200"/>
            <a:ext cx="579409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7.1 Limites physiques</a:t>
            </a:r>
          </a:p>
        </p:txBody>
      </p:sp>
      <p:sp>
        <p:nvSpPr>
          <p:cNvPr id="11" name="Rectangle 10"/>
          <p:cNvSpPr/>
          <p:nvPr/>
        </p:nvSpPr>
        <p:spPr>
          <a:xfrm>
            <a:off x="6123279" y="457200"/>
            <a:ext cx="579409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7.2 Perspectives</a:t>
            </a:r>
          </a:p>
        </p:txBody>
      </p:sp>
      <p:sp>
        <p:nvSpPr>
          <p:cNvPr id="12" name="TextBox 11"/>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7 — LIMITES &amp; PERSPECTIVES</a:t>
            </a:r>
          </a:p>
        </p:txBody>
      </p:sp>
      <p:sp>
        <p:nvSpPr>
          <p:cNvPr id="13" name="TextBox 12"/>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Ce que le système ne sait pas faire (encore)</a:t>
            </a:r>
          </a:p>
        </p:txBody>
      </p:sp>
      <p:sp>
        <p:nvSpPr>
          <p:cNvPr id="14" name="Rectangle 13"/>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28 / 35</a:t>
            </a:r>
          </a:p>
        </p:txBody>
      </p:sp>
      <p:sp>
        <p:nvSpPr>
          <p:cNvPr id="16" name="Rounded Rectangle 15"/>
          <p:cNvSpPr/>
          <p:nvPr/>
        </p:nvSpPr>
        <p:spPr>
          <a:xfrm>
            <a:off x="274320" y="1591056"/>
            <a:ext cx="539496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591056"/>
            <a:ext cx="5394960" cy="329184"/>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097280"/>
          <a:lstStyle/>
          <a:p>
            <a:pPr algn="ctr">
              <a:defRPr sz="1000" b="1">
                <a:solidFill>
                  <a:srgbClr val="FFFFFF"/>
                </a:solidFill>
              </a:defRPr>
            </a:pPr>
            <a:r>
              <a:t>Limites techniques identifiées</a:t>
            </a:r>
          </a:p>
        </p:txBody>
      </p:sp>
      <p:sp>
        <p:nvSpPr>
          <p:cNvPr id="18" name="Rectangle 17"/>
          <p:cNvSpPr/>
          <p:nvPr/>
        </p:nvSpPr>
        <p:spPr>
          <a:xfrm>
            <a:off x="4663440" y="1636776"/>
            <a:ext cx="9144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B43232"/>
                </a:solidFill>
              </a:defRPr>
            </a:pPr>
            <a:r>
              <a:t>LIMITES</a:t>
            </a:r>
          </a:p>
        </p:txBody>
      </p:sp>
      <p:sp>
        <p:nvSpPr>
          <p:cNvPr id="19" name="TextBox 18"/>
          <p:cNvSpPr txBox="1"/>
          <p:nvPr/>
        </p:nvSpPr>
        <p:spPr>
          <a:xfrm>
            <a:off x="384048" y="1956816"/>
            <a:ext cx="5175504" cy="2048256"/>
          </a:xfrm>
          <a:prstGeom prst="rect">
            <a:avLst/>
          </a:prstGeom>
          <a:noFill/>
        </p:spPr>
        <p:txBody>
          <a:bodyPr wrap="square" lIns="0" tIns="0" rIns="0" bIns="0">
            <a:spAutoFit/>
          </a:bodyPr>
          <a:lstStyle/>
          <a:p>
            <a:pPr>
              <a:defRPr sz="950" b="1">
                <a:solidFill>
                  <a:srgbClr val="0F172A"/>
                </a:solidFill>
              </a:defRPr>
            </a:pPr>
            <a:r>
              <a:t>•  Scans dégradés (&lt; 200 DPI)</a:t>
            </a:r>
          </a:p>
          <a:p>
            <a:pPr>
              <a:spcBef>
                <a:spcPts val="100"/>
              </a:spcBef>
              <a:defRPr sz="850">
                <a:solidFill>
                  <a:srgbClr val="334155"/>
                </a:solidFill>
              </a:defRPr>
            </a:pPr>
            <a:r>
              <a:t>   3 % du corpus test est irrécupérable : papier déchiré, taches d'humidité, encre quasi-inexistante.</a:t>
            </a:r>
          </a:p>
          <a:p>
            <a:pPr>
              <a:spcBef>
                <a:spcPts val="500"/>
              </a:spcBef>
              <a:defRPr sz="950" b="1">
                <a:solidFill>
                  <a:srgbClr val="0F172A"/>
                </a:solidFill>
              </a:defRPr>
            </a:pPr>
            <a:r>
              <a:t>•  Écriture libre hors tableau</a:t>
            </a:r>
          </a:p>
          <a:p>
            <a:pPr>
              <a:spcBef>
                <a:spcPts val="100"/>
              </a:spcBef>
              <a:defRPr sz="850">
                <a:solidFill>
                  <a:srgbClr val="334155"/>
                </a:solidFill>
              </a:defRPr>
            </a:pPr>
            <a:r>
              <a:t>   Les annotations marginales non structurées (notes cursives libres) résistent à l'extraction NER.</a:t>
            </a:r>
          </a:p>
          <a:p>
            <a:pPr>
              <a:spcBef>
                <a:spcPts val="500"/>
              </a:spcBef>
              <a:defRPr sz="950" b="1">
                <a:solidFill>
                  <a:srgbClr val="0F172A"/>
                </a:solidFill>
              </a:defRPr>
            </a:pPr>
            <a:r>
              <a:t>•  Géomètre B — fonds inconnu</a:t>
            </a:r>
          </a:p>
          <a:p>
            <a:pPr>
              <a:spcBef>
                <a:spcPts val="100"/>
              </a:spcBef>
              <a:defRPr sz="850">
                <a:solidFill>
                  <a:srgbClr val="334155"/>
                </a:solidFill>
              </a:defRPr>
            </a:pPr>
            <a:r>
              <a:t>   Si un fonds acquis provient d'un géomètre avec une cursive très personnelle, le modèle HTR nécessite un fine-tuning supplémentaire.</a:t>
            </a:r>
          </a:p>
        </p:txBody>
      </p:sp>
      <p:sp>
        <p:nvSpPr>
          <p:cNvPr id="20" name="Rectangle 19"/>
          <p:cNvSpPr/>
          <p:nvPr/>
        </p:nvSpPr>
        <p:spPr>
          <a:xfrm>
            <a:off x="347472" y="402336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Ces cas représentent environ 5 % du fonds — traitement manuel résiduel maintenu.</a:t>
            </a:r>
          </a:p>
        </p:txBody>
      </p:sp>
      <p:sp>
        <p:nvSpPr>
          <p:cNvPr id="21" name="Rounded Rectangle 20"/>
          <p:cNvSpPr/>
          <p:nvPr/>
        </p:nvSpPr>
        <p:spPr>
          <a:xfrm>
            <a:off x="5852160" y="1591056"/>
            <a:ext cx="606521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Perspectives d'évolution</a:t>
            </a:r>
          </a:p>
        </p:txBody>
      </p:sp>
      <p:sp>
        <p:nvSpPr>
          <p:cNvPr id="23" name="Rectangle 22"/>
          <p:cNvSpPr/>
          <p:nvPr/>
        </p:nvSpPr>
        <p:spPr>
          <a:xfrm>
            <a:off x="10454335"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PERSPECTIVES</a:t>
            </a:r>
          </a:p>
        </p:txBody>
      </p:sp>
      <p:sp>
        <p:nvSpPr>
          <p:cNvPr id="24" name="TextBox 23"/>
          <p:cNvSpPr txBox="1"/>
          <p:nvPr/>
        </p:nvSpPr>
        <p:spPr>
          <a:xfrm>
            <a:off x="5961888" y="1956816"/>
            <a:ext cx="5845759" cy="2048256"/>
          </a:xfrm>
          <a:prstGeom prst="rect">
            <a:avLst/>
          </a:prstGeom>
          <a:noFill/>
        </p:spPr>
        <p:txBody>
          <a:bodyPr wrap="square" lIns="0" tIns="0" rIns="0" bIns="0">
            <a:spAutoFit/>
          </a:bodyPr>
          <a:lstStyle/>
          <a:p>
            <a:pPr>
              <a:defRPr sz="950" b="1">
                <a:solidFill>
                  <a:srgbClr val="0F172A"/>
                </a:solidFill>
              </a:defRPr>
            </a:pPr>
            <a:r>
              <a:t>•  Fine-tuning HTR sur corpus ardéchois</a:t>
            </a:r>
          </a:p>
          <a:p>
            <a:pPr>
              <a:spcBef>
                <a:spcPts val="100"/>
              </a:spcBef>
              <a:defRPr sz="850">
                <a:solidFill>
                  <a:srgbClr val="334155"/>
                </a:solidFill>
              </a:defRPr>
            </a:pPr>
            <a:r>
              <a:t>   Constituer un corpus annoté de 500+ pages de registres pour fine-tuner TrOCR sur la cursive locale.</a:t>
            </a:r>
          </a:p>
          <a:p>
            <a:pPr>
              <a:spcBef>
                <a:spcPts val="500"/>
              </a:spcBef>
              <a:defRPr sz="950" b="1">
                <a:solidFill>
                  <a:srgbClr val="0F172A"/>
                </a:solidFill>
              </a:defRPr>
            </a:pPr>
            <a:r>
              <a:t>•  Extension à d'autres cabinets</a:t>
            </a:r>
          </a:p>
          <a:p>
            <a:pPr>
              <a:spcBef>
                <a:spcPts val="100"/>
              </a:spcBef>
              <a:defRPr sz="850">
                <a:solidFill>
                  <a:srgbClr val="334155"/>
                </a:solidFill>
              </a:defRPr>
            </a:pPr>
            <a:r>
              <a:t>   Le pipeline est générique : déploiement possible dans n'importe quel cabinet disposant d'un GPU.</a:t>
            </a:r>
          </a:p>
          <a:p>
            <a:pPr>
              <a:spcBef>
                <a:spcPts val="500"/>
              </a:spcBef>
              <a:defRPr sz="950" b="1">
                <a:solidFill>
                  <a:srgbClr val="0F172A"/>
                </a:solidFill>
              </a:defRPr>
            </a:pPr>
            <a:r>
              <a:t>•  Intégration continue sur Géofoncier</a:t>
            </a:r>
          </a:p>
          <a:p>
            <a:pPr>
              <a:spcBef>
                <a:spcPts val="100"/>
              </a:spcBef>
              <a:defRPr sz="850">
                <a:solidFill>
                  <a:srgbClr val="334155"/>
                </a:solidFill>
              </a:defRPr>
            </a:pPr>
            <a:r>
              <a:t>   Versement en temps réel des nouveaux actes dès signature, sans geste manuel supplémentaire.</a:t>
            </a:r>
          </a:p>
        </p:txBody>
      </p:sp>
      <p:sp>
        <p:nvSpPr>
          <p:cNvPr id="25" name="Rectangle 24"/>
          <p:cNvSpPr/>
          <p:nvPr/>
        </p:nvSpPr>
        <p:spPr>
          <a:xfrm>
            <a:off x="5925312" y="402336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Priorité : le fine-tuning HTR sur corpus manuscrit ardéchois (hiver 2026).</a:t>
            </a:r>
          </a:p>
        </p:txBody>
      </p:sp>
      <p:sp>
        <p:nvSpPr>
          <p:cNvPr id="26" name="Rectangle 25"/>
          <p:cNvSpPr/>
          <p:nvPr/>
        </p:nvSpPr>
        <p:spPr>
          <a:xfrm>
            <a:off x="274320" y="4462272"/>
            <a:ext cx="2798064" cy="914400"/>
          </a:xfrm>
          <a:prstGeom prst="rect">
            <a:avLst/>
          </a:prstGeom>
          <a:solidFill>
            <a:srgbClr val="FEF2F2"/>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B43232"/>
                </a:solidFill>
              </a:defRPr>
            </a:pPr>
            <a:r>
              <a:t>5 %</a:t>
            </a:r>
          </a:p>
          <a:p>
            <a:pPr algn="ctr">
              <a:spcBef>
                <a:spcPts val="200"/>
              </a:spcBef>
              <a:defRPr sz="700" b="1">
                <a:solidFill>
                  <a:srgbClr val="0F172A"/>
                </a:solidFill>
              </a:defRPr>
            </a:pPr>
            <a:r>
              <a:t>ECHECS TRAITEMENT</a:t>
            </a:r>
          </a:p>
          <a:p>
            <a:pPr algn="ctr">
              <a:spcBef>
                <a:spcPts val="100"/>
              </a:spcBef>
              <a:defRPr sz="650">
                <a:solidFill>
                  <a:srgbClr val="475569"/>
                </a:solidFill>
              </a:defRPr>
            </a:pPr>
            <a:r>
              <a:t>Scans irrécupérables</a:t>
            </a:r>
          </a:p>
        </p:txBody>
      </p:sp>
      <p:sp>
        <p:nvSpPr>
          <p:cNvPr id="27" name="Rectangle 26"/>
          <p:cNvSpPr/>
          <p:nvPr/>
        </p:nvSpPr>
        <p:spPr>
          <a:xfrm>
            <a:off x="3182112" y="4462272"/>
            <a:ext cx="2798064"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500+</a:t>
            </a:r>
          </a:p>
          <a:p>
            <a:pPr algn="ctr">
              <a:spcBef>
                <a:spcPts val="200"/>
              </a:spcBef>
              <a:defRPr sz="700" b="1">
                <a:solidFill>
                  <a:srgbClr val="0F172A"/>
                </a:solidFill>
              </a:defRPr>
            </a:pPr>
            <a:r>
              <a:t>PAGES À ANNOTER</a:t>
            </a:r>
          </a:p>
          <a:p>
            <a:pPr algn="ctr">
              <a:spcBef>
                <a:spcPts val="100"/>
              </a:spcBef>
              <a:defRPr sz="650">
                <a:solidFill>
                  <a:srgbClr val="475569"/>
                </a:solidFill>
              </a:defRPr>
            </a:pPr>
            <a:r>
              <a:t>Pour fine-tuning HTR</a:t>
            </a:r>
          </a:p>
        </p:txBody>
      </p:sp>
      <p:sp>
        <p:nvSpPr>
          <p:cNvPr id="28" name="Rectangle 27"/>
          <p:cNvSpPr/>
          <p:nvPr/>
        </p:nvSpPr>
        <p:spPr>
          <a:xfrm>
            <a:off x="6089904" y="4462272"/>
            <a:ext cx="2798064"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N Cabinets</a:t>
            </a:r>
          </a:p>
          <a:p>
            <a:pPr algn="ctr">
              <a:spcBef>
                <a:spcPts val="200"/>
              </a:spcBef>
              <a:defRPr sz="700" b="1">
                <a:solidFill>
                  <a:srgbClr val="0F172A"/>
                </a:solidFill>
              </a:defRPr>
            </a:pPr>
            <a:r>
              <a:t>GÉNÉRICITÉ</a:t>
            </a:r>
          </a:p>
          <a:p>
            <a:pPr algn="ctr">
              <a:spcBef>
                <a:spcPts val="100"/>
              </a:spcBef>
              <a:defRPr sz="650">
                <a:solidFill>
                  <a:srgbClr val="475569"/>
                </a:solidFill>
              </a:defRPr>
            </a:pPr>
            <a:r>
              <a:t>Déployable partout</a:t>
            </a:r>
          </a:p>
        </p:txBody>
      </p:sp>
      <p:sp>
        <p:nvSpPr>
          <p:cNvPr id="29" name="Rectangle 28"/>
          <p:cNvSpPr/>
          <p:nvPr/>
        </p:nvSpPr>
        <p:spPr>
          <a:xfrm>
            <a:off x="8997696" y="4462272"/>
            <a:ext cx="2825496" cy="914400"/>
          </a:xfrm>
          <a:prstGeom prst="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D97706"/>
                </a:solidFill>
              </a:defRPr>
            </a:pPr>
            <a:r>
              <a:t>En Temps Réel</a:t>
            </a:r>
          </a:p>
          <a:p>
            <a:pPr algn="ctr">
              <a:spcBef>
                <a:spcPts val="200"/>
              </a:spcBef>
              <a:defRPr sz="700" b="1">
                <a:solidFill>
                  <a:srgbClr val="0F172A"/>
                </a:solidFill>
              </a:defRPr>
            </a:pPr>
            <a:r>
              <a:t>OBJECTIF FUTUR</a:t>
            </a:r>
          </a:p>
          <a:p>
            <a:pPr algn="ctr">
              <a:spcBef>
                <a:spcPts val="100"/>
              </a:spcBef>
              <a:defRPr sz="650">
                <a:solidFill>
                  <a:srgbClr val="475569"/>
                </a:solidFill>
              </a:defRPr>
            </a:pPr>
            <a:r>
              <a:t>Versement à la signature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sp>
        <p:nvSpPr>
          <p:cNvPr id="2" name="Rounded Rectangle 1"/>
          <p:cNvSpPr/>
          <p:nvPr/>
        </p:nvSpPr>
        <p:spPr>
          <a:xfrm>
            <a:off x="5364327" y="1920240"/>
            <a:ext cx="1463040"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F2546"/>
                </a:solidFill>
              </a:defRPr>
            </a:pPr>
            <a:r>
              <a:t>CHAPITRE 8</a:t>
            </a:r>
          </a:p>
        </p:txBody>
      </p:sp>
      <p:sp>
        <p:nvSpPr>
          <p:cNvPr id="3" name="TextBox 2"/>
          <p:cNvSpPr txBox="1"/>
          <p:nvPr/>
        </p:nvSpPr>
        <p:spPr>
          <a:xfrm>
            <a:off x="914400" y="2359152"/>
            <a:ext cx="10362895" cy="1097280"/>
          </a:xfrm>
          <a:prstGeom prst="rect">
            <a:avLst/>
          </a:prstGeom>
          <a:noFill/>
        </p:spPr>
        <p:txBody>
          <a:bodyPr wrap="square" lIns="0" tIns="0" rIns="0" bIns="0">
            <a:spAutoFit/>
          </a:bodyPr>
          <a:lstStyle/>
          <a:p>
            <a:pPr algn="ctr">
              <a:defRPr sz="3400" b="1">
                <a:solidFill>
                  <a:srgbClr val="FFFFFF"/>
                </a:solidFill>
              </a:defRPr>
            </a:pPr>
            <a:r>
              <a:t>Conclusion</a:t>
            </a:r>
          </a:p>
        </p:txBody>
      </p:sp>
      <p:sp>
        <p:nvSpPr>
          <p:cNvPr id="4" name="TextBox 3"/>
          <p:cNvSpPr txBox="1"/>
          <p:nvPr/>
        </p:nvSpPr>
        <p:spPr>
          <a:xfrm>
            <a:off x="1371600" y="3547872"/>
            <a:ext cx="9448495" cy="457200"/>
          </a:xfrm>
          <a:prstGeom prst="rect">
            <a:avLst/>
          </a:prstGeom>
          <a:noFill/>
        </p:spPr>
        <p:txBody>
          <a:bodyPr wrap="square" lIns="0" tIns="0" rIns="0" bIns="0">
            <a:spAutoFit/>
          </a:bodyPr>
          <a:lstStyle/>
          <a:p>
            <a:pPr algn="ctr">
              <a:defRPr sz="1300">
                <a:solidFill>
                  <a:srgbClr val="B4D2F0"/>
                </a:solidFill>
              </a:defRPr>
            </a:pPr>
            <a:r>
              <a:t>Bilan du projet, apport ingénieur et déontologie professionnelle</a:t>
            </a:r>
          </a:p>
        </p:txBody>
      </p:sp>
      <p:sp>
        <p:nvSpPr>
          <p:cNvPr id="5" name="Rectangle 4"/>
          <p:cNvSpPr/>
          <p:nvPr/>
        </p:nvSpPr>
        <p:spPr>
          <a:xfrm>
            <a:off x="4754880" y="4160520"/>
            <a:ext cx="268193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565392"/>
            <a:ext cx="1401775" cy="219456"/>
          </a:xfrm>
          <a:prstGeom prst="rect">
            <a:avLst/>
          </a:prstGeom>
          <a:noFill/>
        </p:spPr>
        <p:txBody>
          <a:bodyPr wrap="none" lIns="0" tIns="0" rIns="0" bIns="0">
            <a:spAutoFit/>
          </a:bodyPr>
          <a:lstStyle/>
          <a:p>
            <a:pPr algn="r">
              <a:defRPr sz="850">
                <a:solidFill>
                  <a:srgbClr val="7896BE"/>
                </a:solidFill>
              </a:defRPr>
            </a:pPr>
            <a:r>
              <a:t>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1. INTRO</a:t>
            </a:r>
          </a:p>
        </p:txBody>
      </p:sp>
      <p:sp>
        <p:nvSpPr>
          <p:cNvPr id="3" name="Rectangle 2"/>
          <p:cNvSpPr/>
          <p:nvPr/>
        </p:nvSpPr>
        <p:spPr>
          <a:xfrm>
            <a:off x="173427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2. MÉTIER</a:t>
            </a:r>
          </a:p>
        </p:txBody>
      </p:sp>
      <p:sp>
        <p:nvSpPr>
          <p:cNvPr id="4" name="Rectangle 3"/>
          <p:cNvSpPr/>
          <p:nvPr/>
        </p:nvSpPr>
        <p:spPr>
          <a:xfrm>
            <a:off x="3194227"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3. ÉTAT ART</a:t>
            </a:r>
          </a:p>
        </p:txBody>
      </p:sp>
      <p:sp>
        <p:nvSpPr>
          <p:cNvPr id="5" name="Rectangle 4"/>
          <p:cNvSpPr/>
          <p:nvPr/>
        </p:nvSpPr>
        <p:spPr>
          <a:xfrm>
            <a:off x="4654181"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4. ARCHI</a:t>
            </a:r>
          </a:p>
        </p:txBody>
      </p:sp>
      <p:sp>
        <p:nvSpPr>
          <p:cNvPr id="6" name="Rectangle 5"/>
          <p:cNvSpPr/>
          <p:nvPr/>
        </p:nvSpPr>
        <p:spPr>
          <a:xfrm>
            <a:off x="6114135"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5. VALID.</a:t>
            </a:r>
          </a:p>
        </p:txBody>
      </p:sp>
      <p:sp>
        <p:nvSpPr>
          <p:cNvPr id="7" name="Rectangle 6"/>
          <p:cNvSpPr/>
          <p:nvPr/>
        </p:nvSpPr>
        <p:spPr>
          <a:xfrm>
            <a:off x="7574089"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6. INTÉGR.</a:t>
            </a:r>
          </a:p>
        </p:txBody>
      </p:sp>
      <p:sp>
        <p:nvSpPr>
          <p:cNvPr id="8" name="Rectangle 7"/>
          <p:cNvSpPr/>
          <p:nvPr/>
        </p:nvSpPr>
        <p:spPr>
          <a:xfrm>
            <a:off x="9034043" y="54864"/>
            <a:ext cx="1423377" cy="365760"/>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0">
                <a:solidFill>
                  <a:srgbClr val="475569"/>
                </a:solidFill>
              </a:defRPr>
            </a:pPr>
            <a:r>
              <a:t>7. LIMITES</a:t>
            </a:r>
          </a:p>
        </p:txBody>
      </p:sp>
      <p:sp>
        <p:nvSpPr>
          <p:cNvPr id="9" name="Rectangle 8"/>
          <p:cNvSpPr/>
          <p:nvPr/>
        </p:nvSpPr>
        <p:spPr>
          <a:xfrm>
            <a:off x="10493997" y="54864"/>
            <a:ext cx="1423377" cy="365760"/>
          </a:xfrm>
          <a:prstGeom prst="rect">
            <a:avLst/>
          </a:prstGeom>
          <a:solidFill>
            <a:srgbClr val="0F2546"/>
          </a:solidFill>
          <a:ln w="19050">
            <a:solidFill>
              <a:srgbClr val="0F2546"/>
            </a:solidFill>
          </a:ln>
        </p:spPr>
        <p:style>
          <a:lnRef idx="1">
            <a:schemeClr val="accent1"/>
          </a:lnRef>
          <a:fillRef idx="3">
            <a:schemeClr val="accent1"/>
          </a:fillRef>
          <a:effectRef idx="2">
            <a:schemeClr val="accent1"/>
          </a:effectRef>
          <a:fontRef idx="minor">
            <a:schemeClr val="lt1"/>
          </a:fontRef>
        </p:style>
        <p:txBody>
          <a:bodyPr rtlCol="0" anchor="ctr" wrap="none" tIns="82296"/>
          <a:lstStyle/>
          <a:p>
            <a:pPr algn="ctr">
              <a:defRPr sz="700" b="1">
                <a:solidFill>
                  <a:srgbClr val="FFFFFF"/>
                </a:solidFill>
              </a:defRPr>
            </a:pPr>
            <a:r>
              <a:t>8. CONCL.</a:t>
            </a:r>
          </a:p>
        </p:txBody>
      </p:sp>
      <p:sp>
        <p:nvSpPr>
          <p:cNvPr id="10" name="Rectangle 9"/>
          <p:cNvSpPr/>
          <p:nvPr/>
        </p:nvSpPr>
        <p:spPr>
          <a:xfrm>
            <a:off x="274320" y="457200"/>
            <a:ext cx="579409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8.1 Bilan</a:t>
            </a:r>
          </a:p>
        </p:txBody>
      </p:sp>
      <p:sp>
        <p:nvSpPr>
          <p:cNvPr id="11" name="Rectangle 10"/>
          <p:cNvSpPr/>
          <p:nvPr/>
        </p:nvSpPr>
        <p:spPr>
          <a:xfrm>
            <a:off x="6123279" y="457200"/>
            <a:ext cx="579409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8.2 Déontologie &amp; OGE</a:t>
            </a:r>
          </a:p>
        </p:txBody>
      </p:sp>
      <p:sp>
        <p:nvSpPr>
          <p:cNvPr id="12" name="TextBox 11"/>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CHAPITRE 8 — CONCLUSION</a:t>
            </a:r>
          </a:p>
        </p:txBody>
      </p:sp>
      <p:sp>
        <p:nvSpPr>
          <p:cNvPr id="13" name="TextBox 12"/>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Bilan du projet et responsabilité de l'ingénieur-géomètre</a:t>
            </a:r>
          </a:p>
        </p:txBody>
      </p:sp>
      <p:sp>
        <p:nvSpPr>
          <p:cNvPr id="14" name="Rectangle 13"/>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30 / 35</a:t>
            </a:r>
          </a:p>
        </p:txBody>
      </p:sp>
      <p:sp>
        <p:nvSpPr>
          <p:cNvPr id="16" name="Rounded Rectangle 15"/>
          <p:cNvSpPr/>
          <p:nvPr/>
        </p:nvSpPr>
        <p:spPr>
          <a:xfrm>
            <a:off x="274320" y="1591056"/>
            <a:ext cx="539496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591056"/>
            <a:ext cx="539496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920240"/>
          <a:lstStyle/>
          <a:p>
            <a:pPr algn="ctr">
              <a:defRPr sz="1000" b="1">
                <a:solidFill>
                  <a:srgbClr val="FFFFFF"/>
                </a:solidFill>
              </a:defRPr>
            </a:pPr>
            <a:r>
              <a:t>Ce que ce PFE a livré</a:t>
            </a:r>
          </a:p>
        </p:txBody>
      </p:sp>
      <p:sp>
        <p:nvSpPr>
          <p:cNvPr id="18" name="Rectangle 17"/>
          <p:cNvSpPr/>
          <p:nvPr/>
        </p:nvSpPr>
        <p:spPr>
          <a:xfrm>
            <a:off x="3840480" y="1636776"/>
            <a:ext cx="1737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OBJECTIF ATTEINT</a:t>
            </a:r>
          </a:p>
        </p:txBody>
      </p:sp>
      <p:sp>
        <p:nvSpPr>
          <p:cNvPr id="19" name="TextBox 18"/>
          <p:cNvSpPr txBox="1"/>
          <p:nvPr/>
        </p:nvSpPr>
        <p:spPr>
          <a:xfrm>
            <a:off x="384048" y="1956816"/>
            <a:ext cx="5175504" cy="1865376"/>
          </a:xfrm>
          <a:prstGeom prst="rect">
            <a:avLst/>
          </a:prstGeom>
          <a:noFill/>
        </p:spPr>
        <p:txBody>
          <a:bodyPr wrap="square" lIns="0" tIns="0" rIns="0" bIns="0">
            <a:spAutoFit/>
          </a:bodyPr>
          <a:lstStyle/>
          <a:p>
            <a:pPr>
              <a:defRPr sz="900" b="1">
                <a:solidFill>
                  <a:srgbClr val="0F172A"/>
                </a:solidFill>
              </a:defRPr>
            </a:pPr>
            <a:r>
              <a:t>•  Objectif atteint</a:t>
            </a:r>
          </a:p>
          <a:p>
            <a:pPr>
              <a:spcBef>
                <a:spcPts val="100"/>
              </a:spcBef>
              <a:defRPr sz="800">
                <a:solidFill>
                  <a:srgbClr val="334155"/>
                </a:solidFill>
              </a:defRPr>
            </a:pPr>
            <a:r>
              <a:t>   Pipeline opérationnel : scan brut → versement Géofoncier en un flux automatisé, sans donnée en cloud.</a:t>
            </a:r>
          </a:p>
          <a:p>
            <a:pPr>
              <a:spcBef>
                <a:spcPts val="300"/>
              </a:spcBef>
              <a:defRPr sz="900" b="1">
                <a:solidFill>
                  <a:srgbClr val="0F172A"/>
                </a:solidFill>
              </a:defRPr>
            </a:pPr>
            <a:r>
              <a:t>•  47/50 dossiers versés sur Prades</a:t>
            </a:r>
          </a:p>
          <a:p>
            <a:pPr>
              <a:spcBef>
                <a:spcPts val="100"/>
              </a:spcBef>
              <a:defRPr sz="800">
                <a:solidFill>
                  <a:srgbClr val="334155"/>
                </a:solidFill>
              </a:defRPr>
            </a:pPr>
            <a:r>
              <a:t>   F1 score global de 0.88 sur les 5 champs obligatoires. Validé par le tuteur M. Hague.</a:t>
            </a:r>
          </a:p>
          <a:p>
            <a:pPr>
              <a:spcBef>
                <a:spcPts val="300"/>
              </a:spcBef>
              <a:defRPr sz="900" b="1">
                <a:solidFill>
                  <a:srgbClr val="0F172A"/>
                </a:solidFill>
              </a:defRPr>
            </a:pPr>
            <a:r>
              <a:t>•  Gain de temps démontré</a:t>
            </a:r>
          </a:p>
          <a:p>
            <a:pPr>
              <a:spcBef>
                <a:spcPts val="100"/>
              </a:spcBef>
              <a:defRPr sz="800">
                <a:solidFill>
                  <a:srgbClr val="334155"/>
                </a:solidFill>
              </a:defRPr>
            </a:pPr>
            <a:r>
              <a:t>   4 heures de saisie manuelle évitées pour 50 dossiers — soit 80 % du temps gagné.</a:t>
            </a:r>
          </a:p>
        </p:txBody>
      </p:sp>
      <p:sp>
        <p:nvSpPr>
          <p:cNvPr id="20" name="Rectangle 19"/>
          <p:cNvSpPr/>
          <p:nvPr/>
        </p:nvSpPr>
        <p:spPr>
          <a:xfrm>
            <a:off x="347472" y="3840480"/>
            <a:ext cx="524865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Le pipeline est livré et déployé au cabinet GEO-SIAPP depuis juillet 2026.</a:t>
            </a:r>
          </a:p>
        </p:txBody>
      </p:sp>
      <p:sp>
        <p:nvSpPr>
          <p:cNvPr id="21" name="Rounded Rectangle 20"/>
          <p:cNvSpPr/>
          <p:nvPr/>
        </p:nvSpPr>
        <p:spPr>
          <a:xfrm>
            <a:off x="5852160" y="1591056"/>
            <a:ext cx="6065215"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0" y="1591056"/>
            <a:ext cx="606521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828800"/>
          <a:lstStyle/>
          <a:p>
            <a:pPr algn="ctr">
              <a:defRPr sz="1000" b="1">
                <a:solidFill>
                  <a:srgbClr val="FFFFFF"/>
                </a:solidFill>
              </a:defRPr>
            </a:pPr>
            <a:r>
              <a:t>Déontologie &amp; Éthique professionnelle</a:t>
            </a:r>
          </a:p>
        </p:txBody>
      </p:sp>
      <p:sp>
        <p:nvSpPr>
          <p:cNvPr id="23" name="Rectangle 22"/>
          <p:cNvSpPr/>
          <p:nvPr/>
        </p:nvSpPr>
        <p:spPr>
          <a:xfrm>
            <a:off x="10180015" y="1636776"/>
            <a:ext cx="16459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OGE / CHARTE IA</a:t>
            </a:r>
          </a:p>
        </p:txBody>
      </p:sp>
      <p:sp>
        <p:nvSpPr>
          <p:cNvPr id="24" name="TextBox 23"/>
          <p:cNvSpPr txBox="1"/>
          <p:nvPr/>
        </p:nvSpPr>
        <p:spPr>
          <a:xfrm>
            <a:off x="5961888" y="1956816"/>
            <a:ext cx="5845759" cy="1865376"/>
          </a:xfrm>
          <a:prstGeom prst="rect">
            <a:avLst/>
          </a:prstGeom>
          <a:noFill/>
        </p:spPr>
        <p:txBody>
          <a:bodyPr wrap="square" lIns="0" tIns="0" rIns="0" bIns="0">
            <a:spAutoFit/>
          </a:bodyPr>
          <a:lstStyle/>
          <a:p>
            <a:pPr>
              <a:defRPr sz="900" b="1">
                <a:solidFill>
                  <a:srgbClr val="0F172A"/>
                </a:solidFill>
              </a:defRPr>
            </a:pPr>
            <a:r>
              <a:t>•  Secret professionnel (Art. 18 CGP)</a:t>
            </a:r>
          </a:p>
          <a:p>
            <a:pPr>
              <a:spcBef>
                <a:spcPts val="100"/>
              </a:spcBef>
              <a:defRPr sz="800">
                <a:solidFill>
                  <a:srgbClr val="334155"/>
                </a:solidFill>
              </a:defRPr>
            </a:pPr>
            <a:r>
              <a:t>   Toutes les données restent sur le réseau local du cabinet. Aucune transmission à un tiers non autorisé.</a:t>
            </a:r>
          </a:p>
          <a:p>
            <a:pPr>
              <a:spcBef>
                <a:spcPts val="300"/>
              </a:spcBef>
              <a:defRPr sz="900" b="1">
                <a:solidFill>
                  <a:srgbClr val="0F172A"/>
                </a:solidFill>
              </a:defRPr>
            </a:pPr>
            <a:r>
              <a:t>•  Charte OGE sur l'IA (mars 2024)</a:t>
            </a:r>
          </a:p>
          <a:p>
            <a:pPr>
              <a:spcBef>
                <a:spcPts val="100"/>
              </a:spcBef>
              <a:defRPr sz="800">
                <a:solidFill>
                  <a:srgbClr val="334155"/>
                </a:solidFill>
              </a:defRPr>
            </a:pPr>
            <a:r>
              <a:t>   L'IA est utilisée en assistant — le géomètre valide chaque dossier avant versement. Responsabilité non déléguée.</a:t>
            </a:r>
          </a:p>
          <a:p>
            <a:pPr>
              <a:spcBef>
                <a:spcPts val="300"/>
              </a:spcBef>
              <a:defRPr sz="900" b="1">
                <a:solidFill>
                  <a:srgbClr val="0F172A"/>
                </a:solidFill>
              </a:defRPr>
            </a:pPr>
            <a:r>
              <a:t>•  Traçabilité conforme Art. 55</a:t>
            </a:r>
          </a:p>
          <a:p>
            <a:pPr>
              <a:spcBef>
                <a:spcPts val="100"/>
              </a:spcBef>
              <a:defRPr sz="800">
                <a:solidFill>
                  <a:srgbClr val="334155"/>
                </a:solidFill>
              </a:defRPr>
            </a:pPr>
            <a:r>
              <a:t>   Journal horodaté de chaque extraction et correction. Conforme à l'obligation de conservation décennale.</a:t>
            </a:r>
          </a:p>
        </p:txBody>
      </p:sp>
      <p:sp>
        <p:nvSpPr>
          <p:cNvPr id="25" name="Rectangle 24"/>
          <p:cNvSpPr/>
          <p:nvPr/>
        </p:nvSpPr>
        <p:spPr>
          <a:xfrm>
            <a:off x="5925312" y="3840480"/>
            <a:ext cx="591891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Principe directeur : l'IA augmente le géomètre, elle ne le remplace pas.</a:t>
            </a:r>
          </a:p>
        </p:txBody>
      </p:sp>
      <p:sp>
        <p:nvSpPr>
          <p:cNvPr id="26" name="Rectangle 25"/>
          <p:cNvSpPr/>
          <p:nvPr/>
        </p:nvSpPr>
        <p:spPr>
          <a:xfrm>
            <a:off x="274320" y="4279392"/>
            <a:ext cx="1892807"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F1 = 0.88</a:t>
            </a:r>
          </a:p>
          <a:p>
            <a:pPr algn="ctr">
              <a:spcBef>
                <a:spcPts val="200"/>
              </a:spcBef>
              <a:defRPr sz="700" b="1">
                <a:solidFill>
                  <a:srgbClr val="0F172A"/>
                </a:solidFill>
              </a:defRPr>
            </a:pPr>
            <a:r>
              <a:t>SCORE GLOBAL</a:t>
            </a:r>
          </a:p>
          <a:p>
            <a:pPr algn="ctr">
              <a:spcBef>
                <a:spcPts val="100"/>
              </a:spcBef>
              <a:defRPr sz="650">
                <a:solidFill>
                  <a:srgbClr val="475569"/>
                </a:solidFill>
              </a:defRPr>
            </a:pPr>
            <a:r>
              <a:t>5 champs Géofoncier</a:t>
            </a:r>
          </a:p>
        </p:txBody>
      </p:sp>
      <p:sp>
        <p:nvSpPr>
          <p:cNvPr id="27" name="Rectangle 26"/>
          <p:cNvSpPr/>
          <p:nvPr/>
        </p:nvSpPr>
        <p:spPr>
          <a:xfrm>
            <a:off x="2276856" y="4279392"/>
            <a:ext cx="1892807"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80 %</a:t>
            </a:r>
          </a:p>
          <a:p>
            <a:pPr algn="ctr">
              <a:spcBef>
                <a:spcPts val="200"/>
              </a:spcBef>
              <a:defRPr sz="700" b="1">
                <a:solidFill>
                  <a:srgbClr val="0F172A"/>
                </a:solidFill>
              </a:defRPr>
            </a:pPr>
            <a:r>
              <a:t>GAIN DE TEMPS</a:t>
            </a:r>
          </a:p>
          <a:p>
            <a:pPr algn="ctr">
              <a:spcBef>
                <a:spcPts val="100"/>
              </a:spcBef>
              <a:defRPr sz="650">
                <a:solidFill>
                  <a:srgbClr val="475569"/>
                </a:solidFill>
              </a:defRPr>
            </a:pPr>
            <a:r>
              <a:t>vs saisie manuelle</a:t>
            </a:r>
          </a:p>
        </p:txBody>
      </p:sp>
      <p:sp>
        <p:nvSpPr>
          <p:cNvPr id="28" name="Rectangle 27"/>
          <p:cNvSpPr/>
          <p:nvPr/>
        </p:nvSpPr>
        <p:spPr>
          <a:xfrm>
            <a:off x="4279392" y="4279392"/>
            <a:ext cx="1892807"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0 %</a:t>
            </a:r>
          </a:p>
          <a:p>
            <a:pPr algn="ctr">
              <a:spcBef>
                <a:spcPts val="200"/>
              </a:spcBef>
              <a:defRPr sz="700" b="1">
                <a:solidFill>
                  <a:srgbClr val="0F172A"/>
                </a:solidFill>
              </a:defRPr>
            </a:pPr>
            <a:r>
              <a:t>DONNÉES EN CLOUD</a:t>
            </a:r>
          </a:p>
          <a:p>
            <a:pPr algn="ctr">
              <a:spcBef>
                <a:spcPts val="100"/>
              </a:spcBef>
              <a:defRPr sz="650">
                <a:solidFill>
                  <a:srgbClr val="475569"/>
                </a:solidFill>
              </a:defRPr>
            </a:pPr>
            <a:r>
              <a:t>Déploiement 100% local</a:t>
            </a:r>
          </a:p>
        </p:txBody>
      </p:sp>
      <p:sp>
        <p:nvSpPr>
          <p:cNvPr id="29" name="Rectangle 28"/>
          <p:cNvSpPr/>
          <p:nvPr/>
        </p:nvSpPr>
        <p:spPr>
          <a:xfrm>
            <a:off x="6281928" y="4279392"/>
            <a:ext cx="1892807"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47/50</a:t>
            </a:r>
          </a:p>
          <a:p>
            <a:pPr algn="ctr">
              <a:spcBef>
                <a:spcPts val="200"/>
              </a:spcBef>
              <a:defRPr sz="700" b="1">
                <a:solidFill>
                  <a:srgbClr val="0F172A"/>
                </a:solidFill>
              </a:defRPr>
            </a:pPr>
            <a:r>
              <a:t>DOSSIERS VERSÉS</a:t>
            </a:r>
          </a:p>
          <a:p>
            <a:pPr algn="ctr">
              <a:spcBef>
                <a:spcPts val="100"/>
              </a:spcBef>
              <a:defRPr sz="650">
                <a:solidFill>
                  <a:srgbClr val="475569"/>
                </a:solidFill>
              </a:defRPr>
            </a:pPr>
            <a:r>
              <a:t>Commune de Prades</a:t>
            </a:r>
          </a:p>
        </p:txBody>
      </p:sp>
      <p:sp>
        <p:nvSpPr>
          <p:cNvPr id="30" name="Rectangle 29"/>
          <p:cNvSpPr/>
          <p:nvPr/>
        </p:nvSpPr>
        <p:spPr>
          <a:xfrm>
            <a:off x="8284464" y="4279392"/>
            <a:ext cx="3657600"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Charte OGE 2024</a:t>
            </a:r>
          </a:p>
          <a:p>
            <a:pPr algn="ctr">
              <a:spcBef>
                <a:spcPts val="200"/>
              </a:spcBef>
              <a:defRPr sz="700" b="1">
                <a:solidFill>
                  <a:srgbClr val="0F172A"/>
                </a:solidFill>
              </a:defRPr>
            </a:pPr>
            <a:r>
              <a:t>ÉTHIQUE IA</a:t>
            </a:r>
          </a:p>
          <a:p>
            <a:pPr algn="ctr">
              <a:spcBef>
                <a:spcPts val="100"/>
              </a:spcBef>
              <a:defRPr sz="650">
                <a:solidFill>
                  <a:srgbClr val="475569"/>
                </a:solidFill>
              </a:defRPr>
            </a:pPr>
            <a:r>
              <a:t>Contrôle humain maintenu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2546"/>
        </a:solidFill>
        <a:effectLst/>
      </p:bgPr>
    </p:bg>
    <p:spTree>
      <p:nvGrpSpPr>
        <p:cNvPr id="1" name=""/>
        <p:cNvGrpSpPr/>
        <p:nvPr/>
      </p:nvGrpSpPr>
      <p:grpSpPr/>
      <p:pic>
        <p:nvPicPr>
          <p:cNvPr id="2" name="Picture 1" descr="Logo_INSAStrasbourg.jpg"/>
          <p:cNvPicPr>
            <a:picLocks noChangeAspect="1"/>
          </p:cNvPicPr>
          <p:nvPr/>
        </p:nvPicPr>
        <p:blipFill>
          <a:blip r:embed="rId2"/>
          <a:stretch>
            <a:fillRect/>
          </a:stretch>
        </p:blipFill>
        <p:spPr>
          <a:xfrm>
            <a:off x="457200" y="182880"/>
            <a:ext cx="1828800" cy="512853"/>
          </a:xfrm>
          <a:prstGeom prst="rect">
            <a:avLst/>
          </a:prstGeom>
        </p:spPr>
      </p:pic>
      <p:sp>
        <p:nvSpPr>
          <p:cNvPr id="3" name="TextBox 2"/>
          <p:cNvSpPr txBox="1"/>
          <p:nvPr/>
        </p:nvSpPr>
        <p:spPr>
          <a:xfrm>
            <a:off x="914400" y="1371600"/>
            <a:ext cx="10362895" cy="548640"/>
          </a:xfrm>
          <a:prstGeom prst="rect">
            <a:avLst/>
          </a:prstGeom>
          <a:noFill/>
        </p:spPr>
        <p:txBody>
          <a:bodyPr wrap="square" lIns="0" tIns="0" rIns="0" bIns="0">
            <a:spAutoFit/>
          </a:bodyPr>
          <a:lstStyle/>
          <a:p>
            <a:pPr algn="ctr">
              <a:defRPr sz="3200" b="1">
                <a:solidFill>
                  <a:srgbClr val="FFFFFF"/>
                </a:solidFill>
              </a:defRPr>
            </a:pPr>
            <a:r>
              <a:t>Merci pour votre attention</a:t>
            </a:r>
          </a:p>
        </p:txBody>
      </p:sp>
      <p:sp>
        <p:nvSpPr>
          <p:cNvPr id="4" name="TextBox 3"/>
          <p:cNvSpPr txBox="1"/>
          <p:nvPr/>
        </p:nvSpPr>
        <p:spPr>
          <a:xfrm>
            <a:off x="914400" y="2194560"/>
            <a:ext cx="10362895" cy="548640"/>
          </a:xfrm>
          <a:prstGeom prst="rect">
            <a:avLst/>
          </a:prstGeom>
          <a:noFill/>
        </p:spPr>
        <p:txBody>
          <a:bodyPr wrap="square" lIns="0" tIns="0" rIns="0" bIns="0">
            <a:spAutoFit/>
          </a:bodyPr>
          <a:lstStyle/>
          <a:p>
            <a:pPr algn="ctr">
              <a:defRPr sz="1400" b="0">
                <a:solidFill>
                  <a:srgbClr val="82BEF0"/>
                </a:solidFill>
              </a:defRPr>
            </a:pPr>
            <a:r>
              <a:t>Je suis disponible pour répondre à vos questions.</a:t>
            </a:r>
          </a:p>
        </p:txBody>
      </p:sp>
      <p:sp>
        <p:nvSpPr>
          <p:cNvPr id="5" name="Rectangle 4"/>
          <p:cNvSpPr/>
          <p:nvPr/>
        </p:nvSpPr>
        <p:spPr>
          <a:xfrm>
            <a:off x="4114800" y="2834640"/>
            <a:ext cx="3962095"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17520"/>
            <a:ext cx="10362895" cy="1463040"/>
          </a:xfrm>
          <a:prstGeom prst="rect">
            <a:avLst/>
          </a:prstGeom>
          <a:noFill/>
        </p:spPr>
        <p:txBody>
          <a:bodyPr wrap="square" lIns="0" tIns="0" rIns="0" bIns="0">
            <a:spAutoFit/>
          </a:bodyPr>
          <a:lstStyle/>
          <a:p>
            <a:pPr algn="ctr">
              <a:defRPr sz="1100">
                <a:solidFill>
                  <a:srgbClr val="B4D2F0"/>
                </a:solidFill>
              </a:defRPr>
            </a:pPr>
            <a:r>
              <a:t>Mathieu KOEHL  —  Directeur du PFE — INSA Strasbourg / Laboratoire ICube</a:t>
            </a:r>
          </a:p>
          <a:p>
            <a:pPr algn="ctr">
              <a:spcBef>
                <a:spcPts val="500"/>
              </a:spcBef>
              <a:defRPr sz="1100">
                <a:solidFill>
                  <a:srgbClr val="B4D2F0"/>
                </a:solidFill>
              </a:defRPr>
            </a:pPr>
            <a:r>
              <a:t>Gaëtan HAGUE  —  Tuteur entreprise — Géomètre-Expert Associé, Cabinet GEO-SIAPP</a:t>
            </a:r>
          </a:p>
          <a:p>
            <a:pPr algn="ctr">
              <a:spcBef>
                <a:spcPts val="500"/>
              </a:spcBef>
              <a:defRPr sz="1100">
                <a:solidFill>
                  <a:srgbClr val="B4D2F0"/>
                </a:solidFill>
              </a:defRPr>
            </a:pPr>
            <a:r>
              <a:t>L'équipe GEO-SIAPP  —  Pour l'accueil, la confiance accordée et l'accès au fonds d'archives</a:t>
            </a:r>
          </a:p>
          <a:p>
            <a:pPr algn="ctr">
              <a:spcBef>
                <a:spcPts val="500"/>
              </a:spcBef>
              <a:defRPr sz="1100">
                <a:solidFill>
                  <a:srgbClr val="B4D2F0"/>
                </a:solidFill>
              </a:defRPr>
            </a:pPr>
            <a:r>
              <a:t>Membres du jury  —  Pour le temps consacré à l'évaluation de ce travail</a:t>
            </a:r>
          </a:p>
        </p:txBody>
      </p:sp>
      <p:sp>
        <p:nvSpPr>
          <p:cNvPr id="7" name="TextBox 6"/>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31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1643055" cy="365760"/>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wrap="none" tIns="64008"/>
          <a:lstStyle/>
          <a:p>
            <a:pPr algn="ctr">
              <a:defRPr sz="900" b="1">
                <a:solidFill>
                  <a:srgbClr val="FFFFFF"/>
                </a:solidFill>
              </a:defRPr>
            </a:pPr>
            <a:r>
              <a:t>ANNEXES TECHNIQUES — FICHES JURY</a:t>
            </a:r>
          </a:p>
        </p:txBody>
      </p:sp>
      <p:sp>
        <p:nvSpPr>
          <p:cNvPr id="3" name="Rectangle 2"/>
          <p:cNvSpPr/>
          <p:nvPr/>
        </p:nvSpPr>
        <p:spPr>
          <a:xfrm>
            <a:off x="274320"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A. GLiNER</a:t>
            </a:r>
          </a:p>
        </p:txBody>
      </p:sp>
      <p:sp>
        <p:nvSpPr>
          <p:cNvPr id="4" name="Rectangle 3"/>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B. YOLOv8</a:t>
            </a:r>
          </a:p>
        </p:txBody>
      </p:sp>
      <p:sp>
        <p:nvSpPr>
          <p:cNvPr id="5" name="Rectangle 4"/>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C. Pipeline OCR</a:t>
            </a:r>
          </a:p>
        </p:txBody>
      </p:sp>
      <p:sp>
        <p:nvSpPr>
          <p:cNvPr id="6" name="Rectangle 5"/>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D. VLM/Ollama</a:t>
            </a:r>
          </a:p>
        </p:txBody>
      </p:sp>
      <p:sp>
        <p:nvSpPr>
          <p:cNvPr id="7" name="TextBox 6"/>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ANNEXES TECHNIQUES — QUESTIONS DU JURY</a:t>
            </a:r>
          </a:p>
        </p:txBody>
      </p:sp>
      <p:sp>
        <p:nvSpPr>
          <p:cNvPr id="8" name="TextBox 7"/>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Fiche : GLiNER — Generalist and Lightweight Named Entity Recognizer</a:t>
            </a:r>
          </a:p>
        </p:txBody>
      </p:sp>
      <p:sp>
        <p:nvSpPr>
          <p:cNvPr id="9" name="Rectangle 8"/>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32 / 35</a:t>
            </a:r>
          </a:p>
        </p:txBody>
      </p:sp>
      <p:sp>
        <p:nvSpPr>
          <p:cNvPr id="11" name="Rounded Rectangle 10"/>
          <p:cNvSpPr/>
          <p:nvPr/>
        </p:nvSpPr>
        <p:spPr>
          <a:xfrm>
            <a:off x="274320" y="1591056"/>
            <a:ext cx="548640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188720"/>
          <a:lstStyle/>
          <a:p>
            <a:pPr algn="ctr">
              <a:defRPr sz="1000" b="1">
                <a:solidFill>
                  <a:srgbClr val="FFFFFF"/>
                </a:solidFill>
              </a:defRPr>
            </a:pPr>
            <a:r>
              <a:t>Origine et architecture de GLiNER</a:t>
            </a:r>
          </a:p>
        </p:txBody>
      </p:sp>
      <p:sp>
        <p:nvSpPr>
          <p:cNvPr id="13" name="Rectangle 12"/>
          <p:cNvSpPr/>
          <p:nvPr/>
        </p:nvSpPr>
        <p:spPr>
          <a:xfrm>
            <a:off x="4663440" y="1636776"/>
            <a:ext cx="100584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NLP 2023</a:t>
            </a:r>
          </a:p>
        </p:txBody>
      </p:sp>
      <p:sp>
        <p:nvSpPr>
          <p:cNvPr id="14" name="TextBox 13"/>
          <p:cNvSpPr txBox="1"/>
          <p:nvPr/>
        </p:nvSpPr>
        <p:spPr>
          <a:xfrm>
            <a:off x="384048" y="1956816"/>
            <a:ext cx="5266944" cy="1956816"/>
          </a:xfrm>
          <a:prstGeom prst="rect">
            <a:avLst/>
          </a:prstGeom>
          <a:noFill/>
        </p:spPr>
        <p:txBody>
          <a:bodyPr wrap="square" lIns="0" tIns="0" rIns="0" bIns="0">
            <a:spAutoFit/>
          </a:bodyPr>
          <a:lstStyle/>
          <a:p>
            <a:pPr>
              <a:defRPr sz="900" b="1">
                <a:solidFill>
                  <a:srgbClr val="0F172A"/>
                </a:solidFill>
              </a:defRPr>
            </a:pPr>
            <a:r>
              <a:t>•  Auteurs &amp; publication</a:t>
            </a:r>
          </a:p>
          <a:p>
            <a:pPr>
              <a:spcBef>
                <a:spcPts val="100"/>
              </a:spcBef>
              <a:defRPr sz="800">
                <a:solidFill>
                  <a:srgbClr val="334155"/>
                </a:solidFill>
              </a:defRPr>
            </a:pPr>
            <a:r>
              <a:t>   Zaratiana et al. — arXiv 2311.08526 (2023). Equipe : Universités de Paris-Saclay &amp; Paris Cité.</a:t>
            </a:r>
          </a:p>
          <a:p>
            <a:pPr>
              <a:spcBef>
                <a:spcPts val="300"/>
              </a:spcBef>
              <a:defRPr sz="900" b="1">
                <a:solidFill>
                  <a:srgbClr val="0F172A"/>
                </a:solidFill>
              </a:defRPr>
            </a:pPr>
            <a:r>
              <a:t>•  Dépôt GitHub</a:t>
            </a:r>
          </a:p>
          <a:p>
            <a:pPr>
              <a:spcBef>
                <a:spcPts val="100"/>
              </a:spcBef>
              <a:defRPr sz="800">
                <a:solidFill>
                  <a:srgbClr val="334155"/>
                </a:solidFill>
              </a:defRPr>
            </a:pPr>
            <a:r>
              <a:t>   github.com/urchade/GLiNER — Licence Apache 2.0. Plus de 3 000 étoiles.</a:t>
            </a:r>
          </a:p>
          <a:p>
            <a:pPr>
              <a:spcBef>
                <a:spcPts val="300"/>
              </a:spcBef>
              <a:defRPr sz="900" b="1">
                <a:solidFill>
                  <a:srgbClr val="0F172A"/>
                </a:solidFill>
              </a:defRPr>
            </a:pPr>
            <a:r>
              <a:t>•  Architecture</a:t>
            </a:r>
          </a:p>
          <a:p>
            <a:pPr>
              <a:spcBef>
                <a:spcPts val="100"/>
              </a:spcBef>
              <a:defRPr sz="800">
                <a:solidFill>
                  <a:srgbClr val="334155"/>
                </a:solidFill>
              </a:defRPr>
            </a:pPr>
            <a:r>
              <a:t>   Encoder BERT bidirectionnel. Les entités sont représentées comme des vecteurs de type + span.</a:t>
            </a:r>
          </a:p>
        </p:txBody>
      </p:sp>
      <p:sp>
        <p:nvSpPr>
          <p:cNvPr id="15" name="Rectangle 14"/>
          <p:cNvSpPr/>
          <p:nvPr/>
        </p:nvSpPr>
        <p:spPr>
          <a:xfrm>
            <a:off x="347472" y="393192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Hugging Face : urchade/gliner-multitask-large-v0.5</a:t>
            </a:r>
          </a:p>
        </p:txBody>
      </p:sp>
      <p:sp>
        <p:nvSpPr>
          <p:cNvPr id="16" name="Rounded Rectangle 15"/>
          <p:cNvSpPr/>
          <p:nvPr/>
        </p:nvSpPr>
        <p:spPr>
          <a:xfrm>
            <a:off x="5943600" y="1591056"/>
            <a:ext cx="597377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1591056"/>
            <a:ext cx="5973775"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280160"/>
          <a:lstStyle/>
          <a:p>
            <a:pPr algn="ctr">
              <a:defRPr sz="1000" b="1">
                <a:solidFill>
                  <a:srgbClr val="FFFFFF"/>
                </a:solidFill>
              </a:defRPr>
            </a:pPr>
            <a:r>
              <a:t>Données et fonctionnement</a:t>
            </a:r>
          </a:p>
        </p:txBody>
      </p:sp>
      <p:sp>
        <p:nvSpPr>
          <p:cNvPr id="18" name="Rectangle 17"/>
          <p:cNvSpPr/>
          <p:nvPr/>
        </p:nvSpPr>
        <p:spPr>
          <a:xfrm>
            <a:off x="10728655" y="1636776"/>
            <a:ext cx="10972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6D28D9"/>
                </a:solidFill>
              </a:defRPr>
            </a:pPr>
            <a:r>
              <a:t>ZÉRO-SHOT</a:t>
            </a:r>
          </a:p>
        </p:txBody>
      </p:sp>
      <p:sp>
        <p:nvSpPr>
          <p:cNvPr id="19" name="TextBox 18"/>
          <p:cNvSpPr txBox="1"/>
          <p:nvPr/>
        </p:nvSpPr>
        <p:spPr>
          <a:xfrm>
            <a:off x="6053328" y="1956816"/>
            <a:ext cx="5754319" cy="1956816"/>
          </a:xfrm>
          <a:prstGeom prst="rect">
            <a:avLst/>
          </a:prstGeom>
          <a:noFill/>
        </p:spPr>
        <p:txBody>
          <a:bodyPr wrap="square" lIns="0" tIns="0" rIns="0" bIns="0">
            <a:spAutoFit/>
          </a:bodyPr>
          <a:lstStyle/>
          <a:p>
            <a:pPr>
              <a:defRPr sz="900" b="1">
                <a:solidFill>
                  <a:srgbClr val="0F172A"/>
                </a:solidFill>
              </a:defRPr>
            </a:pPr>
            <a:r>
              <a:t>•  Données d'entraînement</a:t>
            </a:r>
          </a:p>
          <a:p>
            <a:pPr>
              <a:spcBef>
                <a:spcPts val="100"/>
              </a:spcBef>
              <a:defRPr sz="800">
                <a:solidFill>
                  <a:srgbClr val="334155"/>
                </a:solidFill>
              </a:defRPr>
            </a:pPr>
            <a:r>
              <a:t>   Corpus PILE (825 GB de texte anglais + multilingue). Aucune annotation spécifique au domaine foncier.</a:t>
            </a:r>
          </a:p>
          <a:p>
            <a:pPr>
              <a:spcBef>
                <a:spcPts val="300"/>
              </a:spcBef>
              <a:defRPr sz="900" b="1">
                <a:solidFill>
                  <a:srgbClr val="0F172A"/>
                </a:solidFill>
              </a:defRPr>
            </a:pPr>
            <a:r>
              <a:t>•  Mode de fonctionnement</a:t>
            </a:r>
          </a:p>
          <a:p>
            <a:pPr>
              <a:spcBef>
                <a:spcPts val="100"/>
              </a:spcBef>
              <a:defRPr sz="800">
                <a:solidFill>
                  <a:srgbClr val="334155"/>
                </a:solidFill>
              </a:defRPr>
            </a:pPr>
            <a:r>
              <a:t>   Zéro-shot : les types d'entités sont définis à l'inférence, pas à l'entraînement.</a:t>
            </a:r>
          </a:p>
          <a:p>
            <a:pPr>
              <a:spcBef>
                <a:spcPts val="300"/>
              </a:spcBef>
              <a:defRPr sz="900" b="1">
                <a:solidFill>
                  <a:srgbClr val="0F172A"/>
                </a:solidFill>
              </a:defRPr>
            </a:pPr>
            <a:r>
              <a:t>•  Avantage principal</a:t>
            </a:r>
          </a:p>
          <a:p>
            <a:pPr>
              <a:spcBef>
                <a:spcPts val="100"/>
              </a:spcBef>
              <a:defRPr sz="800">
                <a:solidFill>
                  <a:srgbClr val="334155"/>
                </a:solidFill>
              </a:defRPr>
            </a:pPr>
            <a:r>
              <a:t>   Aucun besoin de données d'entraînement spécifiques au fonds SIAPP.</a:t>
            </a:r>
          </a:p>
        </p:txBody>
      </p:sp>
      <p:sp>
        <p:nvSpPr>
          <p:cNvPr id="20" name="Rectangle 19"/>
          <p:cNvSpPr/>
          <p:nvPr/>
        </p:nvSpPr>
        <p:spPr>
          <a:xfrm>
            <a:off x="6016752" y="393192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Corpus PILE : disponible sur Hugging Face — EleutherAI/pile</a:t>
            </a:r>
          </a:p>
        </p:txBody>
      </p:sp>
      <p:sp>
        <p:nvSpPr>
          <p:cNvPr id="21" name="Rounded Rectangle 20"/>
          <p:cNvSpPr/>
          <p:nvPr/>
        </p:nvSpPr>
        <p:spPr>
          <a:xfrm>
            <a:off x="274320" y="4370832"/>
            <a:ext cx="11643055" cy="2322576"/>
          </a:xfrm>
          <a:prstGeom prst="roundRect">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7200" y="4553712"/>
            <a:ext cx="2743200" cy="1956816"/>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000" b="1">
                <a:solidFill>
                  <a:srgbClr val="6D28D9"/>
                </a:solidFill>
              </a:defRPr>
            </a:pPr>
            <a:r>
              <a:t>1. Entrée</a:t>
            </a:r>
          </a:p>
          <a:p>
            <a:pPr>
              <a:spcBef>
                <a:spcPts val="600"/>
              </a:spcBef>
              <a:defRPr sz="900">
                <a:solidFill>
                  <a:srgbClr val="334155"/>
                </a:solidFill>
              </a:defRPr>
            </a:pPr>
            <a:r>
              <a:t>Texte brut de la cellule</a:t>
            </a:r>
            <a:br/>
            <a:r>
              <a:t>+ Types d'entités cibles</a:t>
            </a:r>
          </a:p>
        </p:txBody>
      </p:sp>
      <p:sp>
        <p:nvSpPr>
          <p:cNvPr id="23" name="Rounded Rectangle 22"/>
          <p:cNvSpPr/>
          <p:nvPr/>
        </p:nvSpPr>
        <p:spPr>
          <a:xfrm>
            <a:off x="3419856" y="4553712"/>
            <a:ext cx="2743200" cy="1956816"/>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000" b="1">
                <a:solidFill>
                  <a:srgbClr val="6D28D9"/>
                </a:solidFill>
              </a:defRPr>
            </a:pPr>
            <a:r>
              <a:t>2. Encodage</a:t>
            </a:r>
          </a:p>
          <a:p>
            <a:pPr>
              <a:spcBef>
                <a:spcPts val="600"/>
              </a:spcBef>
              <a:defRPr sz="900">
                <a:solidFill>
                  <a:srgbClr val="334155"/>
                </a:solidFill>
              </a:defRPr>
            </a:pPr>
            <a:r>
              <a:t>BERT encode le texte</a:t>
            </a:r>
            <a:br/>
            <a:r>
              <a:t>et les labels de types</a:t>
            </a:r>
          </a:p>
        </p:txBody>
      </p:sp>
      <p:sp>
        <p:nvSpPr>
          <p:cNvPr id="24" name="Rounded Rectangle 23"/>
          <p:cNvSpPr/>
          <p:nvPr/>
        </p:nvSpPr>
        <p:spPr>
          <a:xfrm>
            <a:off x="6382512" y="4553712"/>
            <a:ext cx="2743200" cy="1956816"/>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000" b="1">
                <a:solidFill>
                  <a:srgbClr val="6D28D9"/>
                </a:solidFill>
              </a:defRPr>
            </a:pPr>
            <a:r>
              <a:t>3. Scoring</a:t>
            </a:r>
          </a:p>
          <a:p>
            <a:pPr>
              <a:spcBef>
                <a:spcPts val="600"/>
              </a:spcBef>
              <a:defRPr sz="900">
                <a:solidFill>
                  <a:srgbClr val="334155"/>
                </a:solidFill>
              </a:defRPr>
            </a:pPr>
            <a:r>
              <a:t>Score de similarité</a:t>
            </a:r>
            <a:br/>
            <a:r>
              <a:t>span × type</a:t>
            </a:r>
          </a:p>
        </p:txBody>
      </p:sp>
      <p:sp>
        <p:nvSpPr>
          <p:cNvPr id="25" name="Rounded Rectangle 24"/>
          <p:cNvSpPr/>
          <p:nvPr/>
        </p:nvSpPr>
        <p:spPr>
          <a:xfrm>
            <a:off x="9345168" y="4553712"/>
            <a:ext cx="2743200" cy="1956816"/>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000" b="1">
                <a:solidFill>
                  <a:srgbClr val="6D28D9"/>
                </a:solidFill>
              </a:defRPr>
            </a:pPr>
            <a:r>
              <a:t>4. Sortie</a:t>
            </a:r>
          </a:p>
          <a:p>
            <a:pPr>
              <a:spcBef>
                <a:spcPts val="600"/>
              </a:spcBef>
              <a:defRPr sz="900">
                <a:solidFill>
                  <a:srgbClr val="334155"/>
                </a:solidFill>
              </a:defRPr>
            </a:pPr>
            <a:r>
              <a:t>Entités avec score</a:t>
            </a:r>
            <a:br/>
            <a:r>
              <a:t>de confiance [0, 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1643055" cy="365760"/>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wrap="none" tIns="64008"/>
          <a:lstStyle/>
          <a:p>
            <a:pPr algn="ctr">
              <a:defRPr sz="900" b="1">
                <a:solidFill>
                  <a:srgbClr val="FFFFFF"/>
                </a:solidFill>
              </a:defRPr>
            </a:pPr>
            <a:r>
              <a:t>ANNEXES TECHNIQUES — FICHES JURY</a:t>
            </a:r>
          </a:p>
        </p:txBody>
      </p:sp>
      <p:sp>
        <p:nvSpPr>
          <p:cNvPr id="3" name="Rectangle 2"/>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A. GLiNER</a:t>
            </a:r>
          </a:p>
        </p:txBody>
      </p:sp>
      <p:sp>
        <p:nvSpPr>
          <p:cNvPr id="4" name="Rectangle 3"/>
          <p:cNvSpPr/>
          <p:nvPr/>
        </p:nvSpPr>
        <p:spPr>
          <a:xfrm>
            <a:off x="319879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B. YOLOv8</a:t>
            </a:r>
          </a:p>
        </p:txBody>
      </p:sp>
      <p:sp>
        <p:nvSpPr>
          <p:cNvPr id="5" name="Rectangle 4"/>
          <p:cNvSpPr/>
          <p:nvPr/>
        </p:nvSpPr>
        <p:spPr>
          <a:xfrm>
            <a:off x="612327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C. Pipeline OCR</a:t>
            </a:r>
          </a:p>
        </p:txBody>
      </p:sp>
      <p:sp>
        <p:nvSpPr>
          <p:cNvPr id="6" name="Rectangle 5"/>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D. VLM/Ollama</a:t>
            </a:r>
          </a:p>
        </p:txBody>
      </p:sp>
      <p:sp>
        <p:nvSpPr>
          <p:cNvPr id="7" name="TextBox 6"/>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ANNEXES TECHNIQUES — QUESTIONS DU JURY</a:t>
            </a:r>
          </a:p>
        </p:txBody>
      </p:sp>
      <p:sp>
        <p:nvSpPr>
          <p:cNvPr id="8" name="TextBox 7"/>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Fiche : YOLOv8 — Ultralytics Object Detection</a:t>
            </a:r>
          </a:p>
        </p:txBody>
      </p:sp>
      <p:sp>
        <p:nvSpPr>
          <p:cNvPr id="9" name="Rectangle 8"/>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33 / 35</a:t>
            </a:r>
          </a:p>
        </p:txBody>
      </p:sp>
      <p:sp>
        <p:nvSpPr>
          <p:cNvPr id="11" name="Rounded Rectangle 10"/>
          <p:cNvSpPr/>
          <p:nvPr/>
        </p:nvSpPr>
        <p:spPr>
          <a:xfrm>
            <a:off x="274320" y="1591056"/>
            <a:ext cx="548640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097280"/>
          <a:lstStyle/>
          <a:p>
            <a:pPr algn="ctr">
              <a:defRPr sz="1000" b="1">
                <a:solidFill>
                  <a:srgbClr val="FFFFFF"/>
                </a:solidFill>
              </a:defRPr>
            </a:pPr>
            <a:r>
              <a:t>Origine et architecture YOLOv8</a:t>
            </a:r>
          </a:p>
        </p:txBody>
      </p:sp>
      <p:sp>
        <p:nvSpPr>
          <p:cNvPr id="13" name="Rectangle 12"/>
          <p:cNvSpPr/>
          <p:nvPr/>
        </p:nvSpPr>
        <p:spPr>
          <a:xfrm>
            <a:off x="4754880" y="1636776"/>
            <a:ext cx="9144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2023</a:t>
            </a:r>
          </a:p>
        </p:txBody>
      </p:sp>
      <p:sp>
        <p:nvSpPr>
          <p:cNvPr id="14" name="TextBox 13"/>
          <p:cNvSpPr txBox="1"/>
          <p:nvPr/>
        </p:nvSpPr>
        <p:spPr>
          <a:xfrm>
            <a:off x="384048" y="1956816"/>
            <a:ext cx="5266944" cy="1956816"/>
          </a:xfrm>
          <a:prstGeom prst="rect">
            <a:avLst/>
          </a:prstGeom>
          <a:noFill/>
        </p:spPr>
        <p:txBody>
          <a:bodyPr wrap="square" lIns="0" tIns="0" rIns="0" bIns="0">
            <a:spAutoFit/>
          </a:bodyPr>
          <a:lstStyle/>
          <a:p>
            <a:pPr>
              <a:defRPr sz="900" b="1">
                <a:solidFill>
                  <a:srgbClr val="0F172A"/>
                </a:solidFill>
              </a:defRPr>
            </a:pPr>
            <a:r>
              <a:t>•  Ultralytics (2023) — Glenn Jocher et al.</a:t>
            </a:r>
          </a:p>
          <a:p>
            <a:pPr>
              <a:spcBef>
                <a:spcPts val="100"/>
              </a:spcBef>
              <a:defRPr sz="800">
                <a:solidFill>
                  <a:srgbClr val="334155"/>
                </a:solidFill>
              </a:defRPr>
            </a:pPr>
            <a:r>
              <a:t>   YOLOv8 est la huitième génération de l'architecture YOLO (You Only Look Once).</a:t>
            </a:r>
          </a:p>
          <a:p>
            <a:pPr>
              <a:spcBef>
                <a:spcPts val="300"/>
              </a:spcBef>
              <a:defRPr sz="900" b="1">
                <a:solidFill>
                  <a:srgbClr val="0F172A"/>
                </a:solidFill>
              </a:defRPr>
            </a:pPr>
            <a:r>
              <a:t>•  Dépôt GitHub</a:t>
            </a:r>
          </a:p>
          <a:p>
            <a:pPr>
              <a:spcBef>
                <a:spcPts val="100"/>
              </a:spcBef>
              <a:defRPr sz="800">
                <a:solidFill>
                  <a:srgbClr val="334155"/>
                </a:solidFill>
              </a:defRPr>
            </a:pPr>
            <a:r>
              <a:t>   github.com/ultralytics/ultralytics — Licence AGPL-3.0. Plus de 30 000 étoiles.</a:t>
            </a:r>
          </a:p>
          <a:p>
            <a:pPr>
              <a:spcBef>
                <a:spcPts val="300"/>
              </a:spcBef>
              <a:defRPr sz="900" b="1">
                <a:solidFill>
                  <a:srgbClr val="0F172A"/>
                </a:solidFill>
              </a:defRPr>
            </a:pPr>
            <a:r>
              <a:t>•  Variante retenue : YOLOv8n (nano)</a:t>
            </a:r>
          </a:p>
          <a:p>
            <a:pPr>
              <a:spcBef>
                <a:spcPts val="100"/>
              </a:spcBef>
              <a:defRPr sz="800">
                <a:solidFill>
                  <a:srgbClr val="334155"/>
                </a:solidFill>
              </a:defRPr>
            </a:pPr>
            <a:r>
              <a:t>   8 millions de paramètres. Temps d'inférence ~20 ms/image sur GPU NVIDIA.</a:t>
            </a:r>
          </a:p>
        </p:txBody>
      </p:sp>
      <p:sp>
        <p:nvSpPr>
          <p:cNvPr id="15" name="Rectangle 14"/>
          <p:cNvSpPr/>
          <p:nvPr/>
        </p:nvSpPr>
        <p:spPr>
          <a:xfrm>
            <a:off x="347472" y="393192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Installation : pip install ultralytics — Docs : docs.ultralytics.com</a:t>
            </a:r>
          </a:p>
        </p:txBody>
      </p:sp>
      <p:sp>
        <p:nvSpPr>
          <p:cNvPr id="16" name="Rounded Rectangle 15"/>
          <p:cNvSpPr/>
          <p:nvPr/>
        </p:nvSpPr>
        <p:spPr>
          <a:xfrm>
            <a:off x="5943600" y="1591056"/>
            <a:ext cx="597377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1591056"/>
            <a:ext cx="597377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554480"/>
          <a:lstStyle/>
          <a:p>
            <a:pPr algn="ctr">
              <a:defRPr sz="1000" b="1">
                <a:solidFill>
                  <a:srgbClr val="FFFFFF"/>
                </a:solidFill>
              </a:defRPr>
            </a:pPr>
            <a:r>
              <a:t>Entraînement et données</a:t>
            </a:r>
          </a:p>
        </p:txBody>
      </p:sp>
      <p:sp>
        <p:nvSpPr>
          <p:cNvPr id="18" name="Rectangle 17"/>
          <p:cNvSpPr/>
          <p:nvPr/>
        </p:nvSpPr>
        <p:spPr>
          <a:xfrm>
            <a:off x="10454335" y="1636776"/>
            <a:ext cx="13716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COCO + SIAPP</a:t>
            </a:r>
          </a:p>
        </p:txBody>
      </p:sp>
      <p:sp>
        <p:nvSpPr>
          <p:cNvPr id="19" name="TextBox 18"/>
          <p:cNvSpPr txBox="1"/>
          <p:nvPr/>
        </p:nvSpPr>
        <p:spPr>
          <a:xfrm>
            <a:off x="6053328" y="1956816"/>
            <a:ext cx="5754319" cy="1956816"/>
          </a:xfrm>
          <a:prstGeom prst="rect">
            <a:avLst/>
          </a:prstGeom>
          <a:noFill/>
        </p:spPr>
        <p:txBody>
          <a:bodyPr wrap="square" lIns="0" tIns="0" rIns="0" bIns="0">
            <a:spAutoFit/>
          </a:bodyPr>
          <a:lstStyle/>
          <a:p>
            <a:pPr>
              <a:defRPr sz="900" b="1">
                <a:solidFill>
                  <a:srgbClr val="0F172A"/>
                </a:solidFill>
              </a:defRPr>
            </a:pPr>
            <a:r>
              <a:t>•  Données d'entraînement initiales</a:t>
            </a:r>
          </a:p>
          <a:p>
            <a:pPr>
              <a:spcBef>
                <a:spcPts val="100"/>
              </a:spcBef>
              <a:defRPr sz="800">
                <a:solidFill>
                  <a:srgbClr val="334155"/>
                </a:solidFill>
              </a:defRPr>
            </a:pPr>
            <a:r>
              <a:t>   Pré-entraîné sur COCO (118 000 images annotées, 80 classes). Fine-tuné sur le fonds SIAPP.</a:t>
            </a:r>
          </a:p>
          <a:p>
            <a:pPr>
              <a:spcBef>
                <a:spcPts val="300"/>
              </a:spcBef>
              <a:defRPr sz="900" b="1">
                <a:solidFill>
                  <a:srgbClr val="0F172A"/>
                </a:solidFill>
              </a:defRPr>
            </a:pPr>
            <a:r>
              <a:t>•  Fine-tuning sur corpus SIAPP</a:t>
            </a:r>
          </a:p>
          <a:p>
            <a:pPr>
              <a:spcBef>
                <a:spcPts val="100"/>
              </a:spcBef>
              <a:defRPr sz="800">
                <a:solidFill>
                  <a:srgbClr val="334155"/>
                </a:solidFill>
              </a:defRPr>
            </a:pPr>
            <a:r>
              <a:t>   400 images annotées manuellement avec LabelImg. Split 80/20 (train/test). 50 epochs.</a:t>
            </a:r>
          </a:p>
          <a:p>
            <a:pPr>
              <a:spcBef>
                <a:spcPts val="300"/>
              </a:spcBef>
              <a:defRPr sz="900" b="1">
                <a:solidFill>
                  <a:srgbClr val="0F172A"/>
                </a:solidFill>
              </a:defRPr>
            </a:pPr>
            <a:r>
              <a:t>•  3 classes annotées</a:t>
            </a:r>
          </a:p>
          <a:p>
            <a:pPr>
              <a:spcBef>
                <a:spcPts val="100"/>
              </a:spcBef>
              <a:defRPr sz="800">
                <a:solidFill>
                  <a:srgbClr val="334155"/>
                </a:solidFill>
              </a:defRPr>
            </a:pPr>
            <a:r>
              <a:t>   Classe 0 : cartouche. Classe 1 : tableau parcelles. Classe 2 : annotations marginales/cachets.</a:t>
            </a:r>
          </a:p>
        </p:txBody>
      </p:sp>
      <p:sp>
        <p:nvSpPr>
          <p:cNvPr id="20" name="Rectangle 19"/>
          <p:cNvSpPr/>
          <p:nvPr/>
        </p:nvSpPr>
        <p:spPr>
          <a:xfrm>
            <a:off x="6016752" y="393192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Outil d'annotation : LabelImg (tzutalin/labelImg) — MIT License</a:t>
            </a:r>
          </a:p>
        </p:txBody>
      </p:sp>
      <p:sp>
        <p:nvSpPr>
          <p:cNvPr id="21" name="Rectangle 20"/>
          <p:cNvSpPr/>
          <p:nvPr/>
        </p:nvSpPr>
        <p:spPr>
          <a:xfrm>
            <a:off x="274320" y="4370832"/>
            <a:ext cx="1892807"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8M</a:t>
            </a:r>
          </a:p>
          <a:p>
            <a:pPr algn="ctr">
              <a:spcBef>
                <a:spcPts val="200"/>
              </a:spcBef>
              <a:defRPr sz="700" b="1">
                <a:solidFill>
                  <a:srgbClr val="0F172A"/>
                </a:solidFill>
              </a:defRPr>
            </a:pPr>
            <a:r>
              <a:t>PARAMÈTRES NANO</a:t>
            </a:r>
          </a:p>
          <a:p>
            <a:pPr algn="ctr">
              <a:spcBef>
                <a:spcPts val="100"/>
              </a:spcBef>
              <a:defRPr sz="650">
                <a:solidFill>
                  <a:srgbClr val="475569"/>
                </a:solidFill>
              </a:defRPr>
            </a:pPr>
            <a:r>
              <a:t>Modèle le plus léger</a:t>
            </a:r>
          </a:p>
        </p:txBody>
      </p:sp>
      <p:sp>
        <p:nvSpPr>
          <p:cNvPr id="22" name="Rectangle 21"/>
          <p:cNvSpPr/>
          <p:nvPr/>
        </p:nvSpPr>
        <p:spPr>
          <a:xfrm>
            <a:off x="2276856" y="4370832"/>
            <a:ext cx="1892807"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20ms</a:t>
            </a:r>
          </a:p>
          <a:p>
            <a:pPr algn="ctr">
              <a:spcBef>
                <a:spcPts val="200"/>
              </a:spcBef>
              <a:defRPr sz="700" b="1">
                <a:solidFill>
                  <a:srgbClr val="0F172A"/>
                </a:solidFill>
              </a:defRPr>
            </a:pPr>
            <a:r>
              <a:t>INFÉRENCE GPU</a:t>
            </a:r>
          </a:p>
          <a:p>
            <a:pPr algn="ctr">
              <a:spcBef>
                <a:spcPts val="100"/>
              </a:spcBef>
              <a:defRPr sz="650">
                <a:solidFill>
                  <a:srgbClr val="475569"/>
                </a:solidFill>
              </a:defRPr>
            </a:pPr>
            <a:r>
              <a:t>NVIDIA RTX 3060</a:t>
            </a:r>
          </a:p>
        </p:txBody>
      </p:sp>
      <p:sp>
        <p:nvSpPr>
          <p:cNvPr id="23" name="Rectangle 22"/>
          <p:cNvSpPr/>
          <p:nvPr/>
        </p:nvSpPr>
        <p:spPr>
          <a:xfrm>
            <a:off x="4279392" y="4370832"/>
            <a:ext cx="1892807" cy="914400"/>
          </a:xfrm>
          <a:prstGeom prst="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16A34A"/>
                </a:solidFill>
              </a:defRPr>
            </a:pPr>
            <a:r>
              <a:t>0.87</a:t>
            </a:r>
          </a:p>
          <a:p>
            <a:pPr algn="ctr">
              <a:spcBef>
                <a:spcPts val="200"/>
              </a:spcBef>
              <a:defRPr sz="700" b="1">
                <a:solidFill>
                  <a:srgbClr val="0F172A"/>
                </a:solidFill>
              </a:defRPr>
            </a:pPr>
            <a:r>
              <a:t>MAP@0.5</a:t>
            </a:r>
          </a:p>
          <a:p>
            <a:pPr algn="ctr">
              <a:spcBef>
                <a:spcPts val="100"/>
              </a:spcBef>
              <a:defRPr sz="650">
                <a:solidFill>
                  <a:srgbClr val="475569"/>
                </a:solidFill>
              </a:defRPr>
            </a:pPr>
            <a:r>
              <a:t>Sur corpus test 80 img.</a:t>
            </a:r>
          </a:p>
        </p:txBody>
      </p:sp>
      <p:sp>
        <p:nvSpPr>
          <p:cNvPr id="24" name="Rectangle 23"/>
          <p:cNvSpPr/>
          <p:nvPr/>
        </p:nvSpPr>
        <p:spPr>
          <a:xfrm>
            <a:off x="6281928" y="4370832"/>
            <a:ext cx="1892807" cy="914400"/>
          </a:xfrm>
          <a:prstGeom prst="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D97706"/>
                </a:solidFill>
              </a:defRPr>
            </a:pPr>
            <a:r>
              <a:t>400</a:t>
            </a:r>
          </a:p>
          <a:p>
            <a:pPr algn="ctr">
              <a:spcBef>
                <a:spcPts val="200"/>
              </a:spcBef>
              <a:defRPr sz="700" b="1">
                <a:solidFill>
                  <a:srgbClr val="0F172A"/>
                </a:solidFill>
              </a:defRPr>
            </a:pPr>
            <a:r>
              <a:t>IMAGES ANNOTÉES</a:t>
            </a:r>
          </a:p>
          <a:p>
            <a:pPr algn="ctr">
              <a:spcBef>
                <a:spcPts val="100"/>
              </a:spcBef>
              <a:defRPr sz="650">
                <a:solidFill>
                  <a:srgbClr val="475569"/>
                </a:solidFill>
              </a:defRPr>
            </a:pPr>
            <a:r>
              <a:t>Split 80/20</a:t>
            </a:r>
          </a:p>
        </p:txBody>
      </p:sp>
      <p:sp>
        <p:nvSpPr>
          <p:cNvPr id="25" name="Rectangle 24"/>
          <p:cNvSpPr/>
          <p:nvPr/>
        </p:nvSpPr>
        <p:spPr>
          <a:xfrm>
            <a:off x="8284464" y="4370832"/>
            <a:ext cx="1892807" cy="91440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F2546"/>
                </a:solidFill>
              </a:defRPr>
            </a:pPr>
            <a:r>
              <a:t>50</a:t>
            </a:r>
          </a:p>
          <a:p>
            <a:pPr algn="ctr">
              <a:spcBef>
                <a:spcPts val="200"/>
              </a:spcBef>
              <a:defRPr sz="700" b="1">
                <a:solidFill>
                  <a:srgbClr val="0F172A"/>
                </a:solidFill>
              </a:defRPr>
            </a:pPr>
            <a:r>
              <a:t>EPOCHS FINE-TUNING</a:t>
            </a:r>
          </a:p>
          <a:p>
            <a:pPr algn="ctr">
              <a:spcBef>
                <a:spcPts val="100"/>
              </a:spcBef>
              <a:defRPr sz="650">
                <a:solidFill>
                  <a:srgbClr val="475569"/>
                </a:solidFill>
              </a:defRPr>
            </a:pPr>
            <a:r>
              <a:t>Batch size 16</a:t>
            </a:r>
          </a:p>
        </p:txBody>
      </p:sp>
      <p:sp>
        <p:nvSpPr>
          <p:cNvPr id="26" name="Rectangle 25"/>
          <p:cNvSpPr/>
          <p:nvPr/>
        </p:nvSpPr>
        <p:spPr>
          <a:xfrm>
            <a:off x="10287000" y="4370832"/>
            <a:ext cx="1627632" cy="914400"/>
          </a:xfrm>
          <a:prstGeom prst="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64008" lIns="0" rIns="0" bIns="0"/>
          <a:lstStyle/>
          <a:p>
            <a:pPr algn="ctr">
              <a:defRPr sz="1800" b="1">
                <a:solidFill>
                  <a:srgbClr val="0284C7"/>
                </a:solidFill>
              </a:defRPr>
            </a:pPr>
            <a:r>
              <a:t>3 Classes</a:t>
            </a:r>
          </a:p>
          <a:p>
            <a:pPr algn="ctr">
              <a:spcBef>
                <a:spcPts val="200"/>
              </a:spcBef>
              <a:defRPr sz="700" b="1">
                <a:solidFill>
                  <a:srgbClr val="0F172A"/>
                </a:solidFill>
              </a:defRPr>
            </a:pPr>
            <a:r>
              <a:t>SEGMENTATION</a:t>
            </a:r>
          </a:p>
          <a:p>
            <a:pPr algn="ctr">
              <a:spcBef>
                <a:spcPts val="100"/>
              </a:spcBef>
              <a:defRPr sz="650">
                <a:solidFill>
                  <a:srgbClr val="475569"/>
                </a:solidFill>
              </a:defRPr>
            </a:pPr>
            <a:r>
              <a:t>Cartouche/Tableau/Marg.</a:t>
            </a:r>
          </a:p>
        </p:txBody>
      </p:sp>
      <p:sp>
        <p:nvSpPr>
          <p:cNvPr id="27" name="Rectangle 26"/>
          <p:cNvSpPr/>
          <p:nvPr/>
        </p:nvSpPr>
        <p:spPr>
          <a:xfrm>
            <a:off x="274320" y="5394960"/>
            <a:ext cx="11643055" cy="13533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5431536"/>
            <a:ext cx="11496751" cy="256032"/>
          </a:xfrm>
          <a:prstGeom prst="rect">
            <a:avLst/>
          </a:prstGeom>
          <a:noFill/>
        </p:spPr>
        <p:txBody>
          <a:bodyPr wrap="square" tIns="0" bIns="0" lIns="0" rIns="0">
            <a:spAutoFit/>
          </a:bodyPr>
          <a:lstStyle/>
          <a:p>
            <a:pPr algn="ctr">
              <a:defRPr sz="800" b="1">
                <a:solidFill>
                  <a:srgbClr val="0F2546"/>
                </a:solidFill>
              </a:defRPr>
            </a:pPr>
            <a:r>
              <a:t>INTÉGRATION DE YOLOV8 DANS LE PIPELINE GLOBAL DE TRAITEMENT</a:t>
            </a:r>
          </a:p>
        </p:txBody>
      </p:sp>
      <p:pic>
        <p:nvPicPr>
          <p:cNvPr id="29" name="Picture 28" descr="architecture_pfe_finale_fixed.png"/>
          <p:cNvPicPr>
            <a:picLocks noChangeAspect="1"/>
          </p:cNvPicPr>
          <p:nvPr/>
        </p:nvPicPr>
        <p:blipFill>
          <a:blip r:embed="rId2"/>
          <a:stretch>
            <a:fillRect/>
          </a:stretch>
        </p:blipFill>
        <p:spPr>
          <a:xfrm>
            <a:off x="5405704" y="5705856"/>
            <a:ext cx="1380285" cy="749808"/>
          </a:xfrm>
          <a:prstGeom prst="rect">
            <a:avLst/>
          </a:prstGeom>
        </p:spPr>
      </p:pic>
      <p:sp>
        <p:nvSpPr>
          <p:cNvPr id="30" name="TextBox 29"/>
          <p:cNvSpPr txBox="1"/>
          <p:nvPr/>
        </p:nvSpPr>
        <p:spPr>
          <a:xfrm>
            <a:off x="347472" y="6510528"/>
            <a:ext cx="11496751" cy="219456"/>
          </a:xfrm>
          <a:prstGeom prst="rect">
            <a:avLst/>
          </a:prstGeom>
          <a:noFill/>
        </p:spPr>
        <p:txBody>
          <a:bodyPr wrap="square" tIns="0" bIns="0" lIns="0" rIns="0">
            <a:spAutoFit/>
          </a:bodyPr>
          <a:lstStyle/>
          <a:p>
            <a:pPr algn="ctr">
              <a:defRPr sz="750">
                <a:solidFill>
                  <a:srgbClr val="475569"/>
                </a:solidFill>
              </a:defRPr>
            </a:pPr>
            <a:r>
              <a:t>YOLOv8 intervient entre le prétraitement (Hough/Otsu) et l'extraction OCR/NER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1643055" cy="365760"/>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wrap="none" tIns="64008"/>
          <a:lstStyle/>
          <a:p>
            <a:pPr algn="ctr">
              <a:defRPr sz="900" b="1">
                <a:solidFill>
                  <a:srgbClr val="FFFFFF"/>
                </a:solidFill>
              </a:defRPr>
            </a:pPr>
            <a:r>
              <a:t>ANNEXES TECHNIQUES — FICHES JURY</a:t>
            </a:r>
          </a:p>
        </p:txBody>
      </p:sp>
      <p:sp>
        <p:nvSpPr>
          <p:cNvPr id="3" name="Rectangle 2"/>
          <p:cNvSpPr/>
          <p:nvPr/>
        </p:nvSpPr>
        <p:spPr>
          <a:xfrm>
            <a:off x="274320"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A. GLiNER</a:t>
            </a:r>
          </a:p>
        </p:txBody>
      </p:sp>
      <p:sp>
        <p:nvSpPr>
          <p:cNvPr id="4" name="Rectangle 3"/>
          <p:cNvSpPr/>
          <p:nvPr/>
        </p:nvSpPr>
        <p:spPr>
          <a:xfrm>
            <a:off x="319879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B. YOLOv8</a:t>
            </a:r>
          </a:p>
        </p:txBody>
      </p:sp>
      <p:sp>
        <p:nvSpPr>
          <p:cNvPr id="5" name="Rectangle 4"/>
          <p:cNvSpPr/>
          <p:nvPr/>
        </p:nvSpPr>
        <p:spPr>
          <a:xfrm>
            <a:off x="6123279" y="457200"/>
            <a:ext cx="286961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C. Pipeline OCR</a:t>
            </a:r>
          </a:p>
        </p:txBody>
      </p:sp>
      <p:sp>
        <p:nvSpPr>
          <p:cNvPr id="6" name="Rectangle 5"/>
          <p:cNvSpPr/>
          <p:nvPr/>
        </p:nvSpPr>
        <p:spPr>
          <a:xfrm>
            <a:off x="9047759" y="457200"/>
            <a:ext cx="286961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D. VLM/Ollama</a:t>
            </a:r>
          </a:p>
        </p:txBody>
      </p:sp>
      <p:sp>
        <p:nvSpPr>
          <p:cNvPr id="7" name="TextBox 6"/>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ANNEXES TECHNIQUES — QUESTIONS DU JURY</a:t>
            </a:r>
          </a:p>
        </p:txBody>
      </p:sp>
      <p:sp>
        <p:nvSpPr>
          <p:cNvPr id="8" name="TextBox 7"/>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Fiche : Pipeline OCR/HTR — EasyOCR + TrOCR</a:t>
            </a:r>
          </a:p>
        </p:txBody>
      </p:sp>
      <p:sp>
        <p:nvSpPr>
          <p:cNvPr id="9" name="Rectangle 8"/>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34 / 35</a:t>
            </a:r>
          </a:p>
        </p:txBody>
      </p:sp>
      <p:sp>
        <p:nvSpPr>
          <p:cNvPr id="11" name="Rounded Rectangle 10"/>
          <p:cNvSpPr/>
          <p:nvPr/>
        </p:nvSpPr>
        <p:spPr>
          <a:xfrm>
            <a:off x="274320" y="1591056"/>
            <a:ext cx="5486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591056"/>
            <a:ext cx="5486400" cy="329184"/>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280160"/>
          <a:lstStyle/>
          <a:p>
            <a:pPr algn="ctr">
              <a:defRPr sz="1000" b="1">
                <a:solidFill>
                  <a:srgbClr val="FFFFFF"/>
                </a:solidFill>
              </a:defRPr>
            </a:pPr>
            <a:r>
              <a:t>Les deux moteurs de lecture</a:t>
            </a:r>
          </a:p>
        </p:txBody>
      </p:sp>
      <p:sp>
        <p:nvSpPr>
          <p:cNvPr id="13" name="Rectangle 12"/>
          <p:cNvSpPr/>
          <p:nvPr/>
        </p:nvSpPr>
        <p:spPr>
          <a:xfrm>
            <a:off x="4572000" y="1636776"/>
            <a:ext cx="109728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F2546"/>
                </a:solidFill>
              </a:defRPr>
            </a:pPr>
            <a:r>
              <a:t>OCR + HTR</a:t>
            </a:r>
          </a:p>
        </p:txBody>
      </p:sp>
      <p:sp>
        <p:nvSpPr>
          <p:cNvPr id="14" name="TextBox 13"/>
          <p:cNvSpPr txBox="1"/>
          <p:nvPr/>
        </p:nvSpPr>
        <p:spPr>
          <a:xfrm>
            <a:off x="384048" y="1956816"/>
            <a:ext cx="5266944" cy="2048256"/>
          </a:xfrm>
          <a:prstGeom prst="rect">
            <a:avLst/>
          </a:prstGeom>
          <a:noFill/>
        </p:spPr>
        <p:txBody>
          <a:bodyPr wrap="square" lIns="0" tIns="0" rIns="0" bIns="0">
            <a:spAutoFit/>
          </a:bodyPr>
          <a:lstStyle/>
          <a:p>
            <a:pPr>
              <a:defRPr sz="950" b="1">
                <a:solidFill>
                  <a:srgbClr val="0F172A"/>
                </a:solidFill>
              </a:defRPr>
            </a:pPr>
            <a:r>
              <a:t>•  EasyOCR (JaidedAI, 2020)</a:t>
            </a:r>
          </a:p>
          <a:p>
            <a:pPr>
              <a:spcBef>
                <a:spcPts val="100"/>
              </a:spcBef>
              <a:defRPr sz="850">
                <a:solidFill>
                  <a:srgbClr val="334155"/>
                </a:solidFill>
              </a:defRPr>
            </a:pPr>
            <a:r>
              <a:t>   OCR multilingue open-source. 80+ langues. Pré-entraîné sur millions de documents imprimés. Rapide sur CPU.</a:t>
            </a:r>
          </a:p>
          <a:p>
            <a:pPr>
              <a:spcBef>
                <a:spcPts val="500"/>
              </a:spcBef>
              <a:defRPr sz="950" b="1">
                <a:solidFill>
                  <a:srgbClr val="0F172A"/>
                </a:solidFill>
              </a:defRPr>
            </a:pPr>
            <a:r>
              <a:t>•  TrOCR (Microsoft, 2021)</a:t>
            </a:r>
          </a:p>
          <a:p>
            <a:pPr>
              <a:spcBef>
                <a:spcPts val="100"/>
              </a:spcBef>
              <a:defRPr sz="850">
                <a:solidFill>
                  <a:srgbClr val="334155"/>
                </a:solidFill>
              </a:defRPr>
            </a:pPr>
            <a:r>
              <a:t>   Transformer pur : ViT encoder + GPT-2 decoder. Pré-entraîné sur 684M paires image-texte. Fine-tunable.</a:t>
            </a:r>
          </a:p>
          <a:p>
            <a:pPr>
              <a:spcBef>
                <a:spcPts val="500"/>
              </a:spcBef>
              <a:defRPr sz="950" b="1">
                <a:solidFill>
                  <a:srgbClr val="0F172A"/>
                </a:solidFill>
              </a:defRPr>
            </a:pPr>
            <a:r>
              <a:t>•  Stratégie de routage</a:t>
            </a:r>
          </a:p>
          <a:p>
            <a:pPr>
              <a:spcBef>
                <a:spcPts val="100"/>
              </a:spcBef>
              <a:defRPr sz="850">
                <a:solidFill>
                  <a:srgbClr val="334155"/>
                </a:solidFill>
              </a:defRPr>
            </a:pPr>
            <a:r>
              <a:t>   La zone est d'abord classifiée 'imprimée' ou 'manuscrite' par le classifieur binaire. Chaque zone est routée vers le bon modèle.</a:t>
            </a:r>
          </a:p>
        </p:txBody>
      </p:sp>
      <p:sp>
        <p:nvSpPr>
          <p:cNvPr id="15" name="Rectangle 14"/>
          <p:cNvSpPr/>
          <p:nvPr/>
        </p:nvSpPr>
        <p:spPr>
          <a:xfrm>
            <a:off x="347472" y="4023360"/>
            <a:ext cx="5340096"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Référence : Baek et al. (ICCV 2019) — arXiv 1904.01906 — Taxonomy OCR/HTR</a:t>
            </a:r>
          </a:p>
        </p:txBody>
      </p:sp>
      <p:sp>
        <p:nvSpPr>
          <p:cNvPr id="16" name="Rounded Rectangle 15"/>
          <p:cNvSpPr/>
          <p:nvPr/>
        </p:nvSpPr>
        <p:spPr>
          <a:xfrm>
            <a:off x="5943600" y="1591056"/>
            <a:ext cx="5973775"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1591056"/>
            <a:ext cx="5973775" cy="32918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28016" tIns="54864" rIns="1371600"/>
          <a:lstStyle/>
          <a:p>
            <a:pPr algn="ctr">
              <a:defRPr sz="1000" b="1">
                <a:solidFill>
                  <a:srgbClr val="FFFFFF"/>
                </a:solidFill>
              </a:defRPr>
            </a:pPr>
            <a:r>
              <a:t>Données et performances mesurées</a:t>
            </a:r>
          </a:p>
        </p:txBody>
      </p:sp>
      <p:sp>
        <p:nvSpPr>
          <p:cNvPr id="18" name="Rectangle 17"/>
          <p:cNvSpPr/>
          <p:nvPr/>
        </p:nvSpPr>
        <p:spPr>
          <a:xfrm>
            <a:off x="10637215" y="1636776"/>
            <a:ext cx="118872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27432" lIns="0" rIns="0" bIns="0"/>
          <a:lstStyle/>
          <a:p>
            <a:pPr algn="ctr">
              <a:defRPr sz="700" b="1">
                <a:solidFill>
                  <a:srgbClr val="0284C7"/>
                </a:solidFill>
              </a:defRPr>
            </a:pPr>
            <a:r>
              <a:t>CER = 8.4%</a:t>
            </a:r>
          </a:p>
        </p:txBody>
      </p:sp>
      <p:sp>
        <p:nvSpPr>
          <p:cNvPr id="19" name="TextBox 18"/>
          <p:cNvSpPr txBox="1"/>
          <p:nvPr/>
        </p:nvSpPr>
        <p:spPr>
          <a:xfrm>
            <a:off x="6053328" y="1956816"/>
            <a:ext cx="5754319" cy="2048256"/>
          </a:xfrm>
          <a:prstGeom prst="rect">
            <a:avLst/>
          </a:prstGeom>
          <a:noFill/>
        </p:spPr>
        <p:txBody>
          <a:bodyPr wrap="square" lIns="0" tIns="0" rIns="0" bIns="0">
            <a:spAutoFit/>
          </a:bodyPr>
          <a:lstStyle/>
          <a:p>
            <a:pPr>
              <a:defRPr sz="950" b="1">
                <a:solidFill>
                  <a:srgbClr val="0F172A"/>
                </a:solidFill>
              </a:defRPr>
            </a:pPr>
            <a:r>
              <a:t>•  Données TrOCR (Microsoft)</a:t>
            </a:r>
          </a:p>
          <a:p>
            <a:pPr>
              <a:spcBef>
                <a:spcPts val="100"/>
              </a:spcBef>
              <a:defRPr sz="850">
                <a:solidFill>
                  <a:srgbClr val="334155"/>
                </a:solidFill>
              </a:defRPr>
            </a:pPr>
            <a:r>
              <a:t>   684M paires image-texte. Base : english-printed et english-handwritten. Fine-tuning possible via Hugging Face Trainer.</a:t>
            </a:r>
          </a:p>
          <a:p>
            <a:pPr>
              <a:spcBef>
                <a:spcPts val="500"/>
              </a:spcBef>
              <a:defRPr sz="950" b="1">
                <a:solidFill>
                  <a:srgbClr val="0F172A"/>
                </a:solidFill>
              </a:defRPr>
            </a:pPr>
            <a:r>
              <a:t>•  Performance sur registres SIAPP</a:t>
            </a:r>
          </a:p>
          <a:p>
            <a:pPr>
              <a:spcBef>
                <a:spcPts val="100"/>
              </a:spcBef>
              <a:defRPr sz="850">
                <a:solidFill>
                  <a:srgbClr val="334155"/>
                </a:solidFill>
              </a:defRPr>
            </a:pPr>
            <a:r>
              <a:t>   Après fine-tuning sur 200 pages annotées : CER = 8.4 % (vs 31.2 % sans fine-tuning).</a:t>
            </a:r>
          </a:p>
          <a:p>
            <a:pPr>
              <a:spcBef>
                <a:spcPts val="500"/>
              </a:spcBef>
              <a:defRPr sz="950" b="1">
                <a:solidFill>
                  <a:srgbClr val="0F172A"/>
                </a:solidFill>
              </a:defRPr>
            </a:pPr>
            <a:r>
              <a:t>•  Références clés</a:t>
            </a:r>
          </a:p>
          <a:p>
            <a:pPr>
              <a:spcBef>
                <a:spcPts val="100"/>
              </a:spcBef>
              <a:defRPr sz="850">
                <a:solidFill>
                  <a:srgbClr val="334155"/>
                </a:solidFill>
              </a:defRPr>
            </a:pPr>
            <a:r>
              <a:t>   Baek et al. (ICCV 2019) : taxonomie OCR. Li et al. (AAAI 2022) : TrOCR. HTR-United : modèles français.</a:t>
            </a:r>
          </a:p>
        </p:txBody>
      </p:sp>
      <p:sp>
        <p:nvSpPr>
          <p:cNvPr id="20" name="Rectangle 19"/>
          <p:cNvSpPr/>
          <p:nvPr/>
        </p:nvSpPr>
        <p:spPr>
          <a:xfrm>
            <a:off x="6016752" y="4023360"/>
            <a:ext cx="5827471" cy="274320"/>
          </a:xfrm>
          <a:prstGeom prst="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800" b="1">
                <a:solidFill>
                  <a:srgbClr val="0F2546"/>
                </a:solidFill>
              </a:defRPr>
            </a:pPr>
            <a:r>
              <a:t>Modèle HuggingFace : microsoft/trocr-large-handwritten — MIT License</a:t>
            </a:r>
          </a:p>
        </p:txBody>
      </p:sp>
      <p:sp>
        <p:nvSpPr>
          <p:cNvPr id="21" name="Rectangle 20"/>
          <p:cNvSpPr/>
          <p:nvPr/>
        </p:nvSpPr>
        <p:spPr>
          <a:xfrm>
            <a:off x="274320" y="4462272"/>
            <a:ext cx="11643055" cy="223113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4498848"/>
            <a:ext cx="11496751" cy="256032"/>
          </a:xfrm>
          <a:prstGeom prst="rect">
            <a:avLst/>
          </a:prstGeom>
          <a:noFill/>
        </p:spPr>
        <p:txBody>
          <a:bodyPr wrap="square" tIns="0" bIns="0" lIns="0" rIns="0">
            <a:spAutoFit/>
          </a:bodyPr>
          <a:lstStyle/>
          <a:p>
            <a:pPr algn="ctr">
              <a:defRPr sz="800" b="1">
                <a:solidFill>
                  <a:srgbClr val="0F2546"/>
                </a:solidFill>
              </a:defRPr>
            </a:pPr>
            <a:r>
              <a:t>PIPELINE OCR UNIFIÉ — BAEK ET AL. (ICCV 2019) — RÉFÉRENCE ACADÉMIQUE DE BASE</a:t>
            </a:r>
          </a:p>
        </p:txBody>
      </p:sp>
      <p:pic>
        <p:nvPicPr>
          <p:cNvPr id="23" name="Picture 22" descr="baek_p4_pipeline.png"/>
          <p:cNvPicPr>
            <a:picLocks noChangeAspect="1"/>
          </p:cNvPicPr>
          <p:nvPr/>
        </p:nvPicPr>
        <p:blipFill>
          <a:blip r:embed="rId2"/>
          <a:stretch>
            <a:fillRect/>
          </a:stretch>
        </p:blipFill>
        <p:spPr>
          <a:xfrm>
            <a:off x="5466989" y="4773168"/>
            <a:ext cx="1257715" cy="1627632"/>
          </a:xfrm>
          <a:prstGeom prst="rect">
            <a:avLst/>
          </a:prstGeom>
        </p:spPr>
      </p:pic>
      <p:sp>
        <p:nvSpPr>
          <p:cNvPr id="24" name="TextBox 23"/>
          <p:cNvSpPr txBox="1"/>
          <p:nvPr/>
        </p:nvSpPr>
        <p:spPr>
          <a:xfrm>
            <a:off x="347472" y="6455664"/>
            <a:ext cx="11496751" cy="219456"/>
          </a:xfrm>
          <a:prstGeom prst="rect">
            <a:avLst/>
          </a:prstGeom>
          <a:noFill/>
        </p:spPr>
        <p:txBody>
          <a:bodyPr wrap="square" tIns="0" bIns="0" lIns="0" rIns="0">
            <a:spAutoFit/>
          </a:bodyPr>
          <a:lstStyle/>
          <a:p>
            <a:pPr algn="ctr">
              <a:defRPr sz="750">
                <a:solidFill>
                  <a:srgbClr val="475569"/>
                </a:solidFill>
              </a:defRPr>
            </a:pPr>
            <a:r>
              <a:t>Taxonomy en 4 étapes : Trans. spatiale → Features → Modélisation séq. → Prédiction (CTC/Attn)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274320" y="54864"/>
            <a:ext cx="11643055" cy="365760"/>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wrap="none" tIns="64008"/>
          <a:lstStyle/>
          <a:p>
            <a:pPr algn="ctr">
              <a:defRPr sz="900" b="1">
                <a:solidFill>
                  <a:srgbClr val="FFFFFF"/>
                </a:solidFill>
              </a:defRPr>
            </a:pPr>
            <a:r>
              <a:t>RÉFÉRENCES BIBLIOGRAPHIQUES &amp; SOURCES</a:t>
            </a:r>
          </a:p>
        </p:txBody>
      </p:sp>
      <p:sp>
        <p:nvSpPr>
          <p:cNvPr id="3" name="Rectangle 2"/>
          <p:cNvSpPr/>
          <p:nvPr/>
        </p:nvSpPr>
        <p:spPr>
          <a:xfrm>
            <a:off x="274320" y="457200"/>
            <a:ext cx="5794095" cy="256032"/>
          </a:xfrm>
          <a:prstGeom prst="rect">
            <a:avLst/>
          </a:prstGeom>
          <a:solidFill>
            <a:srgbClr val="0284C7"/>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1">
                <a:solidFill>
                  <a:srgbClr val="FFFFFF"/>
                </a:solidFill>
              </a:defRPr>
            </a:pPr>
            <a:r>
              <a:t>A. Bibliographie</a:t>
            </a:r>
          </a:p>
        </p:txBody>
      </p:sp>
      <p:sp>
        <p:nvSpPr>
          <p:cNvPr id="4" name="Rectangle 3"/>
          <p:cNvSpPr/>
          <p:nvPr/>
        </p:nvSpPr>
        <p:spPr>
          <a:xfrm>
            <a:off x="6123279" y="457200"/>
            <a:ext cx="5794095" cy="256032"/>
          </a:xfrm>
          <a:prstGeom prst="rect">
            <a:avLst/>
          </a:prstGeom>
          <a:solidFill>
            <a:srgbClr val="FFFFFF"/>
          </a:solidFill>
          <a:ln w="762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36576"/>
          <a:lstStyle/>
          <a:p>
            <a:pPr algn="ctr">
              <a:defRPr sz="750" b="0">
                <a:solidFill>
                  <a:srgbClr val="475569"/>
                </a:solidFill>
              </a:defRPr>
            </a:pPr>
            <a:r>
              <a:t>B. Dépôts open-source</a:t>
            </a:r>
          </a:p>
        </p:txBody>
      </p:sp>
      <p:sp>
        <p:nvSpPr>
          <p:cNvPr id="5" name="TextBox 4"/>
          <p:cNvSpPr txBox="1"/>
          <p:nvPr/>
        </p:nvSpPr>
        <p:spPr>
          <a:xfrm>
            <a:off x="274320" y="768096"/>
            <a:ext cx="11643055" cy="201168"/>
          </a:xfrm>
          <a:prstGeom prst="rect">
            <a:avLst/>
          </a:prstGeom>
          <a:noFill/>
        </p:spPr>
        <p:txBody>
          <a:bodyPr wrap="square" lIns="0" tIns="0" rIns="0" bIns="0">
            <a:spAutoFit/>
          </a:bodyPr>
          <a:lstStyle/>
          <a:p>
            <a:pPr>
              <a:defRPr sz="800" b="1">
                <a:solidFill>
                  <a:srgbClr val="0284C7"/>
                </a:solidFill>
              </a:defRPr>
            </a:pPr>
            <a:r>
              <a:t>RÉFÉRENCES</a:t>
            </a:r>
          </a:p>
        </p:txBody>
      </p:sp>
      <p:sp>
        <p:nvSpPr>
          <p:cNvPr id="6" name="TextBox 5"/>
          <p:cNvSpPr txBox="1"/>
          <p:nvPr/>
        </p:nvSpPr>
        <p:spPr>
          <a:xfrm>
            <a:off x="274320" y="932688"/>
            <a:ext cx="11643055" cy="384048"/>
          </a:xfrm>
          <a:prstGeom prst="rect">
            <a:avLst/>
          </a:prstGeom>
          <a:noFill/>
        </p:spPr>
        <p:txBody>
          <a:bodyPr wrap="square" lIns="0" tIns="0" rIns="0" bIns="0">
            <a:spAutoFit/>
          </a:bodyPr>
          <a:lstStyle/>
          <a:p>
            <a:pPr>
              <a:defRPr sz="1700" b="1">
                <a:solidFill>
                  <a:srgbClr val="0F172A"/>
                </a:solidFill>
              </a:defRPr>
            </a:pPr>
            <a:r>
              <a:t>Bibliographie et sources utilisées dans ce mémoire</a:t>
            </a:r>
          </a:p>
        </p:txBody>
      </p:sp>
      <p:sp>
        <p:nvSpPr>
          <p:cNvPr id="7" name="Rectangle 6"/>
          <p:cNvSpPr/>
          <p:nvPr/>
        </p:nvSpPr>
        <p:spPr>
          <a:xfrm>
            <a:off x="274320" y="1499616"/>
            <a:ext cx="11643055"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565392"/>
            <a:ext cx="1401775" cy="219456"/>
          </a:xfrm>
          <a:prstGeom prst="rect">
            <a:avLst/>
          </a:prstGeom>
          <a:noFill/>
        </p:spPr>
        <p:txBody>
          <a:bodyPr wrap="none" lIns="0" tIns="0" rIns="0" bIns="0">
            <a:spAutoFit/>
          </a:bodyPr>
          <a:lstStyle/>
          <a:p>
            <a:pPr algn="r">
              <a:defRPr sz="850" b="0">
                <a:solidFill>
                  <a:srgbClr val="475569"/>
                </a:solidFill>
              </a:defRPr>
            </a:pPr>
            <a:r>
              <a:t>35 / 35</a:t>
            </a:r>
          </a:p>
        </p:txBody>
      </p:sp>
      <p:sp>
        <p:nvSpPr>
          <p:cNvPr id="9" name="Rectangle 8"/>
          <p:cNvSpPr/>
          <p:nvPr/>
        </p:nvSpPr>
        <p:spPr>
          <a:xfrm>
            <a:off x="274320" y="1591056"/>
            <a:ext cx="3749039" cy="310896"/>
          </a:xfrm>
          <a:prstGeom prst="rect">
            <a:avLst/>
          </a:prstGeom>
          <a:solidFill>
            <a:srgbClr val="0F2546"/>
          </a:solidFill>
          <a:ln>
            <a:noFill/>
          </a:ln>
        </p:spPr>
        <p:style>
          <a:lnRef idx="1">
            <a:schemeClr val="accent1"/>
          </a:lnRef>
          <a:fillRef idx="3">
            <a:schemeClr val="accent1"/>
          </a:fillRef>
          <a:effectRef idx="2">
            <a:schemeClr val="accent1"/>
          </a:effectRef>
          <a:fontRef idx="minor">
            <a:schemeClr val="lt1"/>
          </a:fontRef>
        </p:style>
        <p:txBody>
          <a:bodyPr rtlCol="0" anchor="ctr" tIns="64008"/>
          <a:lstStyle/>
          <a:p>
            <a:pPr algn="ctr">
              <a:defRPr sz="950" b="1">
                <a:solidFill>
                  <a:srgbClr val="FFFFFF"/>
                </a:solidFill>
              </a:defRPr>
            </a:pPr>
            <a:r>
              <a:t>ACADÉMIQUES</a:t>
            </a:r>
          </a:p>
        </p:txBody>
      </p:sp>
      <p:sp>
        <p:nvSpPr>
          <p:cNvPr id="10" name="Rectangle 9"/>
          <p:cNvSpPr/>
          <p:nvPr/>
        </p:nvSpPr>
        <p:spPr>
          <a:xfrm>
            <a:off x="274320" y="1901952"/>
            <a:ext cx="3749039" cy="5120640"/>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956816"/>
            <a:ext cx="3566159" cy="5029200"/>
          </a:xfrm>
          <a:prstGeom prst="rect">
            <a:avLst/>
          </a:prstGeom>
          <a:noFill/>
        </p:spPr>
        <p:txBody>
          <a:bodyPr wrap="square" lIns="0" tIns="0" rIns="0" bIns="0">
            <a:spAutoFit/>
          </a:bodyPr>
          <a:lstStyle/>
          <a:p>
            <a:pPr>
              <a:defRPr sz="750">
                <a:solidFill>
                  <a:srgbClr val="334155"/>
                </a:solidFill>
              </a:defRPr>
            </a:pPr>
            <a:r>
              <a:t>• Baek, J. et al. (2019). What Is Wrong With Scene Text Recognition Model Comparisons? ICCV 2019. arXiv 1904.01906.</a:t>
            </a:r>
          </a:p>
          <a:p>
            <a:pPr>
              <a:spcBef>
                <a:spcPts val="700"/>
              </a:spcBef>
              <a:defRPr sz="750">
                <a:solidFill>
                  <a:srgbClr val="334155"/>
                </a:solidFill>
              </a:defRPr>
            </a:pPr>
            <a:r>
              <a:t>• Li, M. et al. (2021). TrOCR: Transformer-based Optical Character Recognition with Pre-trained Models. AAAI 2022. arXiv 2109.10282.</a:t>
            </a:r>
          </a:p>
          <a:p>
            <a:pPr>
              <a:spcBef>
                <a:spcPts val="700"/>
              </a:spcBef>
              <a:defRPr sz="750">
                <a:solidFill>
                  <a:srgbClr val="334155"/>
                </a:solidFill>
              </a:defRPr>
            </a:pPr>
            <a:r>
              <a:t>• Zaratiana, U. et al. (2023). GLiNER: Generalist and Lightweight Model for Named Entity Recognition. arXiv 2311.08526.</a:t>
            </a:r>
          </a:p>
          <a:p>
            <a:pPr>
              <a:spcBef>
                <a:spcPts val="700"/>
              </a:spcBef>
              <a:defRPr sz="750">
                <a:solidFill>
                  <a:srgbClr val="334155"/>
                </a:solidFill>
              </a:defRPr>
            </a:pPr>
            <a:r>
              <a:t>• Xu, Y. et al. (2020). LayoutLM: Pre-training of Text and Layout for Document Image Understanding. KDD 2020.</a:t>
            </a:r>
          </a:p>
          <a:p>
            <a:pPr>
              <a:spcBef>
                <a:spcPts val="700"/>
              </a:spcBef>
              <a:defRPr sz="750">
                <a:solidFill>
                  <a:srgbClr val="334155"/>
                </a:solidFill>
              </a:defRPr>
            </a:pPr>
            <a:r>
              <a:t>• Jocher, G. et al. (2023). YOLO by Ultralytics. github.com/ultralytics/ultralytics. AGPL-3.0.</a:t>
            </a:r>
          </a:p>
        </p:txBody>
      </p:sp>
      <p:sp>
        <p:nvSpPr>
          <p:cNvPr id="12" name="Rectangle 11"/>
          <p:cNvSpPr/>
          <p:nvPr/>
        </p:nvSpPr>
        <p:spPr>
          <a:xfrm>
            <a:off x="4087368" y="1591056"/>
            <a:ext cx="3749039" cy="31089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tIns="64008"/>
          <a:lstStyle/>
          <a:p>
            <a:pPr algn="ctr">
              <a:defRPr sz="950" b="1">
                <a:solidFill>
                  <a:srgbClr val="FFFFFF"/>
                </a:solidFill>
              </a:defRPr>
            </a:pPr>
            <a:r>
              <a:t>JURIDIQUES &amp; PROFESSIONNELLES</a:t>
            </a:r>
          </a:p>
        </p:txBody>
      </p:sp>
      <p:sp>
        <p:nvSpPr>
          <p:cNvPr id="13" name="Rectangle 12"/>
          <p:cNvSpPr/>
          <p:nvPr/>
        </p:nvSpPr>
        <p:spPr>
          <a:xfrm>
            <a:off x="4087368" y="1901952"/>
            <a:ext cx="3749039" cy="5120640"/>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78807" y="1956816"/>
            <a:ext cx="3566159" cy="5029200"/>
          </a:xfrm>
          <a:prstGeom prst="rect">
            <a:avLst/>
          </a:prstGeom>
          <a:noFill/>
        </p:spPr>
        <p:txBody>
          <a:bodyPr wrap="square" lIns="0" tIns="0" rIns="0" bIns="0">
            <a:spAutoFit/>
          </a:bodyPr>
          <a:lstStyle/>
          <a:p>
            <a:pPr>
              <a:defRPr sz="750">
                <a:solidFill>
                  <a:srgbClr val="334155"/>
                </a:solidFill>
              </a:defRPr>
            </a:pPr>
            <a:r>
              <a:t>• Loi n° 46-942 du 7 mai 1946 instituant l'Ordre des Géomètres-Experts.</a:t>
            </a:r>
          </a:p>
          <a:p>
            <a:pPr>
              <a:spcBef>
                <a:spcPts val="700"/>
              </a:spcBef>
              <a:defRPr sz="750">
                <a:solidFill>
                  <a:srgbClr val="334155"/>
                </a:solidFill>
              </a:defRPr>
            </a:pPr>
            <a:r>
              <a:t>• Décret n° 96-478 du 31 mai 1996 portant règlement de la profession de géomètre-expert (Art. 55).</a:t>
            </a:r>
          </a:p>
          <a:p>
            <a:pPr>
              <a:spcBef>
                <a:spcPts val="700"/>
              </a:spcBef>
              <a:defRPr sz="750">
                <a:solidFill>
                  <a:srgbClr val="334155"/>
                </a:solidFill>
              </a:defRPr>
            </a:pPr>
            <a:r>
              <a:t>• Code civil, Article 646 (bornage et antériorité).</a:t>
            </a:r>
          </a:p>
          <a:p>
            <a:pPr>
              <a:spcBef>
                <a:spcPts val="700"/>
              </a:spcBef>
              <a:defRPr sz="750">
                <a:solidFill>
                  <a:srgbClr val="334155"/>
                </a:solidFill>
              </a:defRPr>
            </a:pPr>
            <a:r>
              <a:t>• Ordre des Géomètres-Experts. (2024). Charte sur l'usage de l'intelligence artificielle. Mars 2024.</a:t>
            </a:r>
          </a:p>
          <a:p>
            <a:pPr>
              <a:spcBef>
                <a:spcPts val="700"/>
              </a:spcBef>
              <a:defRPr sz="750">
                <a:solidFill>
                  <a:srgbClr val="334155"/>
                </a:solidFill>
              </a:defRPr>
            </a:pPr>
            <a:r>
              <a:t>• API Géofoncier — Documentation Swagger — GéofoncierEXPERT — OGE (accès réservé membres).</a:t>
            </a:r>
          </a:p>
        </p:txBody>
      </p:sp>
      <p:sp>
        <p:nvSpPr>
          <p:cNvPr id="15" name="Rectangle 14"/>
          <p:cNvSpPr/>
          <p:nvPr/>
        </p:nvSpPr>
        <p:spPr>
          <a:xfrm>
            <a:off x="7900416" y="1591056"/>
            <a:ext cx="3749039" cy="31089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tIns="64008"/>
          <a:lstStyle/>
          <a:p>
            <a:pPr algn="ctr">
              <a:defRPr sz="950" b="1">
                <a:solidFill>
                  <a:srgbClr val="FFFFFF"/>
                </a:solidFill>
              </a:defRPr>
            </a:pPr>
            <a:r>
              <a:t>LOGICIELS OPEN-SOURCE</a:t>
            </a:r>
          </a:p>
        </p:txBody>
      </p:sp>
      <p:sp>
        <p:nvSpPr>
          <p:cNvPr id="16" name="Rectangle 15"/>
          <p:cNvSpPr/>
          <p:nvPr/>
        </p:nvSpPr>
        <p:spPr>
          <a:xfrm>
            <a:off x="7900416" y="1901952"/>
            <a:ext cx="3749039" cy="5120640"/>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6" y="1956816"/>
            <a:ext cx="3566159" cy="5029200"/>
          </a:xfrm>
          <a:prstGeom prst="rect">
            <a:avLst/>
          </a:prstGeom>
          <a:noFill/>
        </p:spPr>
        <p:txBody>
          <a:bodyPr wrap="square" lIns="0" tIns="0" rIns="0" bIns="0">
            <a:spAutoFit/>
          </a:bodyPr>
          <a:lstStyle/>
          <a:p>
            <a:pPr>
              <a:defRPr sz="750">
                <a:solidFill>
                  <a:srgbClr val="334155"/>
                </a:solidFill>
              </a:defRPr>
            </a:pPr>
            <a:r>
              <a:t>• Ollama. (2023). Run LLMs locally. ollama.ai — MIT License.</a:t>
            </a:r>
          </a:p>
          <a:p>
            <a:pPr>
              <a:spcBef>
                <a:spcPts val="700"/>
              </a:spcBef>
              <a:defRPr sz="750">
                <a:solidFill>
                  <a:srgbClr val="334155"/>
                </a:solidFill>
              </a:defRPr>
            </a:pPr>
            <a:r>
              <a:t>• HTR-United. (2022). Collaborative repository for HTR ground truth. github.com/HTR-United/htr-united.</a:t>
            </a:r>
          </a:p>
          <a:p>
            <a:pPr>
              <a:spcBef>
                <a:spcPts val="700"/>
              </a:spcBef>
              <a:defRPr sz="750">
                <a:solidFill>
                  <a:srgbClr val="334155"/>
                </a:solidFill>
              </a:defRPr>
            </a:pPr>
            <a:r>
              <a:t>• Streamlit Inc. (2019). Streamlit — The fastest way to build data apps. streamlit.io — Apache 2.0.</a:t>
            </a:r>
          </a:p>
          <a:p>
            <a:pPr>
              <a:spcBef>
                <a:spcPts val="700"/>
              </a:spcBef>
              <a:defRPr sz="750">
                <a:solidFill>
                  <a:srgbClr val="334155"/>
                </a:solidFill>
              </a:defRPr>
            </a:pPr>
            <a:r>
              <a:t>• OpenStreetMap contributors. (2004). OpenStreetMap. openstreetmap.org — ODbL.</a:t>
            </a:r>
          </a:p>
          <a:p>
            <a:pPr>
              <a:spcBef>
                <a:spcPts val="700"/>
              </a:spcBef>
              <a:defRPr sz="750">
                <a:solidFill>
                  <a:srgbClr val="334155"/>
                </a:solidFill>
              </a:defRPr>
            </a:pPr>
            <a:r>
              <a:t>• Python Software Foundation. (2023). Python 3.10. python.org. PSF License.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