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000"/>
    <a:srgbClr val="5F5F61"/>
    <a:srgbClr val="ECEC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3" autoAdjust="0"/>
    <p:restoredTop sz="94660"/>
  </p:normalViewPr>
  <p:slideViewPr>
    <p:cSldViewPr snapToGrid="0">
      <p:cViewPr>
        <p:scale>
          <a:sx n="66" d="100"/>
          <a:sy n="66" d="100"/>
        </p:scale>
        <p:origin x="-420" y="-8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B8373-02C5-4C63-82D8-606F9474E44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C08581-D894-4F45-BD77-1A199A7B91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6840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08581-D894-4F45-BD77-1A199A7B91C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8377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8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831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294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247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9053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4302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22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121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207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044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77869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02837-0648-4C78-B908-73ED0AE9F674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340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jp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jp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1A43CE2B-597E-7D94-91AB-B6BAF068EB7E}"/>
              </a:ext>
            </a:extLst>
          </p:cNvPr>
          <p:cNvSpPr/>
          <p:nvPr/>
        </p:nvSpPr>
        <p:spPr>
          <a:xfrm>
            <a:off x="10968846" y="4372089"/>
            <a:ext cx="10053808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ORGANIGRAMME DE LA SOLUTION PROPOSÉE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FD2F82-85D0-3FF1-8D1A-F02ECD8B7989}"/>
              </a:ext>
            </a:extLst>
          </p:cNvPr>
          <p:cNvSpPr/>
          <p:nvPr/>
        </p:nvSpPr>
        <p:spPr>
          <a:xfrm>
            <a:off x="-12538" y="3617699"/>
            <a:ext cx="21408699" cy="479345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Mots-clés : </a:t>
            </a:r>
            <a:r>
              <a:rPr sz="1800" b="0">
                <a:solidFill>
                  <a:srgbClr val="141E32"/>
                </a:solidFill>
                <a:latin typeface="Arial"/>
              </a:rPr>
              <a:t>archivage numérique, reconnaissance manuscrite (HTR), Géofoncier, IA locale, vision par ordinateur.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77510B-A9DF-B6EE-87A7-1BA65B9F6859}"/>
              </a:ext>
            </a:extLst>
          </p:cNvPr>
          <p:cNvSpPr/>
          <p:nvPr/>
        </p:nvSpPr>
        <p:spPr>
          <a:xfrm>
            <a:off x="15564162" y="1462008"/>
            <a:ext cx="5832000" cy="2153112"/>
          </a:xfrm>
          <a:prstGeom prst="rect">
            <a:avLst/>
          </a:prstGeom>
          <a:solidFill>
            <a:srgbClr val="F8FAFD"/>
          </a:solidFill>
          <a:ln w="15240">
            <a:solidFill>
              <a:srgbClr val="102C5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Auteur : </a:t>
            </a:r>
            <a:r>
              <a:rPr sz="1800" b="1">
                <a:solidFill>
                  <a:srgbClr val="0284C7"/>
                </a:solidFill>
                <a:latin typeface="Arial"/>
              </a:rPr>
              <a:t>TRAVAILLÉ Adrien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Soutenance : </a:t>
            </a:r>
            <a:r>
              <a:rPr sz="1800" b="0">
                <a:solidFill>
                  <a:srgbClr val="141E32"/>
                </a:solidFill>
                <a:latin typeface="Arial"/>
              </a:rPr>
              <a:t>24 septembre 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Tuteur : </a:t>
            </a:r>
            <a:r>
              <a:rPr sz="1800" b="0">
                <a:solidFill>
                  <a:srgbClr val="141E32"/>
                </a:solidFill>
                <a:latin typeface="Arial"/>
              </a:rPr>
              <a:t>M. Gaëtan HAGUE (GEO-SIAPP)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Correcteur : </a:t>
            </a:r>
            <a:r>
              <a:rPr sz="1800" b="0">
                <a:solidFill>
                  <a:srgbClr val="141E32"/>
                </a:solidFill>
                <a:latin typeface="Arial"/>
              </a:rPr>
              <a:t>M. Mathieu KOEHL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AA14CA-1223-0E89-D63D-3F3EEBE6D784}"/>
              </a:ext>
            </a:extLst>
          </p:cNvPr>
          <p:cNvSpPr/>
          <p:nvPr/>
        </p:nvSpPr>
        <p:spPr>
          <a:xfrm>
            <a:off x="29633" y="-1"/>
            <a:ext cx="21346594" cy="1440215"/>
          </a:xfrm>
          <a:prstGeom prst="rect">
            <a:avLst/>
          </a:prstGeom>
          <a:solidFill>
            <a:srgbClr val="102C57"/>
          </a:solidFill>
          <a:ln w="57150">
            <a:solidFill>
              <a:srgbClr val="102C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2600" b="1" noProof="0" dirty="0">
                <a:solidFill>
                  <a:srgbClr val="FFFFFF"/>
                </a:solidFill>
                <a:latin typeface="Aptos Display"/>
              </a:rPr>
              <a:t>DÉVELOPPEMENT D'UN OUTIL PERMETTANT LE TRAITEMENT ET L'INSERTION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2300" b="1" noProof="0" dirty="0">
                <a:solidFill>
                  <a:srgbClr val="FFFFFF"/>
                </a:solidFill>
                <a:latin typeface="Aptos Display"/>
              </a:rPr>
              <a:t>DES ARCHIVES NUMÉRIQUES SUR GÉOFONCIER AU SEIN D'UN CABINET DE GÉOMÈTRE-EXPERT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7FE42F-C37F-BF21-43CB-EF5BC6E50149}"/>
              </a:ext>
            </a:extLst>
          </p:cNvPr>
          <p:cNvSpPr/>
          <p:nvPr/>
        </p:nvSpPr>
        <p:spPr>
          <a:xfrm>
            <a:off x="-12537" y="1445900"/>
            <a:ext cx="21384000" cy="2160000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808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8291B7-7F3A-6B24-11C8-E005D0449A6E}"/>
              </a:ext>
            </a:extLst>
          </p:cNvPr>
          <p:cNvSpPr/>
          <p:nvPr/>
        </p:nvSpPr>
        <p:spPr>
          <a:xfrm>
            <a:off x="12162" y="1440000"/>
            <a:ext cx="9720000" cy="2171798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pic>
        <p:nvPicPr>
          <p:cNvPr id="11" name="Image 10" descr="Logo Insa Strasbourg - Alsace Tech">
            <a:extLst>
              <a:ext uri="{FF2B5EF4-FFF2-40B4-BE49-F238E27FC236}">
                <a16:creationId xmlns:a16="http://schemas.microsoft.com/office/drawing/2014/main" id="{D9C9E6EF-E8A6-D073-09A1-9508964B3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9" y="1897611"/>
            <a:ext cx="4473107" cy="12544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C34E924-BFA8-C884-218E-08B0BC173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532" y="1879766"/>
            <a:ext cx="1539119" cy="151868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5F47ADF-896F-181B-6556-45A0E815F7B8}"/>
              </a:ext>
            </a:extLst>
          </p:cNvPr>
          <p:cNvSpPr/>
          <p:nvPr/>
        </p:nvSpPr>
        <p:spPr>
          <a:xfrm>
            <a:off x="471487" y="9220505"/>
            <a:ext cx="10048249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TECHNOLOGIES ET EXTRACTION DES DONNÉES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DF61F6-AAE1-CAA5-8952-7AE503ED2EA2}"/>
              </a:ext>
            </a:extLst>
          </p:cNvPr>
          <p:cNvSpPr/>
          <p:nvPr/>
        </p:nvSpPr>
        <p:spPr>
          <a:xfrm>
            <a:off x="457199" y="9940505"/>
            <a:ext cx="10080000" cy="7380216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A016C7-9D21-3D53-BE13-33C5A3073877}"/>
              </a:ext>
            </a:extLst>
          </p:cNvPr>
          <p:cNvSpPr/>
          <p:nvPr/>
        </p:nvSpPr>
        <p:spPr>
          <a:xfrm>
            <a:off x="471488" y="4390644"/>
            <a:ext cx="10048248" cy="677822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CONTEXTE MÉTIER ET PROBLÉMATIQUE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9E38E0-3669-221C-C358-580A31DA740F}"/>
              </a:ext>
            </a:extLst>
          </p:cNvPr>
          <p:cNvSpPr/>
          <p:nvPr/>
        </p:nvSpPr>
        <p:spPr>
          <a:xfrm>
            <a:off x="457199" y="5092089"/>
            <a:ext cx="10080000" cy="3826989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5D9145-7C72-8F44-84A1-4A33117A92E5}"/>
              </a:ext>
            </a:extLst>
          </p:cNvPr>
          <p:cNvSpPr/>
          <p:nvPr/>
        </p:nvSpPr>
        <p:spPr>
          <a:xfrm>
            <a:off x="498475" y="17567713"/>
            <a:ext cx="10053012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VÉRIFICATION ET FIABILISATION DES DONNÉES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16FA398-7900-8DD8-786A-080670447FB5}"/>
              </a:ext>
            </a:extLst>
          </p:cNvPr>
          <p:cNvSpPr/>
          <p:nvPr/>
        </p:nvSpPr>
        <p:spPr>
          <a:xfrm>
            <a:off x="482752" y="18287713"/>
            <a:ext cx="10080000" cy="8283422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EC09D84-B211-26FA-7172-089521ED66A2}"/>
              </a:ext>
            </a:extLst>
          </p:cNvPr>
          <p:cNvSpPr/>
          <p:nvPr/>
        </p:nvSpPr>
        <p:spPr>
          <a:xfrm>
            <a:off x="10970419" y="18210275"/>
            <a:ext cx="10045883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INTERFACE DE VALIDATION / CONTRÔLE OPÉRATEUR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A224A6D-DD8D-B30A-FF9A-64A37AF8DF58}"/>
              </a:ext>
            </a:extLst>
          </p:cNvPr>
          <p:cNvSpPr/>
          <p:nvPr/>
        </p:nvSpPr>
        <p:spPr>
          <a:xfrm>
            <a:off x="10955352" y="18928388"/>
            <a:ext cx="10080000" cy="2342700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E95F335-E2FC-8E68-36B5-898CC9E2C70E}"/>
              </a:ext>
            </a:extLst>
          </p:cNvPr>
          <p:cNvSpPr/>
          <p:nvPr/>
        </p:nvSpPr>
        <p:spPr>
          <a:xfrm>
            <a:off x="10955352" y="5092089"/>
            <a:ext cx="10080000" cy="12800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AEEF0F7-FD7A-6538-A5C9-B51EBAE5B468}"/>
              </a:ext>
            </a:extLst>
          </p:cNvPr>
          <p:cNvSpPr/>
          <p:nvPr/>
        </p:nvSpPr>
        <p:spPr>
          <a:xfrm>
            <a:off x="10974405" y="26230562"/>
            <a:ext cx="10048248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PERSPECTIVES D'ÉVOLUTION ET DÉMONSTRATION VIDÉO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5C5B40C-13E7-5B86-3A1B-8B1D2A4D65CB}"/>
              </a:ext>
            </a:extLst>
          </p:cNvPr>
          <p:cNvSpPr/>
          <p:nvPr/>
        </p:nvSpPr>
        <p:spPr>
          <a:xfrm>
            <a:off x="10955352" y="26948674"/>
            <a:ext cx="10080000" cy="3077709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4E3554C-D155-C3B7-9E36-A9A34496E0E2}"/>
              </a:ext>
            </a:extLst>
          </p:cNvPr>
          <p:cNvSpPr/>
          <p:nvPr/>
        </p:nvSpPr>
        <p:spPr>
          <a:xfrm>
            <a:off x="14619227" y="5505420"/>
            <a:ext cx="2752249" cy="564578"/>
          </a:xfrm>
          <a:prstGeom prst="rect">
            <a:avLst/>
          </a:prstGeom>
          <a:solidFill>
            <a:srgbClr val="F0F9FF"/>
          </a:solidFill>
          <a:ln w="17780">
            <a:solidFill>
              <a:srgbClr val="102C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Archives papier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Fonds 1959 à 2007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C422AE-6F28-569D-C102-FA6230DCD180}"/>
              </a:ext>
            </a:extLst>
          </p:cNvPr>
          <p:cNvSpPr/>
          <p:nvPr/>
        </p:nvSpPr>
        <p:spPr>
          <a:xfrm>
            <a:off x="11389798" y="6356491"/>
            <a:ext cx="2752249" cy="564578"/>
          </a:xfrm>
          <a:prstGeom prst="rect">
            <a:avLst/>
          </a:prstGeom>
          <a:solidFill>
            <a:srgbClr val="F0F9FF"/>
          </a:solidFill>
          <a:ln w="1524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Répertoires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Actes et clients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5A2570-4C19-296F-51E3-3FBBBA202139}"/>
              </a:ext>
            </a:extLst>
          </p:cNvPr>
          <p:cNvSpPr/>
          <p:nvPr/>
        </p:nvSpPr>
        <p:spPr>
          <a:xfrm>
            <a:off x="17716037" y="6356491"/>
            <a:ext cx="2752249" cy="564578"/>
          </a:xfrm>
          <a:prstGeom prst="rect">
            <a:avLst/>
          </a:prstGeom>
          <a:solidFill>
            <a:srgbClr val="F0F9FF"/>
          </a:solidFill>
          <a:ln w="1524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DMPC et plans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Procès-verbaux</a:t>
            </a:r>
          </a:p>
        </p:txBody>
      </p:sp>
      <p:sp>
        <p:nvSpPr>
          <p:cNvPr id="65" name="Flèche : bas 64">
            <a:extLst>
              <a:ext uri="{FF2B5EF4-FFF2-40B4-BE49-F238E27FC236}">
                <a16:creationId xmlns:a16="http://schemas.microsoft.com/office/drawing/2014/main" id="{80BC46B5-A9B9-BE62-F094-52589373C37D}"/>
              </a:ext>
            </a:extLst>
          </p:cNvPr>
          <p:cNvSpPr/>
          <p:nvPr/>
        </p:nvSpPr>
        <p:spPr>
          <a:xfrm rot="8660010">
            <a:off x="13818642" y="5866412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7" name="Flèche : bas 66">
            <a:extLst>
              <a:ext uri="{FF2B5EF4-FFF2-40B4-BE49-F238E27FC236}">
                <a16:creationId xmlns:a16="http://schemas.microsoft.com/office/drawing/2014/main" id="{5C9578CC-0C28-91BB-1750-34E3F2E38E5A}"/>
              </a:ext>
            </a:extLst>
          </p:cNvPr>
          <p:cNvSpPr/>
          <p:nvPr/>
        </p:nvSpPr>
        <p:spPr>
          <a:xfrm rot="2293019">
            <a:off x="17604925" y="5856039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80E76C0-F8D6-C2E0-7B74-BAC82AF6992E}"/>
              </a:ext>
            </a:extLst>
          </p:cNvPr>
          <p:cNvSpPr/>
          <p:nvPr/>
        </p:nvSpPr>
        <p:spPr>
          <a:xfrm>
            <a:off x="14619226" y="7383113"/>
            <a:ext cx="2752249" cy="564578"/>
          </a:xfrm>
          <a:prstGeom prst="rect">
            <a:avLst/>
          </a:prstGeom>
          <a:solidFill>
            <a:srgbClr val="FFFFFF"/>
          </a:solidFill>
          <a:ln w="16510">
            <a:solidFill>
              <a:srgbClr val="102C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Numérisation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Tri automatique</a:t>
            </a:r>
          </a:p>
        </p:txBody>
      </p:sp>
      <p:sp>
        <p:nvSpPr>
          <p:cNvPr id="73" name="Flèche : bas 72">
            <a:extLst>
              <a:ext uri="{FF2B5EF4-FFF2-40B4-BE49-F238E27FC236}">
                <a16:creationId xmlns:a16="http://schemas.microsoft.com/office/drawing/2014/main" id="{7852E481-22F0-F300-3F35-368DF6017E5C}"/>
              </a:ext>
            </a:extLst>
          </p:cNvPr>
          <p:cNvSpPr/>
          <p:nvPr/>
        </p:nvSpPr>
        <p:spPr>
          <a:xfrm rot="2293019">
            <a:off x="13821196" y="7176694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5" name="Flèche : bas 74">
            <a:extLst>
              <a:ext uri="{FF2B5EF4-FFF2-40B4-BE49-F238E27FC236}">
                <a16:creationId xmlns:a16="http://schemas.microsoft.com/office/drawing/2014/main" id="{F38D359E-682D-7DE0-A116-4765F5BF8C46}"/>
              </a:ext>
            </a:extLst>
          </p:cNvPr>
          <p:cNvSpPr/>
          <p:nvPr/>
        </p:nvSpPr>
        <p:spPr>
          <a:xfrm rot="8660010">
            <a:off x="17602371" y="7176695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7" name="Flèche : bas 76">
            <a:extLst>
              <a:ext uri="{FF2B5EF4-FFF2-40B4-BE49-F238E27FC236}">
                <a16:creationId xmlns:a16="http://schemas.microsoft.com/office/drawing/2014/main" id="{0A729E50-300D-63E3-BECB-E26DB4BD1590}"/>
              </a:ext>
            </a:extLst>
          </p:cNvPr>
          <p:cNvSpPr/>
          <p:nvPr/>
        </p:nvSpPr>
        <p:spPr>
          <a:xfrm rot="8660010">
            <a:off x="13859758" y="7851471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9" name="Flèche : bas 78">
            <a:extLst>
              <a:ext uri="{FF2B5EF4-FFF2-40B4-BE49-F238E27FC236}">
                <a16:creationId xmlns:a16="http://schemas.microsoft.com/office/drawing/2014/main" id="{F471A0C3-921E-8DE0-C317-44F1F7C51D77}"/>
              </a:ext>
            </a:extLst>
          </p:cNvPr>
          <p:cNvSpPr/>
          <p:nvPr/>
        </p:nvSpPr>
        <p:spPr>
          <a:xfrm rot="2293019">
            <a:off x="17604926" y="7851471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E1BDC9F-E4B1-FC48-58F7-68DBD4CCCFE4}"/>
              </a:ext>
            </a:extLst>
          </p:cNvPr>
          <p:cNvSpPr/>
          <p:nvPr/>
        </p:nvSpPr>
        <p:spPr>
          <a:xfrm>
            <a:off x="11441291" y="8340927"/>
            <a:ext cx="2752249" cy="56457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Antériorité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Doublon de scan</a:t>
            </a:r>
          </a:p>
        </p:txBody>
      </p:sp>
      <p:sp>
        <p:nvSpPr>
          <p:cNvPr id="83" name="Flèche : bas 82">
            <a:extLst>
              <a:ext uri="{FF2B5EF4-FFF2-40B4-BE49-F238E27FC236}">
                <a16:creationId xmlns:a16="http://schemas.microsoft.com/office/drawing/2014/main" id="{DDB85A23-1B0C-2E45-5A85-FC960C8104F2}"/>
              </a:ext>
            </a:extLst>
          </p:cNvPr>
          <p:cNvSpPr/>
          <p:nvPr/>
        </p:nvSpPr>
        <p:spPr>
          <a:xfrm rot="5400000">
            <a:off x="12637413" y="9098123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ABE0BFB8-8788-50F1-ED46-24E6101EFAD9}"/>
              </a:ext>
            </a:extLst>
          </p:cNvPr>
          <p:cNvSpPr/>
          <p:nvPr/>
        </p:nvSpPr>
        <p:spPr>
          <a:xfrm>
            <a:off x="11441288" y="11327755"/>
            <a:ext cx="2752249" cy="5645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Cadastre officiel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Flux WFS DGFiP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6FBF62E-6ACD-DF2A-175C-FF3A494E7C33}"/>
              </a:ext>
            </a:extLst>
          </p:cNvPr>
          <p:cNvSpPr/>
          <p:nvPr/>
        </p:nvSpPr>
        <p:spPr>
          <a:xfrm>
            <a:off x="11441291" y="9571646"/>
            <a:ext cx="2752249" cy="564578"/>
          </a:xfrm>
          <a:prstGeom prst="rect">
            <a:avLst/>
          </a:prstGeom>
          <a:solidFill>
            <a:srgbClr val="E0F2FE"/>
          </a:solidFill>
          <a:ln w="1778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Registres locaux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2C57"/>
                </a:solidFill>
                <a:latin typeface="Arial"/>
              </a:rPr>
              <a:t>Extraction dédiée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784DCF5-9B4B-BF17-8148-0B5FF94B7878}"/>
              </a:ext>
            </a:extLst>
          </p:cNvPr>
          <p:cNvSpPr/>
          <p:nvPr/>
        </p:nvSpPr>
        <p:spPr>
          <a:xfrm>
            <a:off x="17716036" y="8340927"/>
            <a:ext cx="2752249" cy="564578"/>
          </a:xfrm>
          <a:prstGeom prst="rect">
            <a:avLst/>
          </a:prstGeom>
          <a:solidFill>
            <a:srgbClr val="F5F8FF"/>
          </a:solidFill>
          <a:ln w="1524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Découpage YOLO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Zones d'intérêt</a:t>
            </a:r>
          </a:p>
        </p:txBody>
      </p:sp>
      <p:sp>
        <p:nvSpPr>
          <p:cNvPr id="92" name="Ellipse 91">
            <a:extLst>
              <a:ext uri="{FF2B5EF4-FFF2-40B4-BE49-F238E27FC236}">
                <a16:creationId xmlns:a16="http://schemas.microsoft.com/office/drawing/2014/main" id="{0CDF88A6-B0EC-20D2-D173-C4E191155ECE}"/>
              </a:ext>
            </a:extLst>
          </p:cNvPr>
          <p:cNvSpPr/>
          <p:nvPr/>
        </p:nvSpPr>
        <p:spPr>
          <a:xfrm>
            <a:off x="17716036" y="9571646"/>
            <a:ext cx="2752249" cy="5645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OpenCV</a:t>
            </a:r>
            <a:endParaRPr lang="fr-FR" sz="1050" b="1" noProof="0" dirty="0">
              <a:solidFill>
                <a:srgbClr val="102C57"/>
              </a:solidFill>
              <a:latin typeface="Aptos Display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Redressement image</a:t>
            </a:r>
          </a:p>
        </p:txBody>
      </p:sp>
      <p:sp>
        <p:nvSpPr>
          <p:cNvPr id="94" name="Ellipse 93">
            <a:extLst>
              <a:ext uri="{FF2B5EF4-FFF2-40B4-BE49-F238E27FC236}">
                <a16:creationId xmlns:a16="http://schemas.microsoft.com/office/drawing/2014/main" id="{389E6787-D115-C55F-CDA0-6B93EF9E8220}"/>
              </a:ext>
            </a:extLst>
          </p:cNvPr>
          <p:cNvSpPr/>
          <p:nvPr/>
        </p:nvSpPr>
        <p:spPr>
          <a:xfrm>
            <a:off x="17716036" y="10802364"/>
            <a:ext cx="2752249" cy="5645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TrOCR / EasyOCR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Manuscrit &amp; imprimé</a:t>
            </a:r>
          </a:p>
        </p:txBody>
      </p:sp>
      <p:sp>
        <p:nvSpPr>
          <p:cNvPr id="96" name="Flèche : bas 95">
            <a:extLst>
              <a:ext uri="{FF2B5EF4-FFF2-40B4-BE49-F238E27FC236}">
                <a16:creationId xmlns:a16="http://schemas.microsoft.com/office/drawing/2014/main" id="{3EE14149-EBDE-5977-67B6-960896C68ED4}"/>
              </a:ext>
            </a:extLst>
          </p:cNvPr>
          <p:cNvSpPr/>
          <p:nvPr/>
        </p:nvSpPr>
        <p:spPr>
          <a:xfrm rot="5400000">
            <a:off x="18912155" y="11559560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F451E00-B0DC-1AA2-7D8E-600B17FE3C0A}"/>
              </a:ext>
            </a:extLst>
          </p:cNvPr>
          <p:cNvSpPr/>
          <p:nvPr/>
        </p:nvSpPr>
        <p:spPr>
          <a:xfrm>
            <a:off x="17716036" y="13263801"/>
            <a:ext cx="2752249" cy="56457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45309"/>
                </a:solidFill>
                <a:latin typeface="Arial"/>
              </a:rPr>
              <a:t>Arbitre VLM local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Cas complexes</a:t>
            </a:r>
          </a:p>
        </p:txBody>
      </p:sp>
      <p:sp>
        <p:nvSpPr>
          <p:cNvPr id="100" name="Flèche : bas 99">
            <a:extLst>
              <a:ext uri="{FF2B5EF4-FFF2-40B4-BE49-F238E27FC236}">
                <a16:creationId xmlns:a16="http://schemas.microsoft.com/office/drawing/2014/main" id="{E164889F-B172-E0E0-97E8-AB1BEE460AF6}"/>
              </a:ext>
            </a:extLst>
          </p:cNvPr>
          <p:cNvSpPr/>
          <p:nvPr/>
        </p:nvSpPr>
        <p:spPr>
          <a:xfrm rot="5400000">
            <a:off x="18912155" y="12790279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916E55B-CD04-AC6B-A345-AA20A3CA56CE}"/>
              </a:ext>
            </a:extLst>
          </p:cNvPr>
          <p:cNvSpPr/>
          <p:nvPr/>
        </p:nvSpPr>
        <p:spPr>
          <a:xfrm>
            <a:off x="17716036" y="12033083"/>
            <a:ext cx="2752249" cy="56457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Entités GLiNER</a:t>
            </a:r>
            <a:endParaRPr lang="fr-FR" sz="1050" b="1" noProof="0" dirty="0">
              <a:solidFill>
                <a:srgbClr val="102C57"/>
              </a:solidFill>
              <a:latin typeface="Aptos Display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Extraction ciblée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27EBA16-AB41-9698-2F02-E97039759397}"/>
              </a:ext>
            </a:extLst>
          </p:cNvPr>
          <p:cNvSpPr/>
          <p:nvPr/>
        </p:nvSpPr>
        <p:spPr>
          <a:xfrm>
            <a:off x="11441291" y="13263801"/>
            <a:ext cx="2752249" cy="56457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Métadonnées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Base de référence</a:t>
            </a:r>
          </a:p>
        </p:txBody>
      </p:sp>
      <p:sp>
        <p:nvSpPr>
          <p:cNvPr id="106" name="Flèche : bas 105">
            <a:extLst>
              <a:ext uri="{FF2B5EF4-FFF2-40B4-BE49-F238E27FC236}">
                <a16:creationId xmlns:a16="http://schemas.microsoft.com/office/drawing/2014/main" id="{5929544B-9214-0D06-DC74-78DD312169F1}"/>
              </a:ext>
            </a:extLst>
          </p:cNvPr>
          <p:cNvSpPr/>
          <p:nvPr/>
        </p:nvSpPr>
        <p:spPr>
          <a:xfrm rot="5400000">
            <a:off x="12607413" y="12448067"/>
            <a:ext cx="420000" cy="26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0" name="Flèche : bas 109">
            <a:extLst>
              <a:ext uri="{FF2B5EF4-FFF2-40B4-BE49-F238E27FC236}">
                <a16:creationId xmlns:a16="http://schemas.microsoft.com/office/drawing/2014/main" id="{42C78BD8-6E06-B44F-45E4-9B517FA4EFEB}"/>
              </a:ext>
            </a:extLst>
          </p:cNvPr>
          <p:cNvSpPr/>
          <p:nvPr/>
        </p:nvSpPr>
        <p:spPr>
          <a:xfrm rot="5400000">
            <a:off x="12577413" y="14152466"/>
            <a:ext cx="48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A8610CB-A58D-61F9-86E7-5A5EC45E2C81}"/>
              </a:ext>
            </a:extLst>
          </p:cNvPr>
          <p:cNvSpPr/>
          <p:nvPr/>
        </p:nvSpPr>
        <p:spPr>
          <a:xfrm>
            <a:off x="11441290" y="14825199"/>
            <a:ext cx="2752249" cy="564578"/>
          </a:xfrm>
          <a:prstGeom prst="rect">
            <a:avLst/>
          </a:prstGeom>
          <a:solidFill>
            <a:srgbClr val="FFFFFF"/>
          </a:solidFill>
          <a:ln w="1524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Contrôles croisés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Texte et cadastre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2282853-F5B3-7F5B-48D5-1521E0BDBF65}"/>
              </a:ext>
            </a:extLst>
          </p:cNvPr>
          <p:cNvSpPr/>
          <p:nvPr/>
        </p:nvSpPr>
        <p:spPr>
          <a:xfrm>
            <a:off x="14611692" y="14825199"/>
            <a:ext cx="2752249" cy="56457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45309"/>
                </a:solidFill>
                <a:latin typeface="Arial"/>
              </a:rPr>
              <a:t>17 règles métier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565494E-C8B1-DD91-FDCD-268D9C06E7A5}"/>
              </a:ext>
            </a:extLst>
          </p:cNvPr>
          <p:cNvSpPr/>
          <p:nvPr/>
        </p:nvSpPr>
        <p:spPr>
          <a:xfrm>
            <a:off x="17716029" y="14850487"/>
            <a:ext cx="2752249" cy="564578"/>
          </a:xfrm>
          <a:prstGeom prst="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Validation humaine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Interface Streamlit</a:t>
            </a:r>
          </a:p>
        </p:txBody>
      </p:sp>
      <p:sp>
        <p:nvSpPr>
          <p:cNvPr id="120" name="Flèche : bas 119">
            <a:extLst>
              <a:ext uri="{FF2B5EF4-FFF2-40B4-BE49-F238E27FC236}">
                <a16:creationId xmlns:a16="http://schemas.microsoft.com/office/drawing/2014/main" id="{D8D6F09A-D259-A918-0896-24CEC69FDAC0}"/>
              </a:ext>
            </a:extLst>
          </p:cNvPr>
          <p:cNvSpPr/>
          <p:nvPr/>
        </p:nvSpPr>
        <p:spPr>
          <a:xfrm>
            <a:off x="14287730" y="14953052"/>
            <a:ext cx="257897" cy="30887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2" name="Flèche : bas 121">
            <a:extLst>
              <a:ext uri="{FF2B5EF4-FFF2-40B4-BE49-F238E27FC236}">
                <a16:creationId xmlns:a16="http://schemas.microsoft.com/office/drawing/2014/main" id="{8FADC2A0-39AE-C3AA-50B5-901157283496}"/>
              </a:ext>
            </a:extLst>
          </p:cNvPr>
          <p:cNvSpPr/>
          <p:nvPr/>
        </p:nvSpPr>
        <p:spPr>
          <a:xfrm>
            <a:off x="17411037" y="14955852"/>
            <a:ext cx="257897" cy="30887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4" name="Flèche : bas 123">
            <a:extLst>
              <a:ext uri="{FF2B5EF4-FFF2-40B4-BE49-F238E27FC236}">
                <a16:creationId xmlns:a16="http://schemas.microsoft.com/office/drawing/2014/main" id="{F43F3865-6877-5C88-3DD5-9D5897D42789}"/>
              </a:ext>
            </a:extLst>
          </p:cNvPr>
          <p:cNvSpPr/>
          <p:nvPr/>
        </p:nvSpPr>
        <p:spPr>
          <a:xfrm rot="5400000">
            <a:off x="15760157" y="16039751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64F6D7A-21CA-DD6E-A5EB-DB0808D18443}"/>
              </a:ext>
            </a:extLst>
          </p:cNvPr>
          <p:cNvSpPr/>
          <p:nvPr/>
        </p:nvSpPr>
        <p:spPr>
          <a:xfrm>
            <a:off x="14658788" y="16857086"/>
            <a:ext cx="2752249" cy="564578"/>
          </a:xfrm>
          <a:prstGeom prst="rect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A34A"/>
                </a:solidFill>
                <a:latin typeface="Arial"/>
              </a:rPr>
              <a:t>Géofoncier</a:t>
            </a:r>
            <a:endParaRPr lang="fr-FR" sz="1050" b="1" noProof="0" dirty="0">
              <a:solidFill>
                <a:srgbClr val="16A34A"/>
              </a:solidFill>
              <a:latin typeface="Aptos Display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API &amp; archivage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46E6776-1AFB-0699-3407-3E400DEE731C}"/>
              </a:ext>
            </a:extLst>
          </p:cNvPr>
          <p:cNvSpPr/>
          <p:nvPr/>
        </p:nvSpPr>
        <p:spPr>
          <a:xfrm>
            <a:off x="471487" y="26846789"/>
            <a:ext cx="10053011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RÉSULTATS ET IMPACTS DU PROJET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5FA14C6-6539-4756-1C85-F2565C99DC90}"/>
              </a:ext>
            </a:extLst>
          </p:cNvPr>
          <p:cNvSpPr/>
          <p:nvPr/>
        </p:nvSpPr>
        <p:spPr>
          <a:xfrm>
            <a:off x="457519" y="27564901"/>
            <a:ext cx="10079680" cy="2461481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99B31E2-5BC7-4395-F480-5635B8F8FECB}"/>
              </a:ext>
            </a:extLst>
          </p:cNvPr>
          <p:cNvSpPr/>
          <p:nvPr/>
        </p:nvSpPr>
        <p:spPr>
          <a:xfrm>
            <a:off x="-12538" y="4125288"/>
            <a:ext cx="21384000" cy="26136000"/>
          </a:xfrm>
          <a:prstGeom prst="rect">
            <a:avLst/>
          </a:prstGeom>
          <a:noFill/>
          <a:ln w="571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32684-AB8D-A19E-A837-AEDDEA278575}"/>
              </a:ext>
            </a:extLst>
          </p:cNvPr>
          <p:cNvSpPr/>
          <p:nvPr/>
        </p:nvSpPr>
        <p:spPr>
          <a:xfrm>
            <a:off x="600000" y="18450000"/>
            <a:ext cx="3100000" cy="12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Résolution communale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284C7"/>
                </a:solidFill>
                <a:latin typeface="Arial"/>
              </a:rPr>
              <a:t>95 % Résolus direct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Code INSEE automatique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9FE7F7-0544-A8AF-0B0E-9C58BC593CDC}"/>
              </a:ext>
            </a:extLst>
          </p:cNvPr>
          <p:cNvSpPr/>
          <p:nvPr/>
        </p:nvSpPr>
        <p:spPr>
          <a:xfrm>
            <a:off x="3950000" y="18450000"/>
            <a:ext cx="3100000" cy="12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Contrôles de cohérence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284C7"/>
                </a:solidFill>
                <a:latin typeface="Arial"/>
              </a:rPr>
              <a:t>17 Règles métier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Dates, cadastre, acteurs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26C916-1C32-BAD8-1F29-EB66D740C156}"/>
              </a:ext>
            </a:extLst>
          </p:cNvPr>
          <p:cNvSpPr/>
          <p:nvPr/>
        </p:nvSpPr>
        <p:spPr>
          <a:xfrm>
            <a:off x="7300000" y="18450000"/>
            <a:ext cx="3100000" cy="1250000"/>
          </a:xfrm>
          <a:prstGeom prst="rect">
            <a:avLst/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Fiabilité globale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A34A"/>
                </a:solidFill>
                <a:latin typeface="Arial"/>
              </a:rPr>
              <a:t>Jusqu'à 88 %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Conformité dossiers réels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FFC76F2-8D39-99F9-341A-5A6D9DBE7F2D}"/>
              </a:ext>
            </a:extLst>
          </p:cNvPr>
          <p:cNvSpPr/>
          <p:nvPr/>
        </p:nvSpPr>
        <p:spPr>
          <a:xfrm>
            <a:off x="10968845" y="21509125"/>
            <a:ext cx="10053807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DIFFICULTÉS RENCONTRÉES ET SOLUTIONS APPORTÉES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1E04008-D4FD-6B97-1DE1-A1F7F9824AE6}"/>
              </a:ext>
            </a:extLst>
          </p:cNvPr>
          <p:cNvSpPr/>
          <p:nvPr/>
        </p:nvSpPr>
        <p:spPr>
          <a:xfrm>
            <a:off x="10955352" y="22227237"/>
            <a:ext cx="10080000" cy="3804587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193" name="Rounded Rectangle 192"/>
          <p:cNvSpPr/>
          <p:nvPr/>
        </p:nvSpPr>
        <p:spPr>
          <a:xfrm>
            <a:off x="550000" y="5160000"/>
            <a:ext cx="5700000" cy="364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2C57"/>
                </a:solidFill>
                <a:latin typeface="Arial"/>
              </a:rPr>
              <a:t>Cadre juridique (art. 646 C. civ.)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Retrouver les actes passés : seules les archives papier font foi face au cadastre fiscal.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2C57"/>
                </a:solidFill>
                <a:latin typeface="Arial"/>
              </a:rPr>
              <a:t>Problématique de l'étude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B365D"/>
                </a:solidFill>
                <a:latin typeface="Arial"/>
              </a:rPr>
              <a:t>Comment extraire et fiabiliser les archives foncières manuscrites à 100 % en local 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2C57"/>
                </a:solidFill>
                <a:latin typeface="Arial"/>
              </a:rPr>
              <a:t>Objectifs opérationnels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Automatiser l'indexation et le versement Géofoncier, en garantissant secret professionnel et RGPD.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6400000" y="5160000"/>
            <a:ext cx="4000000" cy="364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195" name="Picture 194" descr="registre_crop_part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3060" y="5395403"/>
            <a:ext cx="3593877" cy="2833652"/>
          </a:xfrm>
          <a:prstGeom prst="rect">
            <a:avLst/>
          </a:prstGeom>
        </p:spPr>
      </p:pic>
      <p:sp>
        <p:nvSpPr>
          <p:cNvPr id="196" name="TextBox 195"/>
          <p:cNvSpPr txBox="1"/>
          <p:nvPr/>
        </p:nvSpPr>
        <p:spPr>
          <a:xfrm>
            <a:off x="6480000" y="8229198"/>
            <a:ext cx="3840000" cy="601447"/>
          </a:xfrm>
          <a:prstGeom prst="rect">
            <a:avLst/>
          </a:prstGeom>
          <a:noFill/>
        </p:spPr>
        <p:txBody>
          <a:bodyPr wrap="square" lIns="21600" tIns="14400" rIns="21600" bIns="144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Registre des dossiers (1979) : client, commune et dossier.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550000" y="10040000"/>
            <a:ext cx="9900000" cy="232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198" name="Picture 197" descr="r4p_fig2_tight.png"/>
          <p:cNvPicPr>
            <a:picLocks noChangeAspect="1"/>
          </p:cNvPicPr>
          <p:nvPr/>
        </p:nvPicPr>
        <p:blipFill>
          <a:blip r:embed="rId6"/>
          <a:srcRect l="2174" b="995"/>
          <a:stretch>
            <a:fillRect/>
          </a:stretch>
        </p:blipFill>
        <p:spPr>
          <a:xfrm>
            <a:off x="816428" y="10080000"/>
            <a:ext cx="2275109" cy="2217713"/>
          </a:xfrm>
          <a:prstGeom prst="rect">
            <a:avLst/>
          </a:prstGeom>
        </p:spPr>
      </p:pic>
      <p:sp>
        <p:nvSpPr>
          <p:cNvPr id="199" name="TextBox 198"/>
          <p:cNvSpPr txBox="1"/>
          <p:nvPr/>
        </p:nvSpPr>
        <p:spPr>
          <a:xfrm>
            <a:off x="3250000" y="10331557"/>
            <a:ext cx="7120000" cy="1736886"/>
          </a:xfrm>
          <a:prstGeom prst="rect">
            <a:avLst/>
          </a:prstGeom>
          <a:noFill/>
        </p:spPr>
        <p:txBody>
          <a:bodyPr wrap="square" lIns="21600" tIns="14400" rIns="21600" bIns="14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2C57"/>
                </a:solidFill>
                <a:latin typeface="Arial"/>
              </a:rPr>
              <a:t>Découpage des zones d'intérêt (YOLOv8)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284C7"/>
                </a:solidFill>
                <a:latin typeface="Arial"/>
              </a:rPr>
              <a:t>Localisation automatique des zones utiles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Détection robuste des cartouches, tampons et tableaux de contenance, même sur documents tachés, pliés ou déformés.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550000" y="12460000"/>
            <a:ext cx="9900000" cy="232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01" name="TextBox 200"/>
          <p:cNvSpPr txBox="1"/>
          <p:nvPr/>
        </p:nvSpPr>
        <p:spPr>
          <a:xfrm>
            <a:off x="620000" y="12751556"/>
            <a:ext cx="6200000" cy="1736886"/>
          </a:xfrm>
          <a:prstGeom prst="rect">
            <a:avLst/>
          </a:prstGeom>
          <a:noFill/>
        </p:spPr>
        <p:txBody>
          <a:bodyPr wrap="square" lIns="21600" tIns="14400" rIns="21600" bIns="14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2C57"/>
                </a:solidFill>
                <a:latin typeface="Arial"/>
              </a:rPr>
              <a:t>Prétraitement d'image (OpenCV)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284C7"/>
                </a:solidFill>
                <a:latin typeface="Arial"/>
              </a:rPr>
              <a:t>Restauration et redressement avant lecture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Redressement automatique de l'orientation, filtrage du bruit de numérisation et renforcement des traits manuscrits fins.</a:t>
            </a:r>
          </a:p>
        </p:txBody>
      </p:sp>
      <p:pic>
        <p:nvPicPr>
          <p:cNvPr id="202" name="Picture 201" descr="pretraitement_vrai_plan.png"/>
          <p:cNvPicPr>
            <a:picLocks noChangeAspect="1"/>
          </p:cNvPicPr>
          <p:nvPr/>
        </p:nvPicPr>
        <p:blipFill>
          <a:blip r:embed="rId7"/>
          <a:srcRect t="3225" r="1974"/>
          <a:stretch>
            <a:fillRect/>
          </a:stretch>
        </p:blipFill>
        <p:spPr>
          <a:xfrm>
            <a:off x="6900000" y="12635654"/>
            <a:ext cx="3381920" cy="2036539"/>
          </a:xfrm>
          <a:prstGeom prst="rect">
            <a:avLst/>
          </a:prstGeom>
        </p:spPr>
      </p:pic>
      <p:sp>
        <p:nvSpPr>
          <p:cNvPr id="203" name="Rounded Rectangle 202"/>
          <p:cNvSpPr/>
          <p:nvPr/>
        </p:nvSpPr>
        <p:spPr>
          <a:xfrm>
            <a:off x="550000" y="14880000"/>
            <a:ext cx="9900000" cy="232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204" name="Picture 203" descr="extraction_ocr_gliner.png"/>
          <p:cNvPicPr>
            <a:picLocks noChangeAspect="1"/>
          </p:cNvPicPr>
          <p:nvPr/>
        </p:nvPicPr>
        <p:blipFill>
          <a:blip r:embed="rId8"/>
          <a:srcRect l="2801" t="3201" b="1"/>
          <a:stretch>
            <a:fillRect/>
          </a:stretch>
        </p:blipFill>
        <p:spPr>
          <a:xfrm>
            <a:off x="857066" y="15001931"/>
            <a:ext cx="3693560" cy="2147137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4550000" y="15209131"/>
            <a:ext cx="5820000" cy="1661737"/>
          </a:xfrm>
          <a:prstGeom prst="rect">
            <a:avLst/>
          </a:prstGeom>
          <a:noFill/>
        </p:spPr>
        <p:txBody>
          <a:bodyPr wrap="square" lIns="21600" tIns="14400" rIns="21600" bIns="14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2C57"/>
                </a:solidFill>
                <a:latin typeface="Arial"/>
              </a:rPr>
              <a:t>Lecture optique (TrOCR &amp; GLiNER)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284C7"/>
                </a:solidFill>
                <a:latin typeface="Arial"/>
              </a:rPr>
              <a:t>Reconnaissance conjointe imprimé et manuscrit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EasyOCR (imprimé) et TrOCR (manuscrit). Extraction GLiNER (commune, parcelle, date) et arbitrage VLM local sur cas ambigus.</a:t>
            </a:r>
          </a:p>
        </p:txBody>
      </p:sp>
      <p:pic>
        <p:nvPicPr>
          <p:cNvPr id="206" name="Picture 205" descr="f1_scores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00" y="19909426"/>
            <a:ext cx="4750000" cy="2881147"/>
          </a:xfrm>
          <a:prstGeom prst="rect">
            <a:avLst/>
          </a:prstGeom>
        </p:spPr>
      </p:pic>
      <p:sp>
        <p:nvSpPr>
          <p:cNvPr id="207" name="Rectangle 206"/>
          <p:cNvSpPr/>
          <p:nvPr/>
        </p:nvSpPr>
        <p:spPr>
          <a:xfrm>
            <a:off x="600000" y="23160020"/>
            <a:ext cx="4750000" cy="287979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02C57"/>
                </a:solidFill>
                <a:latin typeface="Arial"/>
              </a:rPr>
              <a:t>Contrôle cadastral &amp; filiation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Croisement avec le cadastre officiel (IGN / DGFiP) et antériorités GéofoncierEXPERT.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Reconstitution de la filiation parcellaire (mères et filles) et filtre anti-doublon avant tout versement.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550000" y="19850000"/>
            <a:ext cx="4850000" cy="750000"/>
          </a:xfrm>
          <a:prstGeom prst="rect">
            <a:avLst/>
          </a:prstGeom>
          <a:noFill/>
        </p:spPr>
        <p:txBody>
          <a:bodyPr wrap="square" lIns="21600" tIns="14400" rIns="21600" bIns="14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2C57"/>
                </a:solidFill>
                <a:latin typeface="Arial"/>
              </a:rPr>
              <a:t>17 règles de cohérence métier avant validation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5550000" y="20700000"/>
            <a:ext cx="4850000" cy="12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Cohérence des dates (4 règles)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Format standard, antériorité d'acte et concordance avec l'exercice du géomètre.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5550000" y="22100000"/>
            <a:ext cx="4850000" cy="12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Contrôles cadastraux (5 règles)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Validation code INSEE, cohérence des sections et normalisation des parcelles.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5550000" y="23500000"/>
            <a:ext cx="4850000" cy="12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Contrôles des personnes (4 règles)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Authentification du géomètre signataire au cabinet, tri vendeur et acquéreur.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5550000" y="24900000"/>
            <a:ext cx="4850000" cy="1380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A34A"/>
                </a:solidFill>
                <a:latin typeface="Arial"/>
              </a:rPr>
              <a:t>Contrôles anti-doublon (4 règles)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Recherche d'antériorités sur la parcelle et alerte immédiate sur dossiers similaires.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600000" y="27680000"/>
            <a:ext cx="3100000" cy="980000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TEMPS DIVISÉ PAR 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284C7"/>
                </a:solidFill>
                <a:latin typeface="Arial"/>
              </a:rPr>
              <a:t>2 min 40 s par dossier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au lieu de 25 min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3950000" y="27680000"/>
            <a:ext cx="3100000" cy="980000"/>
          </a:xfrm>
          <a:prstGeom prst="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A34A"/>
                </a:solidFill>
                <a:latin typeface="Arial"/>
              </a:rPr>
              <a:t>82 % SANS CORRECTION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27 sur 33 validés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dès le premier passage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7300000" y="27680000"/>
            <a:ext cx="3100000" cy="980000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23 600 DOSSIERS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284C7"/>
                </a:solidFill>
                <a:latin typeface="Arial"/>
              </a:rPr>
              <a:t>Fonds historique valorisé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directement en local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600000" y="28740000"/>
            <a:ext cx="9800000" cy="114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17" name="TextBox 216"/>
          <p:cNvSpPr txBox="1"/>
          <p:nvPr/>
        </p:nvSpPr>
        <p:spPr>
          <a:xfrm>
            <a:off x="600000" y="28799604"/>
            <a:ext cx="9800000" cy="1020792"/>
          </a:xfrm>
          <a:prstGeom prst="rect">
            <a:avLst/>
          </a:prstGeom>
          <a:noFill/>
        </p:spPr>
        <p:txBody>
          <a:bodyPr wrap="square" lIns="21600" tIns="14400" rIns="21600" bIns="14400" anchor="ctr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L'outil fiabilise l'accès aux archives pour rétablir les limites réelles sans risque de litige. L'architecture 100 % locale garantit le secret professionnel et le RGPD, avec versement direct et sécurisé sur Géofoncier.</a:t>
            </a:r>
          </a:p>
        </p:txBody>
      </p:sp>
      <p:sp>
        <p:nvSpPr>
          <p:cNvPr id="218" name="Down Arrow 217"/>
          <p:cNvSpPr/>
          <p:nvPr/>
        </p:nvSpPr>
        <p:spPr>
          <a:xfrm rot="5400000">
            <a:off x="12607413" y="10601989"/>
            <a:ext cx="420000" cy="26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0" name="Down Arrow 219"/>
          <p:cNvSpPr/>
          <p:nvPr/>
        </p:nvSpPr>
        <p:spPr>
          <a:xfrm rot="5400000">
            <a:off x="18912155" y="9098123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1" name="Down Arrow 220"/>
          <p:cNvSpPr/>
          <p:nvPr/>
        </p:nvSpPr>
        <p:spPr>
          <a:xfrm rot="5400000">
            <a:off x="18912155" y="10328842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2" name="Rounded Rectangle 221"/>
          <p:cNvSpPr/>
          <p:nvPr/>
        </p:nvSpPr>
        <p:spPr>
          <a:xfrm>
            <a:off x="11100000" y="18950000"/>
            <a:ext cx="4450000" cy="22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3" name="Rounded Rectangle 222"/>
          <p:cNvSpPr/>
          <p:nvPr/>
        </p:nvSpPr>
        <p:spPr>
          <a:xfrm>
            <a:off x="11101388" y="18951375"/>
            <a:ext cx="4462774" cy="260000"/>
          </a:xfrm>
          <a:prstGeom prst="round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Aperçu de l'interface Streamlit</a:t>
            </a:r>
          </a:p>
        </p:txBody>
      </p:sp>
      <p:pic>
        <p:nvPicPr>
          <p:cNvPr id="224" name="Picture 223" descr="interface_haut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47476" y="19300000"/>
            <a:ext cx="3755047" cy="1850000"/>
          </a:xfrm>
          <a:prstGeom prst="rect">
            <a:avLst/>
          </a:prstGeom>
        </p:spPr>
      </p:pic>
      <p:sp>
        <p:nvSpPr>
          <p:cNvPr id="225" name="Rounded Rectangle 224"/>
          <p:cNvSpPr/>
          <p:nvPr/>
        </p:nvSpPr>
        <p:spPr>
          <a:xfrm>
            <a:off x="15650000" y="18950000"/>
            <a:ext cx="5250000" cy="226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6" name="TextBox 225"/>
          <p:cNvSpPr txBox="1"/>
          <p:nvPr/>
        </p:nvSpPr>
        <p:spPr>
          <a:xfrm>
            <a:off x="15650000" y="18995857"/>
            <a:ext cx="5250000" cy="2168286"/>
          </a:xfrm>
          <a:prstGeom prst="rect">
            <a:avLst/>
          </a:prstGeom>
          <a:noFill/>
        </p:spPr>
        <p:txBody>
          <a:bodyPr wrap="square" lIns="21600" tIns="14400" rIns="21600" bIns="14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02C57"/>
                </a:solidFill>
                <a:latin typeface="Arial"/>
              </a:rPr>
              <a:t>Validation humaine (Streamlit)</a:t>
            </a:r>
          </a:p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Double vue synchronisée plan scanné avec zoom et formulaire de données.</a:t>
            </a:r>
          </a:p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Pastilles couleur : vert (conforme), orange ou rouge (alerte métier).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284C7"/>
                </a:solidFill>
                <a:latin typeface="Arial"/>
              </a:rPr>
              <a:t>Validation humaine obligatoire avant versement direct sur Géofoncier.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11100000" y="22350000"/>
            <a:ext cx="4750000" cy="360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91C1C"/>
                </a:solidFill>
                <a:latin typeface="Arial"/>
              </a:rPr>
              <a:t>DIFFICULTÉS DU PROJET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16130000" y="22350000"/>
            <a:ext cx="4750000" cy="3600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6534"/>
                </a:solidFill>
                <a:latin typeface="Arial"/>
              </a:rPr>
              <a:t>SOLUTIONS DÉVELOPPÉES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11100000" y="2280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91C1C"/>
                </a:solidFill>
                <a:latin typeface="Arial"/>
              </a:rPr>
              <a:t>Plans sans numéro de dossier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Numéro absent du plan, indexation directe impossible.</a:t>
            </a:r>
          </a:p>
        </p:txBody>
      </p:sp>
      <p:sp>
        <p:nvSpPr>
          <p:cNvPr id="230" name="Right Arrow 229"/>
          <p:cNvSpPr/>
          <p:nvPr/>
        </p:nvSpPr>
        <p:spPr>
          <a:xfrm>
            <a:off x="15870000" y="23140000"/>
            <a:ext cx="240000" cy="300000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1" name="Rounded Rectangle 230"/>
          <p:cNvSpPr/>
          <p:nvPr/>
        </p:nvSpPr>
        <p:spPr>
          <a:xfrm>
            <a:off x="16130000" y="2280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A34A"/>
                </a:solidFill>
                <a:latin typeface="Arial"/>
              </a:rPr>
              <a:t>Croisement des répertoires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Rapprochement automatique avec les registres d'actes numérisés.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11100000" y="2388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91C1C"/>
                </a:solidFill>
                <a:latin typeface="Arial"/>
              </a:rPr>
              <a:t>Parcelles disparues (cadastre)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Remembrements ayant effacé les numéros d'origine.</a:t>
            </a:r>
          </a:p>
        </p:txBody>
      </p:sp>
      <p:sp>
        <p:nvSpPr>
          <p:cNvPr id="233" name="Right Arrow 232"/>
          <p:cNvSpPr/>
          <p:nvPr/>
        </p:nvSpPr>
        <p:spPr>
          <a:xfrm>
            <a:off x="15870000" y="24220000"/>
            <a:ext cx="240000" cy="300000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4" name="Rounded Rectangle 233"/>
          <p:cNvSpPr/>
          <p:nvPr/>
        </p:nvSpPr>
        <p:spPr>
          <a:xfrm>
            <a:off x="16130000" y="2388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A34A"/>
                </a:solidFill>
                <a:latin typeface="Arial"/>
              </a:rPr>
              <a:t>Filiation parcellaire DGFiP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Remontée automatique de la chaîne généalogique des parcelles mères.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11100000" y="2496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91C1C"/>
                </a:solidFill>
                <a:latin typeface="Arial"/>
              </a:rPr>
              <a:t>Risque de doublon Géofoncier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Responsabilité juridique engagée sur la plateforme nationale.</a:t>
            </a:r>
          </a:p>
        </p:txBody>
      </p:sp>
      <p:sp>
        <p:nvSpPr>
          <p:cNvPr id="236" name="Right Arrow 235"/>
          <p:cNvSpPr/>
          <p:nvPr/>
        </p:nvSpPr>
        <p:spPr>
          <a:xfrm>
            <a:off x="15870000" y="25300000"/>
            <a:ext cx="240000" cy="300000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7" name="Rounded Rectangle 236"/>
          <p:cNvSpPr/>
          <p:nvPr/>
        </p:nvSpPr>
        <p:spPr>
          <a:xfrm>
            <a:off x="16130000" y="2496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A34A"/>
                </a:solidFill>
                <a:latin typeface="Arial"/>
              </a:rPr>
              <a:t>Empreinte unique &amp; contrôle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Hachage numérique, contrôle d'antériorités et validation humaine.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11100000" y="27050000"/>
            <a:ext cx="5280000" cy="290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9" name="TextBox 238"/>
          <p:cNvSpPr txBox="1"/>
          <p:nvPr/>
        </p:nvSpPr>
        <p:spPr>
          <a:xfrm>
            <a:off x="11100000" y="27182331"/>
            <a:ext cx="5280000" cy="2635337"/>
          </a:xfrm>
          <a:prstGeom prst="rect">
            <a:avLst/>
          </a:prstGeom>
          <a:noFill/>
        </p:spPr>
        <p:txBody>
          <a:bodyPr wrap="square" lIns="21600" tIns="14400" rIns="21600" bIns="14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Apprentissage actif local :</a:t>
            </a:r>
          </a:p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Réentraînement périodique TrOCR et YOLOv8 via les retours validés.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Intégration SIG &amp; flux WFS :</a:t>
            </a:r>
          </a:p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Plugin QGIS dédié et calcul automatique du centroïde parcellaire.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Déploiement multi-agences :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Extension aux 4 agences du cabinet GEO-SIAPP.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16500000" y="27050000"/>
            <a:ext cx="4380000" cy="2900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41" name="Rounded Rectangle 240"/>
          <p:cNvSpPr/>
          <p:nvPr/>
        </p:nvSpPr>
        <p:spPr>
          <a:xfrm>
            <a:off x="16500000" y="27050000"/>
            <a:ext cx="4380000" cy="320000"/>
          </a:xfrm>
          <a:prstGeom prst="round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▶  DÉMONSTRATION VIDÉO DU PFE</a:t>
            </a:r>
          </a:p>
        </p:txBody>
      </p:sp>
      <p:pic>
        <p:nvPicPr>
          <p:cNvPr id="242" name="Picture 241" descr="qr_code_dem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890000" y="27480000"/>
            <a:ext cx="1600000" cy="1600000"/>
          </a:xfrm>
          <a:prstGeom prst="rect">
            <a:avLst/>
          </a:prstGeom>
        </p:spPr>
      </p:pic>
      <p:sp>
        <p:nvSpPr>
          <p:cNvPr id="243" name="TextBox 242"/>
          <p:cNvSpPr txBox="1"/>
          <p:nvPr/>
        </p:nvSpPr>
        <p:spPr>
          <a:xfrm>
            <a:off x="16600000" y="29231843"/>
            <a:ext cx="4180000" cy="586314"/>
          </a:xfrm>
          <a:prstGeom prst="rect">
            <a:avLst/>
          </a:prstGeom>
          <a:noFill/>
        </p:spPr>
        <p:txBody>
          <a:bodyPr wrap="square" lIns="21600" tIns="14400" rIns="21600" bIns="14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Scannez pour la vidéo 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Démonstration du logiciel en conditions réelles (extraction et versement).</a:t>
            </a:r>
          </a:p>
        </p:txBody>
      </p:sp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B9C76546-7038-017A-94CC-002038E29E73}"/>
              </a:ext>
            </a:extLst>
          </p:cNvPr>
          <p:cNvSpPr/>
          <p:nvPr/>
        </p:nvSpPr>
        <p:spPr>
          <a:xfrm rot="16200000" flipH="1">
            <a:off x="16008597" y="11472943"/>
            <a:ext cx="573234" cy="5939473"/>
          </a:xfrm>
          <a:prstGeom prst="bentUp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266970-676B-03C5-E9A8-410EF3BAE80E}"/>
              </a:ext>
            </a:extLst>
          </p:cNvPr>
          <p:cNvSpPr/>
          <p:nvPr/>
        </p:nvSpPr>
        <p:spPr>
          <a:xfrm>
            <a:off x="9756860" y="1459776"/>
            <a:ext cx="5807302" cy="2157780"/>
          </a:xfrm>
          <a:prstGeom prst="rect">
            <a:avLst/>
          </a:prstGeom>
          <a:solidFill>
            <a:srgbClr val="F8FAFD"/>
          </a:solidFill>
          <a:ln w="15240">
            <a:solidFill>
              <a:srgbClr val="102C5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C57"/>
                </a:solidFill>
                <a:latin typeface="Arial"/>
              </a:rPr>
              <a:t>Structure d'accueil 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284C7"/>
                </a:solidFill>
                <a:latin typeface="Arial"/>
              </a:rPr>
              <a:t>Cabinet GEO-SIAPP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2 Avenue Jean Monnet, 07200 Aubenas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E32"/>
                </a:solidFill>
                <a:latin typeface="Arial"/>
              </a:rPr>
              <a:t>04 75 35 07 50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84F2906-8D4D-E17A-EFD2-21880DC7854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74173" y="1548083"/>
            <a:ext cx="1662808" cy="193505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10378D5-71D1-91CA-24B7-4A7DDB06B99D}"/>
              </a:ext>
            </a:extLst>
          </p:cNvPr>
          <p:cNvCxnSpPr/>
          <p:nvPr/>
        </p:nvCxnSpPr>
        <p:spPr>
          <a:xfrm>
            <a:off x="21691600" y="7595848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ounded Rectangle 243"/>
          <p:cNvSpPr/>
          <p:nvPr/>
        </p:nvSpPr>
        <p:spPr>
          <a:xfrm>
            <a:off x="14552917" y="6356491"/>
            <a:ext cx="2752249" cy="56457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91C1C"/>
                </a:solidFill>
                <a:latin typeface="Arial"/>
              </a:rPr>
              <a:t>Hors périmètre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91C1C"/>
                </a:solidFill>
                <a:latin typeface="Arial"/>
              </a:rPr>
              <a:t>Rejet automatique</a:t>
            </a:r>
          </a:p>
        </p:txBody>
      </p:sp>
      <p:sp>
        <p:nvSpPr>
          <p:cNvPr id="245" name="Notched Right Arrow 244"/>
          <p:cNvSpPr/>
          <p:nvPr/>
        </p:nvSpPr>
        <p:spPr>
          <a:xfrm rot="5400000">
            <a:off x="15804042" y="6097918"/>
            <a:ext cx="220000" cy="25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46" name="Rounded Rectangle 245"/>
          <p:cNvSpPr/>
          <p:nvPr/>
        </p:nvSpPr>
        <p:spPr>
          <a:xfrm>
            <a:off x="14619226" y="11327755"/>
            <a:ext cx="2752249" cy="564578"/>
          </a:xfrm>
          <a:prstGeom prst="roundRect">
            <a:avLst/>
          </a:prstGeom>
          <a:solidFill>
            <a:srgbClr val="F0F9FF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Croisement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Arial"/>
              </a:rPr>
              <a:t>Plan et cadastre</a:t>
            </a:r>
          </a:p>
        </p:txBody>
      </p:sp>
      <p:sp>
        <p:nvSpPr>
          <p:cNvPr id="247" name="Notched Right Arrow 246"/>
          <p:cNvSpPr/>
          <p:nvPr/>
        </p:nvSpPr>
        <p:spPr>
          <a:xfrm>
            <a:off x="14240000" y="11500044"/>
            <a:ext cx="320000" cy="22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48" name="Notched Right Arrow 247"/>
          <p:cNvSpPr/>
          <p:nvPr/>
        </p:nvSpPr>
        <p:spPr>
          <a:xfrm rot="10800000">
            <a:off x="17420000" y="11500044"/>
            <a:ext cx="320000" cy="22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1843477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841</TotalTime>
  <Words>1486</Words>
  <Application>Microsoft Office PowerPoint</Application>
  <PresentationFormat>Personnalisé</PresentationFormat>
  <Paragraphs>165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DÉVELOPPEMENT D'UN OUTIL PERMETTANT LE TRAITEMENT ET L'INSERTION DES ARCHIVES NUMÉRIQUES SUR GÉOFONCIER AU SEIN D'UN CABINET DE GÉOMÈTRE-EXPERT</dc:title>
  <dc:subject>Projet de Fin d'Études - INSA Strasbourg - Spécialité Topographie</dc:subject>
  <dc:creator>Adrien TRAVAILLÉ</dc:creator>
  <cp:keywords>archivage numérique, reconnaissance de texte manuscrit (HTR), traitement automatisé, Géofoncier, intelligence artificielle, géomètre-expert, vision par ordinateur</cp:keywords>
  <dc:description>Cabinet GEO-SIAPP à Aubenas - Tuteur entreprise : Gaëtan HAGUE - Directeur PFE : Mathieu KOEHL</dc:description>
  <cp:lastModifiedBy>TRAVAILLE Adrien</cp:lastModifiedBy>
  <cp:revision>80</cp:revision>
  <dcterms:created xsi:type="dcterms:W3CDTF">2026-09-02T06:42:08Z</dcterms:created>
  <dcterms:modified xsi:type="dcterms:W3CDTF">2026-09-15T21:35:09Z</dcterms:modified>
  <cp:category>Poster PFE Ingénieur</cp:category>
</cp:coreProperties>
</file>