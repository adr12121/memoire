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30275999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20088000" cy="295199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540000"/>
            <a:ext cx="20088000" cy="10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00" y="959796"/>
            <a:ext cx="3168000" cy="888406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3282" y="791999"/>
            <a:ext cx="1313434" cy="129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9999" y="684000"/>
            <a:ext cx="14400000" cy="1512000"/>
          </a:xfrm>
          <a:prstGeom prst="rect">
            <a:avLst/>
          </a:prstGeom>
          <a:noFill/>
        </p:spPr>
        <p:txBody>
          <a:bodyPr wrap="square" tIns="18000">
            <a:spAutoFit/>
          </a:bodyPr>
          <a:lstStyle/>
          <a:p>
            <a:pPr algn="ctr"/>
            <a:r>
              <a:rPr sz="2450" b="1">
                <a:solidFill>
                  <a:srgbClr val="0C2340"/>
                </a:solidFill>
                <a:latin typeface="Arial"/>
              </a:rPr>
              <a:t>TRAITEMENT AUTOMATISÉ ET INSERTION D'ARCHIVES FONCIÈRES SUR GÉOFONCIER</a:t>
            </a:r>
          </a:p>
          <a:p>
            <a:pPr algn="ctr">
              <a:spcBef>
                <a:spcPts val="500"/>
              </a:spcBef>
            </a:pPr>
            <a:r>
              <a:rPr sz="1350" b="1">
                <a:solidFill>
                  <a:srgbClr val="1B4587"/>
                </a:solidFill>
                <a:latin typeface="Arial"/>
              </a:rPr>
              <a:t>Chaîne d'intelligence artificielle locale pour la valorisation du fonds patrimonial d'un cabinet de géomètre-expert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8000" y="2304000"/>
            <a:ext cx="19368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000" y="2375999"/>
            <a:ext cx="6336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rial"/>
              </a:rPr>
              <a:t>CANDIDAT</a:t>
            </a:r>
          </a:p>
          <a:p>
            <a:pPr algn="l">
              <a:spcBef>
                <a:spcPts val="1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Adrien TRAVAILLÉ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Élève-ingénieur en Topographie</a:t>
            </a:r>
            <a:br/>
            <a:r>
              <a:rPr sz="950" b="0">
                <a:solidFill>
                  <a:srgbClr val="475569"/>
                </a:solidFill>
                <a:latin typeface="Arial"/>
              </a:rPr>
              <a:t>adrien.travaille@insa-strasbourg.fr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000" y="2375999"/>
            <a:ext cx="6336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rial"/>
              </a:rPr>
              <a:t>ÉCOLE &amp; ENCADREMENT</a:t>
            </a:r>
          </a:p>
          <a:p>
            <a:pPr algn="l">
              <a:spcBef>
                <a:spcPts val="1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INSA Strasbourg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Département Génie Topographique • 24 Bd de la Victoire, 67084 Strasbourg</a:t>
            </a:r>
            <a:br/>
            <a:r>
              <a:rPr sz="950" b="0">
                <a:solidFill>
                  <a:srgbClr val="475569"/>
                </a:solidFill>
                <a:latin typeface="Arial"/>
              </a:rPr>
              <a:t>Enseignant-encadrant : M. Mathieu KOEHL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40000" y="2375999"/>
            <a:ext cx="6336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rial"/>
              </a:rPr>
              <a:t>ENTREPRISE D'ACCUEIL</a:t>
            </a:r>
          </a:p>
          <a:p>
            <a:pPr algn="l">
              <a:spcBef>
                <a:spcPts val="100"/>
              </a:spcBef>
            </a:pPr>
            <a:r>
              <a:rPr sz="1250" b="1">
                <a:solidFill>
                  <a:srgbClr val="0F172A"/>
                </a:solidFill>
                <a:latin typeface="Arial"/>
              </a:rPr>
              <a:t>Cabinet GEO-SIAPP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Siège : 58 Bd Saint-Didier, 07200 Aubenas (Ardèche)</a:t>
            </a:r>
            <a:br/>
            <a:r>
              <a:rPr sz="950" b="0">
                <a:solidFill>
                  <a:srgbClr val="475569"/>
                </a:solidFill>
                <a:latin typeface="Arial"/>
              </a:rPr>
              <a:t>Maître de stage : M. Gaëtan HAGUE (Géomètre-Expert)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" y="3671999"/>
            <a:ext cx="6263999" cy="324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1. PROBLÉMATIQUE MÉTIER &amp; LE GÎSEMENT D'ARCHIVES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59999" y="3671999"/>
            <a:ext cx="6263999" cy="324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2. CHAÎNE TECHNOLOGIQUE D'INTELLIGENCE ARTIFICIELLE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71998" y="3671999"/>
            <a:ext cx="6263999" cy="324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3. VALIDATION OPÉRATEUR, RÉSULTATS &amp; VALORISATION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4140000"/>
            <a:ext cx="6263999" cy="7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000" y="4140000"/>
            <a:ext cx="6263999" cy="396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8000" bIns="18000"/>
          <a:lstStyle/>
          <a:p>
            <a:pPr algn="l"/>
            <a:r>
              <a:rPr sz="1400" b="1">
                <a:solidFill>
                  <a:srgbClr val="93C5FD"/>
                </a:solidFill>
                <a:latin typeface="Arial"/>
              </a:rPr>
              <a:t>1.1  •  </a:t>
            </a:r>
            <a:r>
              <a:rPr sz="1400" b="1">
                <a:solidFill>
                  <a:srgbClr val="FFFFFF"/>
                </a:solidFill>
                <a:latin typeface="Arial"/>
              </a:rPr>
              <a:t>LE GISEMENT D'ARCHIVES ET LE DROIT FONCIER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" y="4572000"/>
            <a:ext cx="5831999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rial"/>
              </a:rPr>
              <a:t>•  Stock ciblé à Aubenas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0F172A"/>
                </a:solidFill>
                <a:latin typeface="Arial"/>
              </a:rPr>
              <a:t>23 600 dossiers historiques conservés au siège (sur 40 000 au cabinet).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C2340"/>
                </a:solidFill>
                <a:latin typeface="Arial"/>
              </a:rPr>
              <a:t>•  Succession de 6 prédécesseurs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0F172A"/>
                </a:solidFill>
                <a:latin typeface="Arial"/>
              </a:rPr>
              <a:t>Fonds Harrois, Blache, Teyssier, Reynaud (1959 à 2007) sans convention unique.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C2340"/>
                </a:solidFill>
                <a:latin typeface="Arial"/>
              </a:rPr>
              <a:t>•  Supports hétérogènes fragiles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0F172A"/>
                </a:solidFill>
                <a:latin typeface="Arial"/>
              </a:rPr>
              <a:t>Plans calques à l'encre, tirages ozalides bleutés, liasses et registres manuscrits.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C2340"/>
                </a:solidFill>
                <a:latin typeface="Arial"/>
              </a:rPr>
              <a:t>•  Conservation trentenaire légale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0F172A"/>
                </a:solidFill>
                <a:latin typeface="Arial"/>
              </a:rPr>
              <a:t>Décret 96-478 (art. 55) : obligation stricte de conserver les archives et de les transmettre.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C2340"/>
                </a:solidFill>
                <a:latin typeface="Arial"/>
              </a:rPr>
              <a:t>•  Règle 'Bornage sur bornage ne vaut'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0F172A"/>
                </a:solidFill>
                <a:latin typeface="Arial"/>
              </a:rPr>
              <a:t>Interdiction de redéfinir une limite déjà bornée : recherche d'antériorité obligatoire.</a:t>
            </a:r>
          </a:p>
        </p:txBody>
      </p:sp>
      <p:pic>
        <p:nvPicPr>
          <p:cNvPr id="18" name="Picture 17" descr="repartition_archi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00" y="8468288"/>
            <a:ext cx="5831999" cy="25394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4000" y="11052000"/>
            <a:ext cx="583199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Répartition estimée des 23 600 dossiers d'Aubenas par géomètre prédécesseur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8000" y="12060000"/>
            <a:ext cx="6263999" cy="8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8000" y="12060000"/>
            <a:ext cx="6263999" cy="396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8000" bIns="18000"/>
          <a:lstStyle/>
          <a:p>
            <a:pPr algn="l"/>
            <a:r>
              <a:rPr sz="1400" b="1">
                <a:solidFill>
                  <a:srgbClr val="93C5FD"/>
                </a:solidFill>
                <a:latin typeface="Arial"/>
              </a:rPr>
              <a:t>1.2  •  </a:t>
            </a:r>
            <a:r>
              <a:rPr sz="1400" b="1">
                <a:solidFill>
                  <a:srgbClr val="FFFFFF"/>
                </a:solidFill>
                <a:latin typeface="Arial"/>
              </a:rPr>
              <a:t>COMPLEXITÉ DES DOCUMENTS D'ARCHIVES</a:t>
            </a:r>
          </a:p>
        </p:txBody>
      </p:sp>
      <p:pic>
        <p:nvPicPr>
          <p:cNvPr id="22" name="Picture 21" descr="registre_manuscri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00" y="12770478"/>
            <a:ext cx="5831999" cy="41230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4000" y="17208000"/>
            <a:ext cx="5831999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2340"/>
                </a:solidFill>
                <a:latin typeface="Arial"/>
              </a:rPr>
              <a:t>Extrait de registre d'arpentage manuscrit du cabinet GEO-SIAPP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•  Calligraphies cursives à la plume et encres d'époque délavées.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•  Abréviations métier condensées ('Déf.', 'Bge', 'Div.', 'Prop.').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•  Disparité des structures de tableaux selon les prédécesseurs.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•  Altérations physiques du papier et absence d'identifiant unique.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•  Document d'archives manuscrit conservé sans échelle graphique.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" y="20700000"/>
            <a:ext cx="6263999" cy="7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8000" y="20700000"/>
            <a:ext cx="6263999" cy="396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8000" bIns="18000"/>
          <a:lstStyle/>
          <a:p>
            <a:pPr algn="l"/>
            <a:r>
              <a:rPr sz="1400" b="1">
                <a:solidFill>
                  <a:srgbClr val="93C5FD"/>
                </a:solidFill>
                <a:latin typeface="Arial"/>
              </a:rPr>
              <a:t>1.3  •  </a:t>
            </a:r>
            <a:r>
              <a:rPr sz="1400" b="1">
                <a:solidFill>
                  <a:srgbClr val="FFFFFF"/>
                </a:solidFill>
                <a:latin typeface="Arial"/>
              </a:rPr>
              <a:t>IMPASSE DU TRAITEMENT MANUEL ET OBJECTIFS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000" y="21168000"/>
            <a:ext cx="5831999" cy="2951999"/>
          </a:xfrm>
          <a:prstGeom prst="rect">
            <a:avLst/>
          </a:prstGeom>
          <a:solidFill>
            <a:srgbClr val="FEF2F2"/>
          </a:solidFill>
          <a:ln w="1524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08000"/>
          <a:lstStyle/>
          <a:p>
            <a:pPr algn="l"/>
            <a:r>
              <a:rPr sz="1050" b="1">
                <a:solidFill>
                  <a:srgbClr val="D62828"/>
                </a:solidFill>
                <a:latin typeface="Arial"/>
              </a:rPr>
              <a:t>LE CONSTAT : IMPASSE DU TRAITEMENT MANUEL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0F172A"/>
                </a:solidFill>
                <a:latin typeface="Arial"/>
              </a:rPr>
              <a:t>✕  Temps moyen : 15 à 20 minutes par acte sur GéofoncierEXPERT.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0F172A"/>
                </a:solidFill>
                <a:latin typeface="Arial"/>
              </a:rPr>
              <a:t>✕  Volume cible : 23 600 dossiers accumulés sur 50 ans.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0F172A"/>
                </a:solidFill>
                <a:latin typeface="Arial"/>
              </a:rPr>
              <a:t>✕  Charge cumulée : 3,5 années de travail d'un technicien à plein temps.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0F172A"/>
                </a:solidFill>
                <a:latin typeface="Arial"/>
              </a:rPr>
              <a:t>✕  Conséquence : risque d'erreur élevé et fonds documentaire inexploité.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000" y="24300000"/>
            <a:ext cx="5831999" cy="3311999"/>
          </a:xfrm>
          <a:prstGeom prst="rect">
            <a:avLst/>
          </a:prstGeom>
          <a:solidFill>
            <a:srgbClr val="F0F9FF"/>
          </a:solidFill>
          <a:ln w="15240">
            <a:solidFill>
              <a:srgbClr val="1B4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08000"/>
          <a:lstStyle/>
          <a:p>
            <a:pPr algn="l"/>
            <a:r>
              <a:rPr sz="1050" b="1">
                <a:solidFill>
                  <a:srgbClr val="0C2340"/>
                </a:solidFill>
                <a:latin typeface="Arial"/>
              </a:rPr>
              <a:t>LE CAHIER DES CHARGES ASSIGNÉ AU PFE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0C2340"/>
                </a:solidFill>
                <a:latin typeface="Arial"/>
              </a:rPr>
              <a:t>✓  Traitement 100 % local : données protégées, secret professionnel.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0C2340"/>
                </a:solidFill>
                <a:latin typeface="Arial"/>
              </a:rPr>
              <a:t>✓  Autonomie sur PC bureautique classique du cabinet sans GPU dédié.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0C2340"/>
                </a:solidFill>
                <a:latin typeface="Arial"/>
              </a:rPr>
              <a:t>✓  Fiabilisation automatique contre les bases officielles (INSEE, BAN).</a:t>
            </a:r>
          </a:p>
          <a:p>
            <a:pPr algn="l">
              <a:spcBef>
                <a:spcPts val="200"/>
              </a:spcBef>
            </a:pPr>
            <a:r>
              <a:rPr sz="919" b="0">
                <a:solidFill>
                  <a:srgbClr val="0C2340"/>
                </a:solidFill>
                <a:latin typeface="Arial"/>
              </a:rPr>
              <a:t>✓  Supervision humaine obligatoire : validation en un clic par l'opérateur.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59999" y="4140000"/>
            <a:ext cx="6263999" cy="7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59999" y="4140000"/>
            <a:ext cx="6263999" cy="396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8000" bIns="18000"/>
          <a:lstStyle/>
          <a:p>
            <a:pPr algn="l"/>
            <a:r>
              <a:rPr sz="1400" b="1">
                <a:solidFill>
                  <a:srgbClr val="93C5FD"/>
                </a:solidFill>
                <a:latin typeface="Arial"/>
              </a:rPr>
              <a:t>2.1  •  </a:t>
            </a:r>
            <a:r>
              <a:rPr sz="1400" b="1">
                <a:solidFill>
                  <a:srgbClr val="FFFFFF"/>
                </a:solidFill>
                <a:latin typeface="Arial"/>
              </a:rPr>
              <a:t>ARCHITECTURE DU PIPELINE MODULAIRE LOCAL</a:t>
            </a:r>
          </a:p>
        </p:txBody>
      </p:sp>
      <p:pic>
        <p:nvPicPr>
          <p:cNvPr id="30" name="Picture 29" descr="architecture_tigh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6897" y="4608000"/>
            <a:ext cx="5710201" cy="288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5999" y="7596000"/>
            <a:ext cx="5831999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C2340"/>
                </a:solidFill>
                <a:latin typeface="Arial"/>
              </a:rPr>
              <a:t>1. Classification du document : Tri automatique des plans graphiques, registres et PV.</a:t>
            </a:r>
          </a:p>
          <a:p>
            <a:pPr algn="l">
              <a:spcBef>
                <a:spcPts val="300"/>
              </a:spcBef>
            </a:pPr>
            <a:r>
              <a:rPr sz="950" b="1">
                <a:solidFill>
                  <a:srgbClr val="0C2340"/>
                </a:solidFill>
                <a:latin typeface="Arial"/>
              </a:rPr>
              <a:t>2. Détection spatiale YOLOv8 : Localisation des cartouches, tableaux, tampons et signatures.</a:t>
            </a:r>
          </a:p>
          <a:p>
            <a:pPr algn="l">
              <a:spcBef>
                <a:spcPts val="300"/>
              </a:spcBef>
            </a:pPr>
            <a:r>
              <a:rPr sz="950" b="1">
                <a:solidFill>
                  <a:srgbClr val="0C2340"/>
                </a:solidFill>
                <a:latin typeface="Arial"/>
              </a:rPr>
              <a:t>3. Lecture hybride OCR / HTR : Binarisation Otsu, Tesseract (imprimé) et TrOCR (manuscrit).</a:t>
            </a:r>
          </a:p>
          <a:p>
            <a:pPr algn="l">
              <a:spcBef>
                <a:spcPts val="300"/>
              </a:spcBef>
            </a:pPr>
            <a:r>
              <a:rPr sz="950" b="1">
                <a:solidFill>
                  <a:srgbClr val="0C2340"/>
                </a:solidFill>
                <a:latin typeface="Arial"/>
              </a:rPr>
              <a:t>4. Extraction d'entités (GLiNER) : Reconnaissance ciblée des communes, dates et géomètres.</a:t>
            </a:r>
          </a:p>
          <a:p>
            <a:pPr algn="l">
              <a:spcBef>
                <a:spcPts val="300"/>
              </a:spcBef>
            </a:pPr>
            <a:r>
              <a:rPr sz="950" b="1">
                <a:solidFill>
                  <a:srgbClr val="0C2340"/>
                </a:solidFill>
                <a:latin typeface="Arial"/>
              </a:rPr>
              <a:t>5. Contrôle &amp; arbitrage VLM : Vérification Levenshtein (INSEE) et arbitrage par LLaVA 7B local.</a:t>
            </a:r>
          </a:p>
          <a:p>
            <a:pPr algn="l">
              <a:spcBef>
                <a:spcPts val="300"/>
              </a:spcBef>
            </a:pPr>
            <a:r>
              <a:rPr sz="950" b="1">
                <a:solidFill>
                  <a:srgbClr val="0C2340"/>
                </a:solidFill>
                <a:latin typeface="Arial"/>
              </a:rPr>
              <a:t>6. Injection API Géofoncier : Génération du JSON et versement direct par API REST.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59999" y="12060000"/>
            <a:ext cx="6263999" cy="8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9999" y="12060000"/>
            <a:ext cx="6263999" cy="396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8000" bIns="18000"/>
          <a:lstStyle/>
          <a:p>
            <a:pPr algn="l"/>
            <a:r>
              <a:rPr sz="1400" b="1">
                <a:solidFill>
                  <a:srgbClr val="93C5FD"/>
                </a:solidFill>
                <a:latin typeface="Arial"/>
              </a:rPr>
              <a:t>2.2  •  </a:t>
            </a:r>
            <a:r>
              <a:rPr sz="1400" b="1">
                <a:solidFill>
                  <a:srgbClr val="FFFFFF"/>
                </a:solidFill>
                <a:latin typeface="Arial"/>
              </a:rPr>
              <a:t>DÉTECTION SPATIALE DES ZONES CLÉS (YOLOV8)</a:t>
            </a:r>
          </a:p>
        </p:txBody>
      </p:sp>
      <p:pic>
        <p:nvPicPr>
          <p:cNvPr id="34" name="Picture 33" descr="r4p_fig2_t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8736" y="12528000"/>
            <a:ext cx="5606524" cy="5400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75999" y="18000000"/>
            <a:ext cx="5831999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2340"/>
                </a:solidFill>
                <a:latin typeface="Arial"/>
              </a:rPr>
              <a:t>Détection instantanée par réseau YOLOv8 sur un plan DMPC</a:t>
            </a:r>
          </a:p>
          <a:p>
            <a:pPr algn="l">
              <a:spcBef>
                <a:spcPts val="15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•  Localisation en moins de 150 ms des cartouches et parcelles mères/filles.</a:t>
            </a:r>
          </a:p>
          <a:p>
            <a:pPr algn="l">
              <a:spcBef>
                <a:spcPts val="15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•  Insensibilité aux variations d'échelle, de cadrage et aux rotations légères.</a:t>
            </a:r>
          </a:p>
          <a:p>
            <a:pPr algn="l">
              <a:spcBef>
                <a:spcPts val="15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•  Découpage immédiat des imagettes pour les modules OCR et HTR.</a:t>
            </a:r>
          </a:p>
          <a:p>
            <a:pPr algn="l">
              <a:spcBef>
                <a:spcPts val="15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•  Plan régulier sans échelle graphique, orientation Nord en tête.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59999" y="20700000"/>
            <a:ext cx="6263999" cy="7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59999" y="20700000"/>
            <a:ext cx="6263999" cy="396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8000" bIns="18000"/>
          <a:lstStyle/>
          <a:p>
            <a:pPr algn="l"/>
            <a:r>
              <a:rPr sz="1400" b="1">
                <a:solidFill>
                  <a:srgbClr val="93C5FD"/>
                </a:solidFill>
                <a:latin typeface="Arial"/>
              </a:rPr>
              <a:t>2.3  •  </a:t>
            </a:r>
            <a:r>
              <a:rPr sz="1400" b="1">
                <a:solidFill>
                  <a:srgbClr val="FFFFFF"/>
                </a:solidFill>
                <a:latin typeface="Arial"/>
              </a:rPr>
              <a:t>EXÉCUTION SOUVERAINE ET MATRICE DÉCISIONNELLE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5999" y="21168000"/>
            <a:ext cx="5831999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Arial"/>
              </a:rPr>
              <a:t>•  Indépendance technologique : Zéro flux réseau externe : secret professionnel garanti.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0C2340"/>
                </a:solidFill>
                <a:latin typeface="Arial"/>
              </a:rPr>
              <a:t>•  Parc bureautique standard : Exécution fluide sur processeurs CPU existants sans GPU dédié.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0C2340"/>
                </a:solidFill>
                <a:latin typeface="Arial"/>
              </a:rPr>
              <a:t>•  Temps de calcul optimisé : Moins de 4 secondes de traitement automatique par document.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5999" y="23040000"/>
            <a:ext cx="5831999" cy="104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72000"/>
          <a:lstStyle/>
          <a:p>
            <a:pPr algn="l"/>
            <a:r>
              <a:rPr sz="1000" b="1">
                <a:solidFill>
                  <a:srgbClr val="0C2340"/>
                </a:solidFill>
                <a:latin typeface="Arial"/>
              </a:rPr>
              <a:t>YOLOv8 Nano  •  120 ms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F172A"/>
                </a:solidFill>
                <a:latin typeface="Arial"/>
              </a:rPr>
              <a:t>Segmentation spatiale des cartouches et parcelles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5999" y="24192000"/>
            <a:ext cx="5831999" cy="104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72000"/>
          <a:lstStyle/>
          <a:p>
            <a:pPr algn="l"/>
            <a:r>
              <a:rPr sz="1000" b="1">
                <a:solidFill>
                  <a:srgbClr val="1B4587"/>
                </a:solidFill>
                <a:latin typeface="Arial"/>
              </a:rPr>
              <a:t>Tesseract &amp; TrOCR  •  350 ms à 1,8 s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F172A"/>
                </a:solidFill>
                <a:latin typeface="Arial"/>
              </a:rPr>
              <a:t>Lecture hybride imprimé (dactylo) et manuscrit (plume)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5999" y="25344000"/>
            <a:ext cx="5831999" cy="104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72000"/>
          <a:lstStyle/>
          <a:p>
            <a:pPr algn="l"/>
            <a:r>
              <a:rPr sz="1000" b="1">
                <a:solidFill>
                  <a:srgbClr val="0F766E"/>
                </a:solidFill>
                <a:latin typeface="Arial"/>
              </a:rPr>
              <a:t>GLiNER Multi-v2.1  •  280 ms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F172A"/>
                </a:solidFill>
                <a:latin typeface="Arial"/>
              </a:rPr>
              <a:t>Extraction d'entités ciblées (commune, date, géomètre)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5999" y="26496000"/>
            <a:ext cx="5831999" cy="104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72000"/>
          <a:lstStyle/>
          <a:p>
            <a:pPr algn="l"/>
            <a:r>
              <a:rPr sz="1000" b="1">
                <a:solidFill>
                  <a:srgbClr val="6B21A8"/>
                </a:solidFill>
                <a:latin typeface="Arial"/>
              </a:rPr>
              <a:t>LLaVA 7B (Ollama)  •  4 à 8 s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F172A"/>
                </a:solidFill>
                <a:latin typeface="Arial"/>
              </a:rPr>
              <a:t>Arbitrage contextuel en secours (activé sur &lt; 15 % des cas)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471998" y="4140000"/>
            <a:ext cx="6263999" cy="7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471998" y="4140000"/>
            <a:ext cx="6263999" cy="396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8000" bIns="18000"/>
          <a:lstStyle/>
          <a:p>
            <a:pPr algn="l"/>
            <a:r>
              <a:rPr sz="1400" b="1">
                <a:solidFill>
                  <a:srgbClr val="93C5FD"/>
                </a:solidFill>
                <a:latin typeface="Arial"/>
              </a:rPr>
              <a:t>3.1  •  </a:t>
            </a:r>
            <a:r>
              <a:rPr sz="1400" b="1">
                <a:solidFill>
                  <a:srgbClr val="FFFFFF"/>
                </a:solidFill>
                <a:latin typeface="Arial"/>
              </a:rPr>
              <a:t>SUPERVISION HUMAINE ET PUBLICATION GÉOFONCIER</a:t>
            </a:r>
          </a:p>
        </p:txBody>
      </p:sp>
      <p:pic>
        <p:nvPicPr>
          <p:cNvPr id="45" name="Picture 44" descr="interface_hau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73434" y="4608000"/>
            <a:ext cx="5261126" cy="2592000"/>
          </a:xfrm>
          <a:prstGeom prst="rect">
            <a:avLst/>
          </a:prstGeom>
        </p:spPr>
      </p:pic>
      <p:pic>
        <p:nvPicPr>
          <p:cNvPr id="46" name="Picture 45" descr="Chap2_pastilles_enhance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36898" y="7308000"/>
            <a:ext cx="5134198" cy="2232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687998" y="9612000"/>
            <a:ext cx="5831999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rial"/>
              </a:rPr>
              <a:t>Poste opérateur Streamlit et publication sur Géofoncier</a:t>
            </a:r>
          </a:p>
          <a:p>
            <a:pPr algn="l">
              <a:spcBef>
                <a:spcPts val="150"/>
              </a:spcBef>
            </a:pPr>
            <a:r>
              <a:rPr sz="919" b="0">
                <a:solidFill>
                  <a:srgbClr val="0F172A"/>
                </a:solidFill>
                <a:latin typeface="Arial"/>
              </a:rPr>
              <a:t>•  L'IA préremplit le formulaire interactif à partir des détections du plan.</a:t>
            </a:r>
          </a:p>
          <a:p>
            <a:pPr algn="l">
              <a:spcBef>
                <a:spcPts val="150"/>
              </a:spcBef>
            </a:pPr>
            <a:r>
              <a:rPr sz="919" b="0">
                <a:solidFill>
                  <a:srgbClr val="0F172A"/>
                </a:solidFill>
                <a:latin typeface="Arial"/>
              </a:rPr>
              <a:t>•  Le géomètre-expert contrôle visuellement et valide en un clic.</a:t>
            </a:r>
          </a:p>
          <a:p>
            <a:pPr algn="l">
              <a:spcBef>
                <a:spcPts val="150"/>
              </a:spcBef>
            </a:pPr>
            <a:r>
              <a:rPr sz="919" b="0">
                <a:solidFill>
                  <a:srgbClr val="0F172A"/>
                </a:solidFill>
                <a:latin typeface="Arial"/>
              </a:rPr>
              <a:t>•  Envoi direct par API REST et pastille immédiatement active sur la carte.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471998" y="12060000"/>
            <a:ext cx="6263999" cy="8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471998" y="12060000"/>
            <a:ext cx="6263999" cy="396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8000" bIns="18000"/>
          <a:lstStyle/>
          <a:p>
            <a:pPr algn="l"/>
            <a:r>
              <a:rPr sz="1400" b="1">
                <a:solidFill>
                  <a:srgbClr val="93C5FD"/>
                </a:solidFill>
                <a:latin typeface="Arial"/>
              </a:rPr>
              <a:t>3.2  •  </a:t>
            </a:r>
            <a:r>
              <a:rPr sz="1400" b="1">
                <a:solidFill>
                  <a:srgbClr val="FFFFFF"/>
                </a:solidFill>
                <a:latin typeface="Arial"/>
              </a:rPr>
              <a:t>PERFORMANCES MESURÉES ET GAINS OPÉRATIONNELS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687998" y="12528000"/>
            <a:ext cx="5831999" cy="2304000"/>
          </a:xfrm>
          <a:prstGeom prst="rect">
            <a:avLst/>
          </a:prstGeom>
          <a:solidFill>
            <a:srgbClr val="F0FDF4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759998" y="12636000"/>
            <a:ext cx="5687999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F766E"/>
                </a:solidFill>
                <a:latin typeface="Arial"/>
              </a:rPr>
              <a:t>&lt; 1 min 30 s</a:t>
            </a:r>
          </a:p>
          <a:p>
            <a:pPr algn="ctr"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DURÉE TOTALE PAR DOSSIER VALIDÉ</a:t>
            </a:r>
          </a:p>
          <a:p>
            <a:pPr algn="ctr">
              <a:spcBef>
                <a:spcPts val="100"/>
              </a:spcBef>
            </a:pPr>
            <a:r>
              <a:rPr sz="900" b="0">
                <a:solidFill>
                  <a:srgbClr val="475569"/>
                </a:solidFill>
                <a:latin typeface="Arial"/>
              </a:rPr>
              <a:t>Temps unitaire divisé par 10 (vs 15 à 20 minutes en saisie manuelle).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687998" y="15048000"/>
            <a:ext cx="5831999" cy="2304000"/>
          </a:xfrm>
          <a:prstGeom prst="rect">
            <a:avLst/>
          </a:prstGeom>
          <a:solidFill>
            <a:srgbClr val="F1F5F9"/>
          </a:solidFill>
          <a:ln w="1524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759998" y="15156000"/>
            <a:ext cx="5687999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C2340"/>
                </a:solidFill>
                <a:latin typeface="Arial"/>
              </a:rPr>
              <a:t>88,0 %</a:t>
            </a:r>
          </a:p>
          <a:p>
            <a:pPr algn="ctr"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SCORE F1 SUR LES COMMUNES &amp; CODES INSEE</a:t>
            </a:r>
          </a:p>
          <a:p>
            <a:pPr algn="ctr">
              <a:spcBef>
                <a:spcPts val="100"/>
              </a:spcBef>
            </a:pPr>
            <a:r>
              <a:rPr sz="900" b="0">
                <a:solidFill>
                  <a:srgbClr val="475569"/>
                </a:solidFill>
                <a:latin typeface="Arial"/>
              </a:rPr>
              <a:t>Exactitude élevée via appariement flou Levenshtein sur les bases officielles.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687998" y="17568000"/>
            <a:ext cx="5831999" cy="2304000"/>
          </a:xfrm>
          <a:prstGeom prst="rect">
            <a:avLst/>
          </a:prstGeom>
          <a:solidFill>
            <a:srgbClr val="EFF6FF"/>
          </a:solidFill>
          <a:ln w="15240">
            <a:solidFill>
              <a:srgbClr val="1B4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759998" y="17676000"/>
            <a:ext cx="5687999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B4587"/>
                </a:solidFill>
                <a:latin typeface="Arial"/>
              </a:rPr>
              <a:t>100 % Local</a:t>
            </a:r>
          </a:p>
          <a:p>
            <a:pPr algn="ctr"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SOUVERAINETÉ ET SECRET PROFESSIONNEL</a:t>
            </a:r>
          </a:p>
          <a:p>
            <a:pPr algn="ctr">
              <a:spcBef>
                <a:spcPts val="100"/>
              </a:spcBef>
            </a:pPr>
            <a:r>
              <a:rPr sz="900" b="0">
                <a:solidFill>
                  <a:srgbClr val="475569"/>
                </a:solidFill>
                <a:latin typeface="Arial"/>
              </a:rPr>
              <a:t>Aucune donnée transmise vers l'extérieur, zéro dépendance cloud.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471998" y="20700000"/>
            <a:ext cx="6263999" cy="7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4471998" y="20700000"/>
            <a:ext cx="6263999" cy="396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8000" bIns="18000"/>
          <a:lstStyle/>
          <a:p>
            <a:pPr algn="l"/>
            <a:r>
              <a:rPr sz="1400" b="1">
                <a:solidFill>
                  <a:srgbClr val="93C5FD"/>
                </a:solidFill>
                <a:latin typeface="Arial"/>
              </a:rPr>
              <a:t>3.3  •  </a:t>
            </a:r>
            <a:r>
              <a:rPr sz="1400" b="1">
                <a:solidFill>
                  <a:srgbClr val="FFFFFF"/>
                </a:solidFill>
                <a:latin typeface="Arial"/>
              </a:rPr>
              <a:t>IMPACT INDUSTRIEL ET BOUCLE D'APPRENTISSAGE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87998" y="21168000"/>
            <a:ext cx="5831999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C2340"/>
                </a:solidFill>
                <a:latin typeface="Arial"/>
              </a:rPr>
              <a:t>•  Déploiement sur 4 agences : Aubenas (siège), Pierrelatte, Vallon-Pont-d'Arc, Guilherand-Granges.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0C2340"/>
                </a:solidFill>
                <a:latin typeface="Arial"/>
              </a:rPr>
              <a:t>•  Réactivation du patrimoine dormant : Accès immédiat aux dossiers historiques pour les équipes terrain.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0C2340"/>
                </a:solidFill>
                <a:latin typeface="Arial"/>
              </a:rPr>
              <a:t>•  Rentabilité et pérennité : Solution souveraine sans abonnement, maîtrise intégrale du code source.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0C2340"/>
                </a:solidFill>
                <a:latin typeface="Arial"/>
              </a:rPr>
              <a:t>•  Transposition à la profession : Méthodologie reproductible pour tout cabinet de géomètre-expert.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687998" y="23148000"/>
            <a:ext cx="5831999" cy="4536000"/>
          </a:xfrm>
          <a:prstGeom prst="rect">
            <a:avLst/>
          </a:prstGeom>
          <a:solidFill>
            <a:srgbClr val="F0FDF4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050" b="1">
                <a:solidFill>
                  <a:srgbClr val="0F766E"/>
                </a:solidFill>
                <a:latin typeface="Arial"/>
              </a:rPr>
              <a:t>BOUCLE D'APPRENTISSAGE ACTIF (ACTIVE LEARNING)</a:t>
            </a:r>
          </a:p>
          <a:p>
            <a:pPr algn="l">
              <a:spcBef>
                <a:spcPts val="300"/>
              </a:spcBef>
            </a:pPr>
            <a:r>
              <a:rPr sz="980" b="1">
                <a:solidFill>
                  <a:srgbClr val="0C2340"/>
                </a:solidFill>
                <a:latin typeface="Arial"/>
              </a:rPr>
              <a:t>1. Prédiction &amp; Extraction</a:t>
            </a:r>
          </a:p>
          <a:p>
            <a:pPr algn="l">
              <a:spcBef>
                <a:spcPts val="100"/>
              </a:spcBef>
            </a:pPr>
            <a:r>
              <a:rPr sz="880" b="0">
                <a:solidFill>
                  <a:srgbClr val="0F172A"/>
                </a:solidFill>
                <a:latin typeface="Arial"/>
              </a:rPr>
              <a:t>→ YOLOv8 et GLiNER analysent automatiquement le document scanné.</a:t>
            </a:r>
          </a:p>
          <a:p>
            <a:pPr algn="l">
              <a:spcBef>
                <a:spcPts val="300"/>
              </a:spcBef>
            </a:pPr>
            <a:r>
              <a:rPr sz="980" b="1">
                <a:solidFill>
                  <a:srgbClr val="0C2340"/>
                </a:solidFill>
                <a:latin typeface="Arial"/>
              </a:rPr>
              <a:t>2. Validation Opérateur</a:t>
            </a:r>
          </a:p>
          <a:p>
            <a:pPr algn="l">
              <a:spcBef>
                <a:spcPts val="100"/>
              </a:spcBef>
            </a:pPr>
            <a:r>
              <a:rPr sz="880" b="0">
                <a:solidFill>
                  <a:srgbClr val="0F172A"/>
                </a:solidFill>
                <a:latin typeface="Arial"/>
              </a:rPr>
              <a:t>→ Contrôle visuel sur Streamlit, ajustement manuel si nécessaire et validation en un clic.</a:t>
            </a:r>
          </a:p>
          <a:p>
            <a:pPr algn="l">
              <a:spcBef>
                <a:spcPts val="300"/>
              </a:spcBef>
            </a:pPr>
            <a:r>
              <a:rPr sz="980" b="1">
                <a:solidFill>
                  <a:srgbClr val="0C2340"/>
                </a:solidFill>
                <a:latin typeface="Arial"/>
              </a:rPr>
              <a:t>3. Collecte des Écarts</a:t>
            </a:r>
          </a:p>
          <a:p>
            <a:pPr algn="l">
              <a:spcBef>
                <a:spcPts val="100"/>
              </a:spcBef>
            </a:pPr>
            <a:r>
              <a:rPr sz="880" b="0">
                <a:solidFill>
                  <a:srgbClr val="0F172A"/>
                </a:solidFill>
                <a:latin typeface="Arial"/>
              </a:rPr>
              <a:t>→ Enregistrement local automatique des paires (image brute, correction validée).</a:t>
            </a:r>
          </a:p>
          <a:p>
            <a:pPr algn="l">
              <a:spcBef>
                <a:spcPts val="300"/>
              </a:spcBef>
            </a:pPr>
            <a:r>
              <a:rPr sz="980" b="1">
                <a:solidFill>
                  <a:srgbClr val="0C2340"/>
                </a:solidFill>
                <a:latin typeface="Arial"/>
              </a:rPr>
              <a:t>4. Réentraînement Incrémental</a:t>
            </a:r>
          </a:p>
          <a:p>
            <a:pPr algn="l">
              <a:spcBef>
                <a:spcPts val="100"/>
              </a:spcBef>
            </a:pPr>
            <a:r>
              <a:rPr sz="880" b="0">
                <a:solidFill>
                  <a:srgbClr val="0F172A"/>
                </a:solidFill>
                <a:latin typeface="Arial"/>
              </a:rPr>
              <a:t>→ Réajustement périodique des poids du modèle local sans coût d'annotation.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8000" y="28260000"/>
            <a:ext cx="20088000" cy="15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8000" y="28404000"/>
            <a:ext cx="1936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2340"/>
                </a:solidFill>
                <a:latin typeface="Arial"/>
              </a:rPr>
              <a:t>PROJET DE FIN D'ÉTUDES INGÉNIEUR  •  DÉPARTEMENT GÉNIE TOPOGRAPHIQUE  •  INSA STRASBOURG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75569"/>
                </a:solidFill>
                <a:latin typeface="Arial"/>
              </a:rPr>
              <a:t>Travaux réalisés au sein du Cabinet GEO-SIAPP (Aubenas, Ardèche)  •  Sous la direction de M. Gaëtan HAGUE (GEO-SIAPP) et M. Mathieu KOEHL (INSA Strasbourg)</a:t>
            </a:r>
          </a:p>
          <a:p>
            <a:pPr algn="ctr">
              <a:spcBef>
                <a:spcPts val="200"/>
              </a:spcBef>
            </a:pPr>
            <a:r>
              <a:rPr sz="880" b="0">
                <a:solidFill>
                  <a:srgbClr val="475569"/>
                </a:solidFill>
                <a:latin typeface="Arial"/>
              </a:rPr>
              <a:t>Conformité stricte aux exigences de l'Ordre des Géomètres-Experts (OGE) et aux spécifications techniques de la plateforme nationale Géofoncier  •  Session de soutenance : 8 septembre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