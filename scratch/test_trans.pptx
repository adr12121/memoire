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88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2000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NSAStrasbour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360000"/>
            <a:ext cx="1620000" cy="454299"/>
          </a:xfrm>
          <a:prstGeom prst="rect">
            <a:avLst/>
          </a:prstGeom>
        </p:spPr>
      </p:pic>
      <p:pic>
        <p:nvPicPr>
          <p:cNvPr id="6" name="Picture 5" descr="Geosiap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00" y="5940000"/>
            <a:ext cx="510779" cy="50399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0000" y="1872000"/>
            <a:ext cx="1296000" cy="30600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43200"/>
          <a:lstStyle/>
          <a:p>
            <a:pPr algn="ctr"/>
            <a:r>
              <a:rPr sz="1150" b="1">
                <a:solidFill>
                  <a:srgbClr val="BAE6FD"/>
                </a:solidFill>
                <a:latin typeface="Calibri"/>
              </a:rPr>
              <a:t>PARTIE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2268000"/>
            <a:ext cx="3060000" cy="13680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sz="88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3816000"/>
            <a:ext cx="1440000" cy="216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0000" y="3960000"/>
            <a:ext cx="2880000" cy="5400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sz="1250" b="1">
                <a:solidFill>
                  <a:srgbClr val="94A3B8"/>
                </a:solidFill>
                <a:latin typeface="Calibri"/>
              </a:rPr>
              <a:t>Soutenance PFE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64748B"/>
                </a:solidFill>
                <a:latin typeface="Calibri"/>
              </a:rPr>
              <a:t>GEO-SIAPP · INSA Strasbourg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88000" y="540000"/>
            <a:ext cx="18000" cy="5760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0000" y="648000"/>
            <a:ext cx="7333200" cy="1152000"/>
          </a:xfrm>
          <a:prstGeom prst="rect">
            <a:avLst/>
          </a:prstGeom>
          <a:noFill/>
        </p:spPr>
        <p:txBody>
          <a:bodyPr wrap="square" tIns="0">
            <a:spAutoFit/>
          </a:bodyPr>
          <a:lstStyle/>
          <a:p>
            <a:r>
              <a:rPr sz="1100" b="1">
                <a:solidFill>
                  <a:srgbClr val="0284C7"/>
                </a:solidFill>
                <a:latin typeface="Calibri"/>
              </a:rPr>
              <a:t>SOMMAIRE DE LA PARTIE</a:t>
            </a:r>
          </a:p>
          <a:p>
            <a:pPr>
              <a:spcBef>
                <a:spcPts val="400"/>
              </a:spcBef>
            </a:pPr>
            <a:r>
              <a:rPr sz="2300" b="1">
                <a:solidFill>
                  <a:srgbClr val="0F172A"/>
                </a:solidFill>
                <a:latin typeface="Calibri"/>
              </a:rPr>
              <a:t>Contexte métier &amp; Cadre juridique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64748B"/>
                </a:solidFill>
                <a:latin typeface="Calibri"/>
              </a:rPr>
              <a:t>Cabinet GEO-SIAPP, fonds d'archives et obligations de la profession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0" y="1728000"/>
            <a:ext cx="7333200" cy="144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20000" y="1908000"/>
            <a:ext cx="7333200" cy="79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0000" y="1908000"/>
            <a:ext cx="125999" cy="792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1999" y="2124000"/>
            <a:ext cx="360000" cy="360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432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11999" y="1962000"/>
            <a:ext cx="6433200" cy="684000"/>
          </a:xfrm>
          <a:prstGeom prst="rect">
            <a:avLst/>
          </a:prstGeom>
          <a:noFill/>
        </p:spPr>
        <p:txBody>
          <a:bodyPr wrap="square" tIns="118800">
            <a:spAutoFit/>
          </a:bodyPr>
          <a:lstStyle/>
          <a:p>
            <a:r>
              <a:rPr sz="1300" b="1">
                <a:solidFill>
                  <a:srgbClr val="1E293B"/>
                </a:solidFill>
                <a:latin typeface="Calibri"/>
              </a:rPr>
              <a:t>Structure d'accueil : </a:t>
            </a:r>
            <a:r>
              <a:rPr sz="1250">
                <a:solidFill>
                  <a:srgbClr val="64748B"/>
                </a:solidFill>
                <a:latin typeface="Calibri"/>
              </a:rPr>
              <a:t>le Cabinet GEO-SIAPP et ses 4 agences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0000" y="2825999"/>
            <a:ext cx="7333200" cy="79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20000" y="2825999"/>
            <a:ext cx="125999" cy="792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1999" y="3041999"/>
            <a:ext cx="360000" cy="360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432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11999" y="2879999"/>
            <a:ext cx="6433200" cy="684000"/>
          </a:xfrm>
          <a:prstGeom prst="rect">
            <a:avLst/>
          </a:prstGeom>
          <a:noFill/>
        </p:spPr>
        <p:txBody>
          <a:bodyPr wrap="square" tIns="118800">
            <a:spAutoFit/>
          </a:bodyPr>
          <a:lstStyle/>
          <a:p>
            <a:r>
              <a:rPr sz="1300" b="1">
                <a:solidFill>
                  <a:srgbClr val="1E293B"/>
                </a:solidFill>
                <a:latin typeface="Calibri"/>
              </a:rPr>
              <a:t>Cadre juridique : </a:t>
            </a:r>
            <a:r>
              <a:rPr sz="1250">
                <a:solidFill>
                  <a:srgbClr val="64748B"/>
                </a:solidFill>
                <a:latin typeface="Calibri"/>
              </a:rPr>
              <a:t>Article 646 et obligation de recherche des antériorités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0000" y="3743998"/>
            <a:ext cx="7333200" cy="79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20000" y="3743998"/>
            <a:ext cx="125999" cy="792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571999" y="3959998"/>
            <a:ext cx="360000" cy="360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432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11999" y="3797998"/>
            <a:ext cx="6433200" cy="684000"/>
          </a:xfrm>
          <a:prstGeom prst="rect">
            <a:avLst/>
          </a:prstGeom>
          <a:noFill/>
        </p:spPr>
        <p:txBody>
          <a:bodyPr wrap="square" tIns="118800">
            <a:spAutoFit/>
          </a:bodyPr>
          <a:lstStyle/>
          <a:p>
            <a:r>
              <a:rPr sz="1300" b="1">
                <a:solidFill>
                  <a:srgbClr val="1E293B"/>
                </a:solidFill>
                <a:latin typeface="Calibri"/>
              </a:rPr>
              <a:t>Réalité du fonds : </a:t>
            </a:r>
            <a:r>
              <a:rPr sz="1250">
                <a:solidFill>
                  <a:srgbClr val="64748B"/>
                </a:solidFill>
                <a:latin typeface="Calibri"/>
              </a:rPr>
              <a:t>23 600 dossiers papier de 1959 à 2007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20000" y="4661997"/>
            <a:ext cx="7333200" cy="79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20000" y="4661997"/>
            <a:ext cx="125999" cy="792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571999" y="4877997"/>
            <a:ext cx="360000" cy="3600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4320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11999" y="4715997"/>
            <a:ext cx="6433200" cy="684000"/>
          </a:xfrm>
          <a:prstGeom prst="rect">
            <a:avLst/>
          </a:prstGeom>
          <a:noFill/>
        </p:spPr>
        <p:txBody>
          <a:bodyPr wrap="square" tIns="118800">
            <a:spAutoFit/>
          </a:bodyPr>
          <a:lstStyle/>
          <a:p>
            <a:r>
              <a:rPr sz="1300" b="1">
                <a:solidFill>
                  <a:srgbClr val="1E293B"/>
                </a:solidFill>
                <a:latin typeface="Calibri"/>
              </a:rPr>
              <a:t>Le portail Géofoncier et l'enjeu du versement rétrospectif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00000" y="6588000"/>
            <a:ext cx="1260000" cy="19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>
                <a:solidFill>
                  <a:srgbClr val="64748B"/>
                </a:solidFill>
                <a:latin typeface="Calibri"/>
              </a:rPr>
              <a:t>4 / 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