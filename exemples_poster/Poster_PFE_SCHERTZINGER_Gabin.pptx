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Lst>
  <p:sldSz cx="21383625" cy="3027521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FF0000"/>
    <a:srgbClr val="5F5F61"/>
    <a:srgbClr val="ECECE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7" autoAdjust="0"/>
    <p:restoredTop sz="94660"/>
  </p:normalViewPr>
  <p:slideViewPr>
    <p:cSldViewPr snapToGrid="0">
      <p:cViewPr>
        <p:scale>
          <a:sx n="33" d="100"/>
          <a:sy n="33" d="100"/>
        </p:scale>
        <p:origin x="6534" y="29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603772" y="4954765"/>
            <a:ext cx="18176081" cy="10540259"/>
          </a:xfrm>
        </p:spPr>
        <p:txBody>
          <a:bodyPr anchor="b"/>
          <a:lstStyle>
            <a:lvl1pPr algn="ctr">
              <a:defRPr sz="14031"/>
            </a:lvl1pPr>
          </a:lstStyle>
          <a:p>
            <a:r>
              <a:rPr lang="fr-FR"/>
              <a:t>Modifiez le style du titre</a:t>
            </a:r>
            <a:endParaRPr lang="en-US" dirty="0"/>
          </a:p>
        </p:txBody>
      </p:sp>
      <p:sp>
        <p:nvSpPr>
          <p:cNvPr id="3" name="Subtitle 2"/>
          <p:cNvSpPr>
            <a:spLocks noGrp="1"/>
          </p:cNvSpPr>
          <p:nvPr>
            <p:ph type="subTitle" idx="1"/>
          </p:nvPr>
        </p:nvSpPr>
        <p:spPr>
          <a:xfrm>
            <a:off x="2672953" y="15901497"/>
            <a:ext cx="16037719" cy="7309499"/>
          </a:xfrm>
        </p:spPr>
        <p:txBody>
          <a:bodyPr/>
          <a:lstStyle>
            <a:lvl1pPr marL="0" indent="0" algn="ctr">
              <a:buNone/>
              <a:defRPr sz="5612"/>
            </a:lvl1pPr>
            <a:lvl2pPr marL="1069162" indent="0" algn="ctr">
              <a:buNone/>
              <a:defRPr sz="4677"/>
            </a:lvl2pPr>
            <a:lvl3pPr marL="2138324" indent="0" algn="ctr">
              <a:buNone/>
              <a:defRPr sz="4209"/>
            </a:lvl3pPr>
            <a:lvl4pPr marL="3207487" indent="0" algn="ctr">
              <a:buNone/>
              <a:defRPr sz="3742"/>
            </a:lvl4pPr>
            <a:lvl5pPr marL="4276649" indent="0" algn="ctr">
              <a:buNone/>
              <a:defRPr sz="3742"/>
            </a:lvl5pPr>
            <a:lvl6pPr marL="5345811" indent="0" algn="ctr">
              <a:buNone/>
              <a:defRPr sz="3742"/>
            </a:lvl6pPr>
            <a:lvl7pPr marL="6414973" indent="0" algn="ctr">
              <a:buNone/>
              <a:defRPr sz="3742"/>
            </a:lvl7pPr>
            <a:lvl8pPr marL="7484135" indent="0" algn="ctr">
              <a:buNone/>
              <a:defRPr sz="3742"/>
            </a:lvl8pPr>
            <a:lvl9pPr marL="8553298" indent="0" algn="ctr">
              <a:buNone/>
              <a:defRPr sz="3742"/>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8E902837-0648-4C78-B908-73ED0AE9F674}" type="datetimeFigureOut">
              <a:rPr lang="fr-FR" smtClean="0"/>
              <a:t>02/09/2026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A3FFB455-42C7-445B-AA1F-E9561F81BA5F}" type="slidenum">
              <a:rPr lang="fr-FR" smtClean="0"/>
              <a:t>‹N°›</a:t>
            </a:fld>
            <a:endParaRPr lang="fr-FR"/>
          </a:p>
        </p:txBody>
      </p:sp>
    </p:spTree>
    <p:extLst>
      <p:ext uri="{BB962C8B-B14F-4D97-AF65-F5344CB8AC3E}">
        <p14:creationId xmlns:p14="http://schemas.microsoft.com/office/powerpoint/2010/main" val="2480849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8E902837-0648-4C78-B908-73ED0AE9F674}" type="datetimeFigureOut">
              <a:rPr lang="fr-FR" smtClean="0"/>
              <a:t>02/09/2026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A3FFB455-42C7-445B-AA1F-E9561F81BA5F}" type="slidenum">
              <a:rPr lang="fr-FR" smtClean="0"/>
              <a:t>‹N°›</a:t>
            </a:fld>
            <a:endParaRPr lang="fr-FR"/>
          </a:p>
        </p:txBody>
      </p:sp>
    </p:spTree>
    <p:extLst>
      <p:ext uri="{BB962C8B-B14F-4D97-AF65-F5344CB8AC3E}">
        <p14:creationId xmlns:p14="http://schemas.microsoft.com/office/powerpoint/2010/main" val="31783106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1458988" y="7547788"/>
            <a:ext cx="18443377" cy="12593645"/>
          </a:xfrm>
        </p:spPr>
        <p:txBody>
          <a:bodyPr anchor="b"/>
          <a:lstStyle>
            <a:lvl1pPr>
              <a:defRPr sz="14031"/>
            </a:lvl1pPr>
          </a:lstStyle>
          <a:p>
            <a:r>
              <a:rPr lang="fr-FR"/>
              <a:t>Modifiez le style du titre</a:t>
            </a:r>
            <a:endParaRPr lang="en-US" dirty="0"/>
          </a:p>
        </p:txBody>
      </p:sp>
      <p:sp>
        <p:nvSpPr>
          <p:cNvPr id="3" name="Text Placeholder 2"/>
          <p:cNvSpPr>
            <a:spLocks noGrp="1"/>
          </p:cNvSpPr>
          <p:nvPr>
            <p:ph type="body" idx="1"/>
          </p:nvPr>
        </p:nvSpPr>
        <p:spPr>
          <a:xfrm>
            <a:off x="1458988" y="20260574"/>
            <a:ext cx="18443377" cy="6622701"/>
          </a:xfrm>
        </p:spPr>
        <p:txBody>
          <a:bodyPr/>
          <a:lstStyle>
            <a:lvl1pPr marL="0" indent="0">
              <a:buNone/>
              <a:defRPr sz="5612">
                <a:solidFill>
                  <a:schemeClr val="tx1">
                    <a:tint val="82000"/>
                  </a:schemeClr>
                </a:solidFill>
              </a:defRPr>
            </a:lvl1pPr>
            <a:lvl2pPr marL="1069162" indent="0">
              <a:buNone/>
              <a:defRPr sz="4677">
                <a:solidFill>
                  <a:schemeClr val="tx1">
                    <a:tint val="82000"/>
                  </a:schemeClr>
                </a:solidFill>
              </a:defRPr>
            </a:lvl2pPr>
            <a:lvl3pPr marL="2138324" indent="0">
              <a:buNone/>
              <a:defRPr sz="4209">
                <a:solidFill>
                  <a:schemeClr val="tx1">
                    <a:tint val="82000"/>
                  </a:schemeClr>
                </a:solidFill>
              </a:defRPr>
            </a:lvl3pPr>
            <a:lvl4pPr marL="3207487" indent="0">
              <a:buNone/>
              <a:defRPr sz="3742">
                <a:solidFill>
                  <a:schemeClr val="tx1">
                    <a:tint val="82000"/>
                  </a:schemeClr>
                </a:solidFill>
              </a:defRPr>
            </a:lvl4pPr>
            <a:lvl5pPr marL="4276649" indent="0">
              <a:buNone/>
              <a:defRPr sz="3742">
                <a:solidFill>
                  <a:schemeClr val="tx1">
                    <a:tint val="82000"/>
                  </a:schemeClr>
                </a:solidFill>
              </a:defRPr>
            </a:lvl5pPr>
            <a:lvl6pPr marL="5345811" indent="0">
              <a:buNone/>
              <a:defRPr sz="3742">
                <a:solidFill>
                  <a:schemeClr val="tx1">
                    <a:tint val="82000"/>
                  </a:schemeClr>
                </a:solidFill>
              </a:defRPr>
            </a:lvl6pPr>
            <a:lvl7pPr marL="6414973" indent="0">
              <a:buNone/>
              <a:defRPr sz="3742">
                <a:solidFill>
                  <a:schemeClr val="tx1">
                    <a:tint val="82000"/>
                  </a:schemeClr>
                </a:solidFill>
              </a:defRPr>
            </a:lvl7pPr>
            <a:lvl8pPr marL="7484135" indent="0">
              <a:buNone/>
              <a:defRPr sz="3742">
                <a:solidFill>
                  <a:schemeClr val="tx1">
                    <a:tint val="82000"/>
                  </a:schemeClr>
                </a:solidFill>
              </a:defRPr>
            </a:lvl8pPr>
            <a:lvl9pPr marL="8553298" indent="0">
              <a:buNone/>
              <a:defRPr sz="3742">
                <a:solidFill>
                  <a:schemeClr val="tx1">
                    <a:tint val="82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8E902837-0648-4C78-B908-73ED0AE9F674}" type="datetimeFigureOut">
              <a:rPr lang="fr-FR" smtClean="0"/>
              <a:t>02/09/2026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A3FFB455-42C7-445B-AA1F-E9561F81BA5F}" type="slidenum">
              <a:rPr lang="fr-FR" smtClean="0"/>
              <a:t>‹N°›</a:t>
            </a:fld>
            <a:endParaRPr lang="fr-FR"/>
          </a:p>
        </p:txBody>
      </p:sp>
    </p:spTree>
    <p:extLst>
      <p:ext uri="{BB962C8B-B14F-4D97-AF65-F5344CB8AC3E}">
        <p14:creationId xmlns:p14="http://schemas.microsoft.com/office/powerpoint/2010/main" val="23229471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1470124" y="8059374"/>
            <a:ext cx="9088041" cy="19209345"/>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10825460" y="8059374"/>
            <a:ext cx="9088041" cy="19209345"/>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8E902837-0648-4C78-B908-73ED0AE9F674}" type="datetimeFigureOut">
              <a:rPr lang="fr-FR" smtClean="0"/>
              <a:t>02/09/2026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A3FFB455-42C7-445B-AA1F-E9561F81BA5F}" type="slidenum">
              <a:rPr lang="fr-FR" smtClean="0"/>
              <a:t>‹N°›</a:t>
            </a:fld>
            <a:endParaRPr lang="fr-FR"/>
          </a:p>
        </p:txBody>
      </p:sp>
    </p:spTree>
    <p:extLst>
      <p:ext uri="{BB962C8B-B14F-4D97-AF65-F5344CB8AC3E}">
        <p14:creationId xmlns:p14="http://schemas.microsoft.com/office/powerpoint/2010/main" val="17532470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1472909" y="1611882"/>
            <a:ext cx="18443377" cy="5851808"/>
          </a:xfrm>
        </p:spPr>
        <p:txBody>
          <a:bodyPr/>
          <a:lstStyle/>
          <a:p>
            <a:r>
              <a:rPr lang="fr-FR"/>
              <a:t>Modifiez le style du titre</a:t>
            </a:r>
            <a:endParaRPr lang="en-US" dirty="0"/>
          </a:p>
        </p:txBody>
      </p:sp>
      <p:sp>
        <p:nvSpPr>
          <p:cNvPr id="3" name="Text Placeholder 2"/>
          <p:cNvSpPr>
            <a:spLocks noGrp="1"/>
          </p:cNvSpPr>
          <p:nvPr>
            <p:ph type="body" idx="1"/>
          </p:nvPr>
        </p:nvSpPr>
        <p:spPr>
          <a:xfrm>
            <a:off x="1472912" y="7421634"/>
            <a:ext cx="9046274" cy="3637228"/>
          </a:xfrm>
        </p:spPr>
        <p:txBody>
          <a:bodyPr anchor="b"/>
          <a:lstStyle>
            <a:lvl1pPr marL="0" indent="0">
              <a:buNone/>
              <a:defRPr sz="5612" b="1"/>
            </a:lvl1pPr>
            <a:lvl2pPr marL="1069162" indent="0">
              <a:buNone/>
              <a:defRPr sz="4677" b="1"/>
            </a:lvl2pPr>
            <a:lvl3pPr marL="2138324" indent="0">
              <a:buNone/>
              <a:defRPr sz="4209" b="1"/>
            </a:lvl3pPr>
            <a:lvl4pPr marL="3207487" indent="0">
              <a:buNone/>
              <a:defRPr sz="3742" b="1"/>
            </a:lvl4pPr>
            <a:lvl5pPr marL="4276649" indent="0">
              <a:buNone/>
              <a:defRPr sz="3742" b="1"/>
            </a:lvl5pPr>
            <a:lvl6pPr marL="5345811" indent="0">
              <a:buNone/>
              <a:defRPr sz="3742" b="1"/>
            </a:lvl6pPr>
            <a:lvl7pPr marL="6414973" indent="0">
              <a:buNone/>
              <a:defRPr sz="3742" b="1"/>
            </a:lvl7pPr>
            <a:lvl8pPr marL="7484135" indent="0">
              <a:buNone/>
              <a:defRPr sz="3742" b="1"/>
            </a:lvl8pPr>
            <a:lvl9pPr marL="8553298" indent="0">
              <a:buNone/>
              <a:defRPr sz="3742" b="1"/>
            </a:lvl9pPr>
          </a:lstStyle>
          <a:p>
            <a:pPr lvl="0"/>
            <a:r>
              <a:rPr lang="fr-FR"/>
              <a:t>Cliquez pour modifier les styles du texte du masque</a:t>
            </a:r>
          </a:p>
        </p:txBody>
      </p:sp>
      <p:sp>
        <p:nvSpPr>
          <p:cNvPr id="4" name="Content Placeholder 3"/>
          <p:cNvSpPr>
            <a:spLocks noGrp="1"/>
          </p:cNvSpPr>
          <p:nvPr>
            <p:ph sz="half" idx="2"/>
          </p:nvPr>
        </p:nvSpPr>
        <p:spPr>
          <a:xfrm>
            <a:off x="1472912" y="11058863"/>
            <a:ext cx="9046274" cy="16265921"/>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10825461" y="7421634"/>
            <a:ext cx="9090826" cy="3637228"/>
          </a:xfrm>
        </p:spPr>
        <p:txBody>
          <a:bodyPr anchor="b"/>
          <a:lstStyle>
            <a:lvl1pPr marL="0" indent="0">
              <a:buNone/>
              <a:defRPr sz="5612" b="1"/>
            </a:lvl1pPr>
            <a:lvl2pPr marL="1069162" indent="0">
              <a:buNone/>
              <a:defRPr sz="4677" b="1"/>
            </a:lvl2pPr>
            <a:lvl3pPr marL="2138324" indent="0">
              <a:buNone/>
              <a:defRPr sz="4209" b="1"/>
            </a:lvl3pPr>
            <a:lvl4pPr marL="3207487" indent="0">
              <a:buNone/>
              <a:defRPr sz="3742" b="1"/>
            </a:lvl4pPr>
            <a:lvl5pPr marL="4276649" indent="0">
              <a:buNone/>
              <a:defRPr sz="3742" b="1"/>
            </a:lvl5pPr>
            <a:lvl6pPr marL="5345811" indent="0">
              <a:buNone/>
              <a:defRPr sz="3742" b="1"/>
            </a:lvl6pPr>
            <a:lvl7pPr marL="6414973" indent="0">
              <a:buNone/>
              <a:defRPr sz="3742" b="1"/>
            </a:lvl7pPr>
            <a:lvl8pPr marL="7484135" indent="0">
              <a:buNone/>
              <a:defRPr sz="3742" b="1"/>
            </a:lvl8pPr>
            <a:lvl9pPr marL="8553298" indent="0">
              <a:buNone/>
              <a:defRPr sz="3742" b="1"/>
            </a:lvl9pPr>
          </a:lstStyle>
          <a:p>
            <a:pPr lvl="0"/>
            <a:r>
              <a:rPr lang="fr-FR"/>
              <a:t>Cliquez pour modifier les styles du texte du masque</a:t>
            </a:r>
          </a:p>
        </p:txBody>
      </p:sp>
      <p:sp>
        <p:nvSpPr>
          <p:cNvPr id="6" name="Content Placeholder 5"/>
          <p:cNvSpPr>
            <a:spLocks noGrp="1"/>
          </p:cNvSpPr>
          <p:nvPr>
            <p:ph sz="quarter" idx="4"/>
          </p:nvPr>
        </p:nvSpPr>
        <p:spPr>
          <a:xfrm>
            <a:off x="10825461" y="11058863"/>
            <a:ext cx="9090826" cy="16265921"/>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8E902837-0648-4C78-B908-73ED0AE9F674}" type="datetimeFigureOut">
              <a:rPr lang="fr-FR" smtClean="0"/>
              <a:t>02/09/2026</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A3FFB455-42C7-445B-AA1F-E9561F81BA5F}" type="slidenum">
              <a:rPr lang="fr-FR" smtClean="0"/>
              <a:t>‹N°›</a:t>
            </a:fld>
            <a:endParaRPr lang="fr-FR"/>
          </a:p>
        </p:txBody>
      </p:sp>
    </p:spTree>
    <p:extLst>
      <p:ext uri="{BB962C8B-B14F-4D97-AF65-F5344CB8AC3E}">
        <p14:creationId xmlns:p14="http://schemas.microsoft.com/office/powerpoint/2010/main" val="11890534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8E902837-0648-4C78-B908-73ED0AE9F674}" type="datetimeFigureOut">
              <a:rPr lang="fr-FR" smtClean="0"/>
              <a:t>02/09/2026</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A3FFB455-42C7-445B-AA1F-E9561F81BA5F}" type="slidenum">
              <a:rPr lang="fr-FR" smtClean="0"/>
              <a:t>‹N°›</a:t>
            </a:fld>
            <a:endParaRPr lang="fr-FR"/>
          </a:p>
        </p:txBody>
      </p:sp>
    </p:spTree>
    <p:extLst>
      <p:ext uri="{BB962C8B-B14F-4D97-AF65-F5344CB8AC3E}">
        <p14:creationId xmlns:p14="http://schemas.microsoft.com/office/powerpoint/2010/main" val="29343027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902837-0648-4C78-B908-73ED0AE9F674}" type="datetimeFigureOut">
              <a:rPr lang="fr-FR" smtClean="0"/>
              <a:t>02/09/2026</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A3FFB455-42C7-445B-AA1F-E9561F81BA5F}" type="slidenum">
              <a:rPr lang="fr-FR" smtClean="0"/>
              <a:t>‹N°›</a:t>
            </a:fld>
            <a:endParaRPr lang="fr-FR"/>
          </a:p>
        </p:txBody>
      </p:sp>
    </p:spTree>
    <p:extLst>
      <p:ext uri="{BB962C8B-B14F-4D97-AF65-F5344CB8AC3E}">
        <p14:creationId xmlns:p14="http://schemas.microsoft.com/office/powerpoint/2010/main" val="17892203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472909" y="2018348"/>
            <a:ext cx="6896776" cy="7064216"/>
          </a:xfrm>
        </p:spPr>
        <p:txBody>
          <a:bodyPr anchor="b"/>
          <a:lstStyle>
            <a:lvl1pPr>
              <a:defRPr sz="7483"/>
            </a:lvl1pPr>
          </a:lstStyle>
          <a:p>
            <a:r>
              <a:rPr lang="fr-FR"/>
              <a:t>Modifiez le style du titre</a:t>
            </a:r>
            <a:endParaRPr lang="en-US" dirty="0"/>
          </a:p>
        </p:txBody>
      </p:sp>
      <p:sp>
        <p:nvSpPr>
          <p:cNvPr id="3" name="Content Placeholder 2"/>
          <p:cNvSpPr>
            <a:spLocks noGrp="1"/>
          </p:cNvSpPr>
          <p:nvPr>
            <p:ph idx="1"/>
          </p:nvPr>
        </p:nvSpPr>
        <p:spPr>
          <a:xfrm>
            <a:off x="9090826" y="4359077"/>
            <a:ext cx="10825460" cy="21515024"/>
          </a:xfrm>
        </p:spPr>
        <p:txBody>
          <a:bodyPr/>
          <a:lstStyle>
            <a:lvl1pPr>
              <a:defRPr sz="7483"/>
            </a:lvl1pPr>
            <a:lvl2pPr>
              <a:defRPr sz="6548"/>
            </a:lvl2pPr>
            <a:lvl3pPr>
              <a:defRPr sz="5612"/>
            </a:lvl3pPr>
            <a:lvl4pPr>
              <a:defRPr sz="4677"/>
            </a:lvl4pPr>
            <a:lvl5pPr>
              <a:defRPr sz="4677"/>
            </a:lvl5pPr>
            <a:lvl6pPr>
              <a:defRPr sz="4677"/>
            </a:lvl6pPr>
            <a:lvl7pPr>
              <a:defRPr sz="4677"/>
            </a:lvl7pPr>
            <a:lvl8pPr>
              <a:defRPr sz="4677"/>
            </a:lvl8pPr>
            <a:lvl9pPr>
              <a:defRPr sz="4677"/>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1472909" y="9082564"/>
            <a:ext cx="6896776" cy="16826573"/>
          </a:xfrm>
        </p:spPr>
        <p:txBody>
          <a:bodyPr/>
          <a:lstStyle>
            <a:lvl1pPr marL="0" indent="0">
              <a:buNone/>
              <a:defRPr sz="3742"/>
            </a:lvl1pPr>
            <a:lvl2pPr marL="1069162" indent="0">
              <a:buNone/>
              <a:defRPr sz="3274"/>
            </a:lvl2pPr>
            <a:lvl3pPr marL="2138324" indent="0">
              <a:buNone/>
              <a:defRPr sz="2806"/>
            </a:lvl3pPr>
            <a:lvl4pPr marL="3207487" indent="0">
              <a:buNone/>
              <a:defRPr sz="2339"/>
            </a:lvl4pPr>
            <a:lvl5pPr marL="4276649" indent="0">
              <a:buNone/>
              <a:defRPr sz="2339"/>
            </a:lvl5pPr>
            <a:lvl6pPr marL="5345811" indent="0">
              <a:buNone/>
              <a:defRPr sz="2339"/>
            </a:lvl6pPr>
            <a:lvl7pPr marL="6414973" indent="0">
              <a:buNone/>
              <a:defRPr sz="2339"/>
            </a:lvl7pPr>
            <a:lvl8pPr marL="7484135" indent="0">
              <a:buNone/>
              <a:defRPr sz="2339"/>
            </a:lvl8pPr>
            <a:lvl9pPr marL="8553298" indent="0">
              <a:buNone/>
              <a:defRPr sz="2339"/>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8E902837-0648-4C78-B908-73ED0AE9F674}" type="datetimeFigureOut">
              <a:rPr lang="fr-FR" smtClean="0"/>
              <a:t>02/09/2026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A3FFB455-42C7-445B-AA1F-E9561F81BA5F}" type="slidenum">
              <a:rPr lang="fr-FR" smtClean="0"/>
              <a:t>‹N°›</a:t>
            </a:fld>
            <a:endParaRPr lang="fr-FR"/>
          </a:p>
        </p:txBody>
      </p:sp>
    </p:spTree>
    <p:extLst>
      <p:ext uri="{BB962C8B-B14F-4D97-AF65-F5344CB8AC3E}">
        <p14:creationId xmlns:p14="http://schemas.microsoft.com/office/powerpoint/2010/main" val="35612152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472909" y="2018348"/>
            <a:ext cx="6896776" cy="7064216"/>
          </a:xfrm>
        </p:spPr>
        <p:txBody>
          <a:bodyPr anchor="b"/>
          <a:lstStyle>
            <a:lvl1pPr>
              <a:defRPr sz="7483"/>
            </a:lvl1pPr>
          </a:lstStyle>
          <a:p>
            <a:r>
              <a:rPr lang="fr-FR"/>
              <a:t>Modifiez le style du titre</a:t>
            </a:r>
            <a:endParaRPr lang="en-US" dirty="0"/>
          </a:p>
        </p:txBody>
      </p:sp>
      <p:sp>
        <p:nvSpPr>
          <p:cNvPr id="3" name="Picture Placeholder 2"/>
          <p:cNvSpPr>
            <a:spLocks noGrp="1" noChangeAspect="1"/>
          </p:cNvSpPr>
          <p:nvPr>
            <p:ph type="pic" idx="1"/>
          </p:nvPr>
        </p:nvSpPr>
        <p:spPr>
          <a:xfrm>
            <a:off x="9090826" y="4359077"/>
            <a:ext cx="10825460" cy="21515024"/>
          </a:xfrm>
        </p:spPr>
        <p:txBody>
          <a:bodyPr anchor="t"/>
          <a:lstStyle>
            <a:lvl1pPr marL="0" indent="0">
              <a:buNone/>
              <a:defRPr sz="7483"/>
            </a:lvl1pPr>
            <a:lvl2pPr marL="1069162" indent="0">
              <a:buNone/>
              <a:defRPr sz="6548"/>
            </a:lvl2pPr>
            <a:lvl3pPr marL="2138324" indent="0">
              <a:buNone/>
              <a:defRPr sz="5612"/>
            </a:lvl3pPr>
            <a:lvl4pPr marL="3207487" indent="0">
              <a:buNone/>
              <a:defRPr sz="4677"/>
            </a:lvl4pPr>
            <a:lvl5pPr marL="4276649" indent="0">
              <a:buNone/>
              <a:defRPr sz="4677"/>
            </a:lvl5pPr>
            <a:lvl6pPr marL="5345811" indent="0">
              <a:buNone/>
              <a:defRPr sz="4677"/>
            </a:lvl6pPr>
            <a:lvl7pPr marL="6414973" indent="0">
              <a:buNone/>
              <a:defRPr sz="4677"/>
            </a:lvl7pPr>
            <a:lvl8pPr marL="7484135" indent="0">
              <a:buNone/>
              <a:defRPr sz="4677"/>
            </a:lvl8pPr>
            <a:lvl9pPr marL="8553298" indent="0">
              <a:buNone/>
              <a:defRPr sz="4677"/>
            </a:lvl9pPr>
          </a:lstStyle>
          <a:p>
            <a:r>
              <a:rPr lang="fr-FR"/>
              <a:t>Cliquez sur l'icône pour ajouter une image</a:t>
            </a:r>
            <a:endParaRPr lang="en-US" dirty="0"/>
          </a:p>
        </p:txBody>
      </p:sp>
      <p:sp>
        <p:nvSpPr>
          <p:cNvPr id="4" name="Text Placeholder 3"/>
          <p:cNvSpPr>
            <a:spLocks noGrp="1"/>
          </p:cNvSpPr>
          <p:nvPr>
            <p:ph type="body" sz="half" idx="2"/>
          </p:nvPr>
        </p:nvSpPr>
        <p:spPr>
          <a:xfrm>
            <a:off x="1472909" y="9082564"/>
            <a:ext cx="6896776" cy="16826573"/>
          </a:xfrm>
        </p:spPr>
        <p:txBody>
          <a:bodyPr/>
          <a:lstStyle>
            <a:lvl1pPr marL="0" indent="0">
              <a:buNone/>
              <a:defRPr sz="3742"/>
            </a:lvl1pPr>
            <a:lvl2pPr marL="1069162" indent="0">
              <a:buNone/>
              <a:defRPr sz="3274"/>
            </a:lvl2pPr>
            <a:lvl3pPr marL="2138324" indent="0">
              <a:buNone/>
              <a:defRPr sz="2806"/>
            </a:lvl3pPr>
            <a:lvl4pPr marL="3207487" indent="0">
              <a:buNone/>
              <a:defRPr sz="2339"/>
            </a:lvl4pPr>
            <a:lvl5pPr marL="4276649" indent="0">
              <a:buNone/>
              <a:defRPr sz="2339"/>
            </a:lvl5pPr>
            <a:lvl6pPr marL="5345811" indent="0">
              <a:buNone/>
              <a:defRPr sz="2339"/>
            </a:lvl6pPr>
            <a:lvl7pPr marL="6414973" indent="0">
              <a:buNone/>
              <a:defRPr sz="2339"/>
            </a:lvl7pPr>
            <a:lvl8pPr marL="7484135" indent="0">
              <a:buNone/>
              <a:defRPr sz="2339"/>
            </a:lvl8pPr>
            <a:lvl9pPr marL="8553298" indent="0">
              <a:buNone/>
              <a:defRPr sz="2339"/>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8E902837-0648-4C78-B908-73ED0AE9F674}" type="datetimeFigureOut">
              <a:rPr lang="fr-FR" smtClean="0"/>
              <a:t>02/09/2026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A3FFB455-42C7-445B-AA1F-E9561F81BA5F}" type="slidenum">
              <a:rPr lang="fr-FR" smtClean="0"/>
              <a:t>‹N°›</a:t>
            </a:fld>
            <a:endParaRPr lang="fr-FR"/>
          </a:p>
        </p:txBody>
      </p:sp>
    </p:spTree>
    <p:extLst>
      <p:ext uri="{BB962C8B-B14F-4D97-AF65-F5344CB8AC3E}">
        <p14:creationId xmlns:p14="http://schemas.microsoft.com/office/powerpoint/2010/main" val="22972077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8E902837-0648-4C78-B908-73ED0AE9F674}" type="datetimeFigureOut">
              <a:rPr lang="fr-FR" smtClean="0"/>
              <a:t>02/09/2026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A3FFB455-42C7-445B-AA1F-E9561F81BA5F}" type="slidenum">
              <a:rPr lang="fr-FR" smtClean="0"/>
              <a:t>‹N°›</a:t>
            </a:fld>
            <a:endParaRPr lang="fr-FR"/>
          </a:p>
        </p:txBody>
      </p:sp>
    </p:spTree>
    <p:extLst>
      <p:ext uri="{BB962C8B-B14F-4D97-AF65-F5344CB8AC3E}">
        <p14:creationId xmlns:p14="http://schemas.microsoft.com/office/powerpoint/2010/main" val="28304471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302658" y="1611875"/>
            <a:ext cx="4610844" cy="25656844"/>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1470125" y="1611875"/>
            <a:ext cx="13565237" cy="25656844"/>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8E902837-0648-4C78-B908-73ED0AE9F674}" type="datetimeFigureOut">
              <a:rPr lang="fr-FR" smtClean="0"/>
              <a:t>02/09/2026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A3FFB455-42C7-445B-AA1F-E9561F81BA5F}" type="slidenum">
              <a:rPr lang="fr-FR" smtClean="0"/>
              <a:t>‹N°›</a:t>
            </a:fld>
            <a:endParaRPr lang="fr-FR"/>
          </a:p>
        </p:txBody>
      </p:sp>
    </p:spTree>
    <p:extLst>
      <p:ext uri="{BB962C8B-B14F-4D97-AF65-F5344CB8AC3E}">
        <p14:creationId xmlns:p14="http://schemas.microsoft.com/office/powerpoint/2010/main" val="15477869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70124" y="1611882"/>
            <a:ext cx="18443377" cy="5851808"/>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1470124" y="8059374"/>
            <a:ext cx="18443377" cy="19209345"/>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1470124" y="28060644"/>
            <a:ext cx="4811316" cy="1611875"/>
          </a:xfrm>
          <a:prstGeom prst="rect">
            <a:avLst/>
          </a:prstGeom>
        </p:spPr>
        <p:txBody>
          <a:bodyPr vert="horz" lIns="91440" tIns="45720" rIns="91440" bIns="45720" rtlCol="0" anchor="ctr"/>
          <a:lstStyle>
            <a:lvl1pPr algn="l">
              <a:defRPr sz="2806">
                <a:solidFill>
                  <a:schemeClr val="tx1">
                    <a:tint val="82000"/>
                  </a:schemeClr>
                </a:solidFill>
              </a:defRPr>
            </a:lvl1pPr>
          </a:lstStyle>
          <a:p>
            <a:fld id="{8E902837-0648-4C78-B908-73ED0AE9F674}" type="datetimeFigureOut">
              <a:rPr lang="fr-FR" smtClean="0"/>
              <a:t>02/09/2026</a:t>
            </a:fld>
            <a:endParaRPr lang="fr-FR"/>
          </a:p>
        </p:txBody>
      </p:sp>
      <p:sp>
        <p:nvSpPr>
          <p:cNvPr id="5" name="Footer Placeholder 4"/>
          <p:cNvSpPr>
            <a:spLocks noGrp="1"/>
          </p:cNvSpPr>
          <p:nvPr>
            <p:ph type="ftr" sz="quarter" idx="3"/>
          </p:nvPr>
        </p:nvSpPr>
        <p:spPr>
          <a:xfrm>
            <a:off x="7083326" y="28060644"/>
            <a:ext cx="7216973" cy="1611875"/>
          </a:xfrm>
          <a:prstGeom prst="rect">
            <a:avLst/>
          </a:prstGeom>
        </p:spPr>
        <p:txBody>
          <a:bodyPr vert="horz" lIns="91440" tIns="45720" rIns="91440" bIns="45720" rtlCol="0" anchor="ctr"/>
          <a:lstStyle>
            <a:lvl1pPr algn="ctr">
              <a:defRPr sz="2806">
                <a:solidFill>
                  <a:schemeClr val="tx1">
                    <a:tint val="82000"/>
                  </a:schemeClr>
                </a:solidFill>
              </a:defRPr>
            </a:lvl1pPr>
          </a:lstStyle>
          <a:p>
            <a:endParaRPr lang="fr-FR"/>
          </a:p>
        </p:txBody>
      </p:sp>
      <p:sp>
        <p:nvSpPr>
          <p:cNvPr id="6" name="Slide Number Placeholder 5"/>
          <p:cNvSpPr>
            <a:spLocks noGrp="1"/>
          </p:cNvSpPr>
          <p:nvPr>
            <p:ph type="sldNum" sz="quarter" idx="4"/>
          </p:nvPr>
        </p:nvSpPr>
        <p:spPr>
          <a:xfrm>
            <a:off x="15102185" y="28060644"/>
            <a:ext cx="4811316" cy="1611875"/>
          </a:xfrm>
          <a:prstGeom prst="rect">
            <a:avLst/>
          </a:prstGeom>
        </p:spPr>
        <p:txBody>
          <a:bodyPr vert="horz" lIns="91440" tIns="45720" rIns="91440" bIns="45720" rtlCol="0" anchor="ctr"/>
          <a:lstStyle>
            <a:lvl1pPr algn="r">
              <a:defRPr sz="2806">
                <a:solidFill>
                  <a:schemeClr val="tx1">
                    <a:tint val="82000"/>
                  </a:schemeClr>
                </a:solidFill>
              </a:defRPr>
            </a:lvl1pPr>
          </a:lstStyle>
          <a:p>
            <a:fld id="{A3FFB455-42C7-445B-AA1F-E9561F81BA5F}" type="slidenum">
              <a:rPr lang="fr-FR" smtClean="0"/>
              <a:t>‹N°›</a:t>
            </a:fld>
            <a:endParaRPr lang="fr-FR"/>
          </a:p>
        </p:txBody>
      </p:sp>
    </p:spTree>
    <p:extLst>
      <p:ext uri="{BB962C8B-B14F-4D97-AF65-F5344CB8AC3E}">
        <p14:creationId xmlns:p14="http://schemas.microsoft.com/office/powerpoint/2010/main" val="129634022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2138324" rtl="0" eaLnBrk="1" latinLnBrk="0" hangingPunct="1">
        <a:lnSpc>
          <a:spcPct val="90000"/>
        </a:lnSpc>
        <a:spcBef>
          <a:spcPct val="0"/>
        </a:spcBef>
        <a:buNone/>
        <a:defRPr sz="10289" kern="1200">
          <a:solidFill>
            <a:schemeClr val="tx1"/>
          </a:solidFill>
          <a:latin typeface="+mj-lt"/>
          <a:ea typeface="+mj-ea"/>
          <a:cs typeface="+mj-cs"/>
        </a:defRPr>
      </a:lvl1pPr>
    </p:titleStyle>
    <p:bodyStyle>
      <a:lvl1pPr marL="534581" indent="-534581" algn="l" defTabSz="2138324" rtl="0" eaLnBrk="1" latinLnBrk="0" hangingPunct="1">
        <a:lnSpc>
          <a:spcPct val="90000"/>
        </a:lnSpc>
        <a:spcBef>
          <a:spcPts val="2339"/>
        </a:spcBef>
        <a:buFont typeface="Arial" panose="020B0604020202020204" pitchFamily="34" charset="0"/>
        <a:buChar char="•"/>
        <a:defRPr sz="6548" kern="1200">
          <a:solidFill>
            <a:schemeClr val="tx1"/>
          </a:solidFill>
          <a:latin typeface="+mn-lt"/>
          <a:ea typeface="+mn-ea"/>
          <a:cs typeface="+mn-cs"/>
        </a:defRPr>
      </a:lvl1pPr>
      <a:lvl2pPr marL="1603743" indent="-534581" algn="l" defTabSz="2138324" rtl="0" eaLnBrk="1" latinLnBrk="0" hangingPunct="1">
        <a:lnSpc>
          <a:spcPct val="90000"/>
        </a:lnSpc>
        <a:spcBef>
          <a:spcPts val="1169"/>
        </a:spcBef>
        <a:buFont typeface="Arial" panose="020B0604020202020204" pitchFamily="34" charset="0"/>
        <a:buChar char="•"/>
        <a:defRPr sz="5612" kern="1200">
          <a:solidFill>
            <a:schemeClr val="tx1"/>
          </a:solidFill>
          <a:latin typeface="+mn-lt"/>
          <a:ea typeface="+mn-ea"/>
          <a:cs typeface="+mn-cs"/>
        </a:defRPr>
      </a:lvl2pPr>
      <a:lvl3pPr marL="2672906" indent="-534581" algn="l" defTabSz="2138324" rtl="0" eaLnBrk="1" latinLnBrk="0" hangingPunct="1">
        <a:lnSpc>
          <a:spcPct val="90000"/>
        </a:lnSpc>
        <a:spcBef>
          <a:spcPts val="1169"/>
        </a:spcBef>
        <a:buFont typeface="Arial" panose="020B0604020202020204" pitchFamily="34" charset="0"/>
        <a:buChar char="•"/>
        <a:defRPr sz="4677" kern="1200">
          <a:solidFill>
            <a:schemeClr val="tx1"/>
          </a:solidFill>
          <a:latin typeface="+mn-lt"/>
          <a:ea typeface="+mn-ea"/>
          <a:cs typeface="+mn-cs"/>
        </a:defRPr>
      </a:lvl3pPr>
      <a:lvl4pPr marL="3742068"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4pPr>
      <a:lvl5pPr marL="4811230"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5pPr>
      <a:lvl6pPr marL="5880392"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6pPr>
      <a:lvl7pPr marL="6949554"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7pPr>
      <a:lvl8pPr marL="8018717"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8pPr>
      <a:lvl9pPr marL="9087879"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9pPr>
    </p:bodyStyle>
    <p:otherStyle>
      <a:defPPr>
        <a:defRPr lang="en-US"/>
      </a:defPPr>
      <a:lvl1pPr marL="0" algn="l" defTabSz="2138324" rtl="0" eaLnBrk="1" latinLnBrk="0" hangingPunct="1">
        <a:defRPr sz="4209" kern="1200">
          <a:solidFill>
            <a:schemeClr val="tx1"/>
          </a:solidFill>
          <a:latin typeface="+mn-lt"/>
          <a:ea typeface="+mn-ea"/>
          <a:cs typeface="+mn-cs"/>
        </a:defRPr>
      </a:lvl1pPr>
      <a:lvl2pPr marL="1069162" algn="l" defTabSz="2138324" rtl="0" eaLnBrk="1" latinLnBrk="0" hangingPunct="1">
        <a:defRPr sz="4209" kern="1200">
          <a:solidFill>
            <a:schemeClr val="tx1"/>
          </a:solidFill>
          <a:latin typeface="+mn-lt"/>
          <a:ea typeface="+mn-ea"/>
          <a:cs typeface="+mn-cs"/>
        </a:defRPr>
      </a:lvl2pPr>
      <a:lvl3pPr marL="2138324" algn="l" defTabSz="2138324" rtl="0" eaLnBrk="1" latinLnBrk="0" hangingPunct="1">
        <a:defRPr sz="4209" kern="1200">
          <a:solidFill>
            <a:schemeClr val="tx1"/>
          </a:solidFill>
          <a:latin typeface="+mn-lt"/>
          <a:ea typeface="+mn-ea"/>
          <a:cs typeface="+mn-cs"/>
        </a:defRPr>
      </a:lvl3pPr>
      <a:lvl4pPr marL="3207487" algn="l" defTabSz="2138324" rtl="0" eaLnBrk="1" latinLnBrk="0" hangingPunct="1">
        <a:defRPr sz="4209" kern="1200">
          <a:solidFill>
            <a:schemeClr val="tx1"/>
          </a:solidFill>
          <a:latin typeface="+mn-lt"/>
          <a:ea typeface="+mn-ea"/>
          <a:cs typeface="+mn-cs"/>
        </a:defRPr>
      </a:lvl4pPr>
      <a:lvl5pPr marL="4276649" algn="l" defTabSz="2138324" rtl="0" eaLnBrk="1" latinLnBrk="0" hangingPunct="1">
        <a:defRPr sz="4209" kern="1200">
          <a:solidFill>
            <a:schemeClr val="tx1"/>
          </a:solidFill>
          <a:latin typeface="+mn-lt"/>
          <a:ea typeface="+mn-ea"/>
          <a:cs typeface="+mn-cs"/>
        </a:defRPr>
      </a:lvl5pPr>
      <a:lvl6pPr marL="5345811" algn="l" defTabSz="2138324" rtl="0" eaLnBrk="1" latinLnBrk="0" hangingPunct="1">
        <a:defRPr sz="4209" kern="1200">
          <a:solidFill>
            <a:schemeClr val="tx1"/>
          </a:solidFill>
          <a:latin typeface="+mn-lt"/>
          <a:ea typeface="+mn-ea"/>
          <a:cs typeface="+mn-cs"/>
        </a:defRPr>
      </a:lvl6pPr>
      <a:lvl7pPr marL="6414973" algn="l" defTabSz="2138324" rtl="0" eaLnBrk="1" latinLnBrk="0" hangingPunct="1">
        <a:defRPr sz="4209" kern="1200">
          <a:solidFill>
            <a:schemeClr val="tx1"/>
          </a:solidFill>
          <a:latin typeface="+mn-lt"/>
          <a:ea typeface="+mn-ea"/>
          <a:cs typeface="+mn-cs"/>
        </a:defRPr>
      </a:lvl7pPr>
      <a:lvl8pPr marL="7484135" algn="l" defTabSz="2138324" rtl="0" eaLnBrk="1" latinLnBrk="0" hangingPunct="1">
        <a:defRPr sz="4209" kern="1200">
          <a:solidFill>
            <a:schemeClr val="tx1"/>
          </a:solidFill>
          <a:latin typeface="+mn-lt"/>
          <a:ea typeface="+mn-ea"/>
          <a:cs typeface="+mn-cs"/>
        </a:defRPr>
      </a:lvl8pPr>
      <a:lvl9pPr marL="8553298" algn="l" defTabSz="2138324" rtl="0" eaLnBrk="1" latinLnBrk="0" hangingPunct="1">
        <a:defRPr sz="420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BAA14CA-1223-0E89-D63D-3F3EEBE6D784}"/>
              </a:ext>
            </a:extLst>
          </p:cNvPr>
          <p:cNvSpPr/>
          <p:nvPr/>
        </p:nvSpPr>
        <p:spPr>
          <a:xfrm>
            <a:off x="12162" y="0"/>
            <a:ext cx="21384000" cy="1440000"/>
          </a:xfrm>
          <a:prstGeom prst="rect">
            <a:avLst/>
          </a:prstGeom>
          <a:solidFill>
            <a:srgbClr val="FF0000"/>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tx1"/>
                </a:solidFill>
                <a:latin typeface="Arial" panose="020B0604020202020204" pitchFamily="34" charset="0"/>
                <a:cs typeface="Arial" panose="020B0604020202020204" pitchFamily="34" charset="0"/>
              </a:rPr>
              <a:t>CREATION D’UN WORKFLOW D’ACQUISITION ET DE TRAITEMENT DE DONNEES LIDAR PROPRES POUR LES CALCULS DE MOUVEMENTS  DE TERRES</a:t>
            </a:r>
          </a:p>
        </p:txBody>
      </p:sp>
      <p:sp>
        <p:nvSpPr>
          <p:cNvPr id="8" name="Rectangle 7">
            <a:extLst>
              <a:ext uri="{FF2B5EF4-FFF2-40B4-BE49-F238E27FC236}">
                <a16:creationId xmlns:a16="http://schemas.microsoft.com/office/drawing/2014/main" id="{397FE42F-C37F-BF21-43CB-EF5BC6E50149}"/>
              </a:ext>
            </a:extLst>
          </p:cNvPr>
          <p:cNvSpPr/>
          <p:nvPr/>
        </p:nvSpPr>
        <p:spPr>
          <a:xfrm>
            <a:off x="-12537" y="1445900"/>
            <a:ext cx="21384000" cy="2160000"/>
          </a:xfrm>
          <a:prstGeom prst="rect">
            <a:avLst/>
          </a:prstGeom>
          <a:noFill/>
          <a:ln w="57150"/>
        </p:spPr>
        <p:style>
          <a:lnRef idx="2">
            <a:schemeClr val="dk1"/>
          </a:lnRef>
          <a:fillRef idx="1">
            <a:schemeClr val="lt1"/>
          </a:fillRef>
          <a:effectRef idx="0">
            <a:schemeClr val="dk1"/>
          </a:effectRef>
          <a:fontRef idx="minor">
            <a:schemeClr val="dk1"/>
          </a:fontRef>
        </p:style>
        <p:txBody>
          <a:bodyPr rtlCol="0" anchor="ctr"/>
          <a:lstStyle/>
          <a:p>
            <a:pPr algn="ctr"/>
            <a:endParaRPr lang="fr-FR" sz="1808"/>
          </a:p>
        </p:txBody>
      </p:sp>
      <p:sp>
        <p:nvSpPr>
          <p:cNvPr id="10" name="Rectangle 9">
            <a:extLst>
              <a:ext uri="{FF2B5EF4-FFF2-40B4-BE49-F238E27FC236}">
                <a16:creationId xmlns:a16="http://schemas.microsoft.com/office/drawing/2014/main" id="{A28291B7-7F3A-6B24-11C8-E005D0449A6E}"/>
              </a:ext>
            </a:extLst>
          </p:cNvPr>
          <p:cNvSpPr/>
          <p:nvPr/>
        </p:nvSpPr>
        <p:spPr>
          <a:xfrm>
            <a:off x="12162" y="1440000"/>
            <a:ext cx="9720000" cy="2171798"/>
          </a:xfrm>
          <a:prstGeom prst="rect">
            <a:avLst/>
          </a:prstGeom>
          <a:noFill/>
          <a:ln w="57150"/>
        </p:spPr>
        <p:style>
          <a:lnRef idx="2">
            <a:schemeClr val="dk1"/>
          </a:lnRef>
          <a:fillRef idx="1">
            <a:schemeClr val="lt1"/>
          </a:fillRef>
          <a:effectRef idx="0">
            <a:schemeClr val="dk1"/>
          </a:effectRef>
          <a:fontRef idx="minor">
            <a:schemeClr val="dk1"/>
          </a:fontRef>
        </p:style>
        <p:txBody>
          <a:bodyPr rtlCol="0" anchor="ctr"/>
          <a:lstStyle/>
          <a:p>
            <a:pPr algn="ctr"/>
            <a:endParaRPr lang="fr-FR" sz="1808"/>
          </a:p>
        </p:txBody>
      </p:sp>
      <p:pic>
        <p:nvPicPr>
          <p:cNvPr id="11" name="Image 10" descr="Logo Insa Strasbourg - Alsace Tech">
            <a:extLst>
              <a:ext uri="{FF2B5EF4-FFF2-40B4-BE49-F238E27FC236}">
                <a16:creationId xmlns:a16="http://schemas.microsoft.com/office/drawing/2014/main" id="{D9C9E6EF-E8A6-D073-09A1-9508964B3C61}"/>
              </a:ext>
            </a:extLst>
          </p:cNvPr>
          <p:cNvPicPr>
            <a:picLocks noChangeAspect="1"/>
          </p:cNvPicPr>
          <p:nvPr/>
        </p:nvPicPr>
        <p:blipFill>
          <a:blip r:embed="rId2"/>
          <a:stretch>
            <a:fillRect/>
          </a:stretch>
        </p:blipFill>
        <p:spPr>
          <a:xfrm>
            <a:off x="304799" y="1656311"/>
            <a:ext cx="4473108" cy="1254400"/>
          </a:xfrm>
          <a:prstGeom prst="rect">
            <a:avLst/>
          </a:prstGeom>
        </p:spPr>
      </p:pic>
      <p:pic>
        <p:nvPicPr>
          <p:cNvPr id="13" name="Image 12">
            <a:extLst>
              <a:ext uri="{FF2B5EF4-FFF2-40B4-BE49-F238E27FC236}">
                <a16:creationId xmlns:a16="http://schemas.microsoft.com/office/drawing/2014/main" id="{5C34E924-BFA8-C884-218E-08B0BC1731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59415" y="1625766"/>
            <a:ext cx="3905353" cy="1518689"/>
          </a:xfrm>
          <a:prstGeom prst="rect">
            <a:avLst/>
          </a:prstGeom>
        </p:spPr>
      </p:pic>
      <p:sp>
        <p:nvSpPr>
          <p:cNvPr id="14" name="Rectangle 13">
            <a:extLst>
              <a:ext uri="{FF2B5EF4-FFF2-40B4-BE49-F238E27FC236}">
                <a16:creationId xmlns:a16="http://schemas.microsoft.com/office/drawing/2014/main" id="{0968490F-82A9-BAD7-8732-8CD7F55B7ACD}"/>
              </a:ext>
            </a:extLst>
          </p:cNvPr>
          <p:cNvSpPr/>
          <p:nvPr/>
        </p:nvSpPr>
        <p:spPr>
          <a:xfrm>
            <a:off x="3514257" y="3042855"/>
            <a:ext cx="2527300" cy="342555"/>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Spécialité Topographie</a:t>
            </a:r>
          </a:p>
        </p:txBody>
      </p:sp>
      <p:sp>
        <p:nvSpPr>
          <p:cNvPr id="16" name="Rectangle 15">
            <a:extLst>
              <a:ext uri="{FF2B5EF4-FFF2-40B4-BE49-F238E27FC236}">
                <a16:creationId xmlns:a16="http://schemas.microsoft.com/office/drawing/2014/main" id="{49266970-676B-03C5-E9A8-410EF3BAE80E}"/>
              </a:ext>
            </a:extLst>
          </p:cNvPr>
          <p:cNvSpPr/>
          <p:nvPr/>
        </p:nvSpPr>
        <p:spPr>
          <a:xfrm>
            <a:off x="9732162" y="1439999"/>
            <a:ext cx="4680000" cy="2171799"/>
          </a:xfrm>
          <a:prstGeom prst="rect">
            <a:avLst/>
          </a:prstGeom>
          <a:noFill/>
          <a:ln w="57150"/>
        </p:spPr>
        <p:style>
          <a:lnRef idx="2">
            <a:schemeClr val="dk1"/>
          </a:lnRef>
          <a:fillRef idx="1">
            <a:schemeClr val="lt1"/>
          </a:fillRef>
          <a:effectRef idx="0">
            <a:schemeClr val="dk1"/>
          </a:effectRef>
          <a:fontRef idx="minor">
            <a:schemeClr val="dk1"/>
          </a:fontRef>
        </p:style>
        <p:txBody>
          <a:bodyPr rtlCol="0" anchor="ctr"/>
          <a:lstStyle/>
          <a:p>
            <a:pPr algn="ctr"/>
            <a:r>
              <a:rPr lang="fr-FR" sz="1808" b="1" dirty="0"/>
              <a:t>Collaboration avec l’entreprise : </a:t>
            </a:r>
          </a:p>
          <a:p>
            <a:pPr algn="ctr"/>
            <a:r>
              <a:rPr lang="fr-FR" sz="1808" dirty="0"/>
              <a:t>Eiffage Route, Agence de Réguisheim</a:t>
            </a:r>
          </a:p>
          <a:p>
            <a:pPr algn="ctr"/>
            <a:endParaRPr lang="fr-FR" sz="1808" dirty="0"/>
          </a:p>
          <a:p>
            <a:pPr algn="ctr"/>
            <a:r>
              <a:rPr lang="fr-FR" sz="1808" dirty="0">
                <a:solidFill>
                  <a:schemeClr val="bg2">
                    <a:lumMod val="50000"/>
                  </a:schemeClr>
                </a:solidFill>
              </a:rPr>
              <a:t>Lieu-dit </a:t>
            </a:r>
            <a:r>
              <a:rPr lang="fr-FR" sz="1808" dirty="0" err="1">
                <a:solidFill>
                  <a:schemeClr val="bg2">
                    <a:lumMod val="50000"/>
                  </a:schemeClr>
                </a:solidFill>
              </a:rPr>
              <a:t>Oberhardt</a:t>
            </a:r>
            <a:r>
              <a:rPr lang="fr-FR" sz="1808" dirty="0">
                <a:solidFill>
                  <a:schemeClr val="bg2">
                    <a:lumMod val="50000"/>
                  </a:schemeClr>
                </a:solidFill>
              </a:rPr>
              <a:t>, 68890 Réguisheim</a:t>
            </a:r>
          </a:p>
          <a:p>
            <a:pPr algn="ctr"/>
            <a:endParaRPr lang="fr-FR" sz="1808" dirty="0"/>
          </a:p>
          <a:p>
            <a:pPr algn="ctr"/>
            <a:r>
              <a:rPr lang="fr-FR" sz="1808" dirty="0"/>
              <a:t>Tél : +33627222486</a:t>
            </a:r>
          </a:p>
        </p:txBody>
      </p:sp>
      <p:sp>
        <p:nvSpPr>
          <p:cNvPr id="18" name="Rectangle 17">
            <a:extLst>
              <a:ext uri="{FF2B5EF4-FFF2-40B4-BE49-F238E27FC236}">
                <a16:creationId xmlns:a16="http://schemas.microsoft.com/office/drawing/2014/main" id="{A677510B-A9DF-B6EE-87A7-1BA65B9F6859}"/>
              </a:ext>
            </a:extLst>
          </p:cNvPr>
          <p:cNvSpPr/>
          <p:nvPr/>
        </p:nvSpPr>
        <p:spPr>
          <a:xfrm>
            <a:off x="14412162" y="1451800"/>
            <a:ext cx="4680000" cy="2160000"/>
          </a:xfrm>
          <a:prstGeom prst="rect">
            <a:avLst/>
          </a:prstGeom>
          <a:noFill/>
          <a:ln w="57150"/>
        </p:spPr>
        <p:style>
          <a:lnRef idx="2">
            <a:schemeClr val="dk1"/>
          </a:lnRef>
          <a:fillRef idx="1">
            <a:schemeClr val="lt1"/>
          </a:fillRef>
          <a:effectRef idx="0">
            <a:schemeClr val="dk1"/>
          </a:effectRef>
          <a:fontRef idx="minor">
            <a:schemeClr val="dk1"/>
          </a:fontRef>
        </p:style>
        <p:txBody>
          <a:bodyPr rtlCol="0" anchor="ctr"/>
          <a:lstStyle/>
          <a:p>
            <a:pPr algn="ctr"/>
            <a:r>
              <a:rPr lang="fr-FR" sz="1808" b="1" dirty="0"/>
              <a:t>Réalisé par : </a:t>
            </a:r>
            <a:r>
              <a:rPr lang="fr-FR" sz="1808" dirty="0"/>
              <a:t>Gabin SCHERTZINGER</a:t>
            </a:r>
          </a:p>
          <a:p>
            <a:pPr algn="ctr"/>
            <a:endParaRPr lang="fr-FR" sz="1808" dirty="0"/>
          </a:p>
          <a:p>
            <a:pPr algn="ctr"/>
            <a:r>
              <a:rPr lang="fr-FR" sz="1808" b="1" dirty="0"/>
              <a:t>Date de soutenance : </a:t>
            </a:r>
            <a:r>
              <a:rPr lang="fr-FR" sz="1808" dirty="0"/>
              <a:t>23/09/2026</a:t>
            </a:r>
          </a:p>
          <a:p>
            <a:pPr algn="ctr"/>
            <a:endParaRPr lang="fr-FR" sz="1808" b="1" dirty="0"/>
          </a:p>
          <a:p>
            <a:pPr algn="ctr"/>
            <a:r>
              <a:rPr lang="fr-FR" sz="1808" b="1" dirty="0"/>
              <a:t>Tuteur de PFE : </a:t>
            </a:r>
            <a:r>
              <a:rPr lang="fr-FR" sz="1808" dirty="0" err="1"/>
              <a:t>Mr.MALAN</a:t>
            </a:r>
            <a:r>
              <a:rPr lang="fr-FR" sz="1808" dirty="0"/>
              <a:t> Benjamin</a:t>
            </a:r>
          </a:p>
          <a:p>
            <a:pPr algn="ctr"/>
            <a:endParaRPr lang="fr-FR" sz="1808" b="1" dirty="0"/>
          </a:p>
          <a:p>
            <a:pPr algn="ctr"/>
            <a:r>
              <a:rPr lang="fr-FR" sz="1808" b="1" dirty="0"/>
              <a:t>Correcteur : </a:t>
            </a:r>
            <a:r>
              <a:rPr lang="fr-FR" sz="1808" dirty="0"/>
              <a:t>Mr. FERHAT Gilbert</a:t>
            </a:r>
            <a:endParaRPr lang="fr-FR" sz="1808" b="1" dirty="0"/>
          </a:p>
        </p:txBody>
      </p:sp>
      <p:pic>
        <p:nvPicPr>
          <p:cNvPr id="20" name="Image 19">
            <a:extLst>
              <a:ext uri="{FF2B5EF4-FFF2-40B4-BE49-F238E27FC236}">
                <a16:creationId xmlns:a16="http://schemas.microsoft.com/office/drawing/2014/main" id="{BE0FE7F8-7CA8-E20A-959D-6C5B8C004333}"/>
              </a:ext>
            </a:extLst>
          </p:cNvPr>
          <p:cNvPicPr>
            <a:picLocks noChangeAspect="1"/>
          </p:cNvPicPr>
          <p:nvPr/>
        </p:nvPicPr>
        <p:blipFill>
          <a:blip r:embed="rId4">
            <a:extLst>
              <a:ext uri="{28A0092B-C50C-407E-A947-70E740481C1C}">
                <a14:useLocalDpi xmlns:a14="http://schemas.microsoft.com/office/drawing/2010/main" val="0"/>
              </a:ext>
            </a:extLst>
          </a:blip>
          <a:srcRect l="20338" t="30097" r="52300" b="24662"/>
          <a:stretch>
            <a:fillRect/>
          </a:stretch>
        </p:blipFill>
        <p:spPr>
          <a:xfrm>
            <a:off x="19361132" y="1566117"/>
            <a:ext cx="1741360" cy="1907766"/>
          </a:xfrm>
          <a:prstGeom prst="rect">
            <a:avLst/>
          </a:prstGeom>
        </p:spPr>
      </p:pic>
      <p:sp>
        <p:nvSpPr>
          <p:cNvPr id="23" name="Rectangle 22">
            <a:extLst>
              <a:ext uri="{FF2B5EF4-FFF2-40B4-BE49-F238E27FC236}">
                <a16:creationId xmlns:a16="http://schemas.microsoft.com/office/drawing/2014/main" id="{1AFD2F82-85D0-3FF1-8D1A-F02ECD8B7989}"/>
              </a:ext>
            </a:extLst>
          </p:cNvPr>
          <p:cNvSpPr/>
          <p:nvPr/>
        </p:nvSpPr>
        <p:spPr>
          <a:xfrm>
            <a:off x="12161" y="3617699"/>
            <a:ext cx="21384000" cy="479345"/>
          </a:xfrm>
          <a:prstGeom prst="rect">
            <a:avLst/>
          </a:prstGeom>
          <a:noFill/>
          <a:ln w="57150"/>
        </p:spPr>
        <p:style>
          <a:lnRef idx="2">
            <a:schemeClr val="dk1"/>
          </a:lnRef>
          <a:fillRef idx="1">
            <a:schemeClr val="lt1"/>
          </a:fillRef>
          <a:effectRef idx="0">
            <a:schemeClr val="dk1"/>
          </a:effectRef>
          <a:fontRef idx="minor">
            <a:schemeClr val="dk1"/>
          </a:fontRef>
        </p:style>
        <p:txBody>
          <a:bodyPr rtlCol="0" anchor="ctr"/>
          <a:lstStyle/>
          <a:p>
            <a:pPr algn="ctr"/>
            <a:r>
              <a:rPr lang="fr-FR" sz="2800" b="1" i="1" dirty="0"/>
              <a:t>Mots-clés : </a:t>
            </a:r>
            <a:r>
              <a:rPr lang="fr-FR" sz="2800" i="1" dirty="0" err="1"/>
              <a:t>LiDAR</a:t>
            </a:r>
            <a:r>
              <a:rPr lang="fr-FR" sz="2800" i="1" dirty="0"/>
              <a:t> aéroporté, Workflow, Mouvements de terres, Classification, MNT, Nuages de points</a:t>
            </a:r>
          </a:p>
        </p:txBody>
      </p:sp>
      <p:sp>
        <p:nvSpPr>
          <p:cNvPr id="24" name="Rectangle 23">
            <a:extLst>
              <a:ext uri="{FF2B5EF4-FFF2-40B4-BE49-F238E27FC236}">
                <a16:creationId xmlns:a16="http://schemas.microsoft.com/office/drawing/2014/main" id="{65F47ADF-896F-181B-6556-45A0E815F7B8}"/>
              </a:ext>
            </a:extLst>
          </p:cNvPr>
          <p:cNvSpPr/>
          <p:nvPr/>
        </p:nvSpPr>
        <p:spPr>
          <a:xfrm>
            <a:off x="457199" y="9220505"/>
            <a:ext cx="10080000" cy="720000"/>
          </a:xfrm>
          <a:prstGeom prst="rect">
            <a:avLst/>
          </a:prstGeom>
          <a:solidFill>
            <a:srgbClr val="5F5F61"/>
          </a:solid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2800" dirty="0"/>
              <a:t>Technologie et fonctionnement</a:t>
            </a:r>
          </a:p>
        </p:txBody>
      </p:sp>
      <p:sp>
        <p:nvSpPr>
          <p:cNvPr id="28" name="Rectangle 27">
            <a:extLst>
              <a:ext uri="{FF2B5EF4-FFF2-40B4-BE49-F238E27FC236}">
                <a16:creationId xmlns:a16="http://schemas.microsoft.com/office/drawing/2014/main" id="{99DF61F6-AAE1-CAA5-8952-7AE503ED2EA2}"/>
              </a:ext>
            </a:extLst>
          </p:cNvPr>
          <p:cNvSpPr/>
          <p:nvPr/>
        </p:nvSpPr>
        <p:spPr>
          <a:xfrm>
            <a:off x="457199" y="9940505"/>
            <a:ext cx="10080000" cy="7380216"/>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fr-FR" dirty="0">
              <a:solidFill>
                <a:schemeClr val="tx1"/>
              </a:solidFill>
            </a:endParaRPr>
          </a:p>
        </p:txBody>
      </p:sp>
      <p:sp>
        <p:nvSpPr>
          <p:cNvPr id="30" name="Rectangle 29">
            <a:extLst>
              <a:ext uri="{FF2B5EF4-FFF2-40B4-BE49-F238E27FC236}">
                <a16:creationId xmlns:a16="http://schemas.microsoft.com/office/drawing/2014/main" id="{A0A016C7-9D21-3D53-BE13-33C5A3073877}"/>
              </a:ext>
            </a:extLst>
          </p:cNvPr>
          <p:cNvSpPr/>
          <p:nvPr/>
        </p:nvSpPr>
        <p:spPr>
          <a:xfrm>
            <a:off x="457199" y="4373976"/>
            <a:ext cx="10080000" cy="720000"/>
          </a:xfrm>
          <a:prstGeom prst="rect">
            <a:avLst/>
          </a:prstGeom>
          <a:solidFill>
            <a:srgbClr val="5F5F61"/>
          </a:solid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2800" dirty="0"/>
              <a:t>CONTEXTE ET OBJECTIFS DE L’ÉTUDE</a:t>
            </a:r>
          </a:p>
        </p:txBody>
      </p:sp>
      <p:sp>
        <p:nvSpPr>
          <p:cNvPr id="32" name="Rectangle 31">
            <a:extLst>
              <a:ext uri="{FF2B5EF4-FFF2-40B4-BE49-F238E27FC236}">
                <a16:creationId xmlns:a16="http://schemas.microsoft.com/office/drawing/2014/main" id="{209E38E0-3669-221C-C358-580A31DA740F}"/>
              </a:ext>
            </a:extLst>
          </p:cNvPr>
          <p:cNvSpPr/>
          <p:nvPr/>
        </p:nvSpPr>
        <p:spPr>
          <a:xfrm>
            <a:off x="457199" y="5092089"/>
            <a:ext cx="10080000" cy="3826989"/>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fr-FR" dirty="0">
                <a:solidFill>
                  <a:schemeClr val="tx1"/>
                </a:solidFill>
              </a:rPr>
              <a:t>Le calcul des </a:t>
            </a:r>
            <a:r>
              <a:rPr lang="fr-FR" b="1" dirty="0">
                <a:solidFill>
                  <a:schemeClr val="tx1"/>
                </a:solidFill>
              </a:rPr>
              <a:t>mouvements de terres </a:t>
            </a:r>
            <a:r>
              <a:rPr lang="fr-FR" dirty="0">
                <a:solidFill>
                  <a:schemeClr val="tx1"/>
                </a:solidFill>
              </a:rPr>
              <a:t>sur un chantier de terrassement représente </a:t>
            </a:r>
            <a:r>
              <a:rPr lang="fr-FR" b="1" dirty="0">
                <a:solidFill>
                  <a:schemeClr val="tx1"/>
                </a:solidFill>
              </a:rPr>
              <a:t>un vrai enjeu stratégique et financier </a:t>
            </a:r>
            <a:r>
              <a:rPr lang="fr-FR" dirty="0">
                <a:solidFill>
                  <a:schemeClr val="tx1"/>
                </a:solidFill>
              </a:rPr>
              <a:t>pour les entreprises de Travaux Publics. Dans ce contexte, les relevés topographiques traditionnels restent lents, physiquement exigeants et dangereux pour le géomètre.</a:t>
            </a:r>
          </a:p>
          <a:p>
            <a:pPr algn="just"/>
            <a:endParaRPr lang="fr-FR" dirty="0">
              <a:solidFill>
                <a:schemeClr val="tx1"/>
              </a:solidFill>
            </a:endParaRPr>
          </a:p>
          <a:p>
            <a:pPr algn="just"/>
            <a:r>
              <a:rPr lang="fr-FR" dirty="0">
                <a:solidFill>
                  <a:schemeClr val="tx1"/>
                </a:solidFill>
              </a:rPr>
              <a:t>L'agence de Réguisheim a ainsi investi dans </a:t>
            </a:r>
            <a:r>
              <a:rPr lang="fr-FR" b="1" dirty="0">
                <a:solidFill>
                  <a:schemeClr val="tx1"/>
                </a:solidFill>
              </a:rPr>
              <a:t>la photogrammétrie aéroportée </a:t>
            </a:r>
            <a:r>
              <a:rPr lang="fr-FR" dirty="0">
                <a:solidFill>
                  <a:schemeClr val="tx1"/>
                </a:solidFill>
              </a:rPr>
              <a:t>il y a quelques années, mais celle-ci reste limitée par un </a:t>
            </a:r>
            <a:r>
              <a:rPr lang="fr-FR" b="1" dirty="0">
                <a:solidFill>
                  <a:schemeClr val="tx1"/>
                </a:solidFill>
              </a:rPr>
              <a:t>temps de traitement important </a:t>
            </a:r>
            <a:r>
              <a:rPr lang="fr-FR" dirty="0">
                <a:solidFill>
                  <a:schemeClr val="tx1"/>
                </a:solidFill>
              </a:rPr>
              <a:t>et par sa </a:t>
            </a:r>
            <a:r>
              <a:rPr lang="fr-FR" b="1" dirty="0">
                <a:solidFill>
                  <a:schemeClr val="tx1"/>
                </a:solidFill>
              </a:rPr>
              <a:t>difficulté à restituer les zones sous couvert végétal</a:t>
            </a:r>
            <a:r>
              <a:rPr lang="fr-FR" dirty="0">
                <a:solidFill>
                  <a:schemeClr val="tx1"/>
                </a:solidFill>
              </a:rPr>
              <a:t>.</a:t>
            </a:r>
            <a:endParaRPr lang="fr-FR" b="1" dirty="0">
              <a:solidFill>
                <a:schemeClr val="tx1"/>
              </a:solidFill>
            </a:endParaRPr>
          </a:p>
          <a:p>
            <a:pPr algn="just"/>
            <a:endParaRPr lang="fr-FR" dirty="0">
              <a:solidFill>
                <a:schemeClr val="tx1"/>
              </a:solidFill>
            </a:endParaRPr>
          </a:p>
          <a:p>
            <a:pPr algn="just"/>
            <a:r>
              <a:rPr lang="fr-FR" dirty="0">
                <a:solidFill>
                  <a:schemeClr val="tx1"/>
                </a:solidFill>
              </a:rPr>
              <a:t>Pour répondre à ces nouveaux enjeux, la </a:t>
            </a:r>
            <a:r>
              <a:rPr lang="fr-FR" b="1" dirty="0">
                <a:solidFill>
                  <a:schemeClr val="tx1"/>
                </a:solidFill>
              </a:rPr>
              <a:t>technologie </a:t>
            </a:r>
            <a:r>
              <a:rPr lang="fr-FR" b="1" dirty="0" err="1">
                <a:solidFill>
                  <a:schemeClr val="tx1"/>
                </a:solidFill>
              </a:rPr>
              <a:t>LiDAR</a:t>
            </a:r>
            <a:r>
              <a:rPr lang="fr-FR" b="1" dirty="0">
                <a:solidFill>
                  <a:schemeClr val="tx1"/>
                </a:solidFill>
              </a:rPr>
              <a:t> </a:t>
            </a:r>
            <a:r>
              <a:rPr lang="fr-FR" dirty="0">
                <a:solidFill>
                  <a:schemeClr val="tx1"/>
                </a:solidFill>
              </a:rPr>
              <a:t>a été acquise afin de réaliser des </a:t>
            </a:r>
            <a:r>
              <a:rPr lang="fr-FR" b="1" dirty="0">
                <a:solidFill>
                  <a:schemeClr val="tx1"/>
                </a:solidFill>
              </a:rPr>
              <a:t>levés plus rapides et d'obtenir de meilleurs rendus</a:t>
            </a:r>
            <a:r>
              <a:rPr lang="fr-FR" dirty="0">
                <a:solidFill>
                  <a:schemeClr val="tx1"/>
                </a:solidFill>
              </a:rPr>
              <a:t>.</a:t>
            </a:r>
          </a:p>
          <a:p>
            <a:pPr algn="just"/>
            <a:r>
              <a:rPr lang="fr-FR" dirty="0">
                <a:solidFill>
                  <a:schemeClr val="tx1"/>
                </a:solidFill>
              </a:rPr>
              <a:t>Ce projet vise à implémenter cette technologie au travers d'une </a:t>
            </a:r>
            <a:r>
              <a:rPr lang="fr-FR" b="1" dirty="0">
                <a:solidFill>
                  <a:schemeClr val="tx1"/>
                </a:solidFill>
              </a:rPr>
              <a:t>chaîne de traitement viable</a:t>
            </a:r>
            <a:r>
              <a:rPr lang="fr-FR" dirty="0">
                <a:solidFill>
                  <a:schemeClr val="tx1"/>
                </a:solidFill>
              </a:rPr>
              <a:t>, </a:t>
            </a:r>
            <a:r>
              <a:rPr lang="fr-FR" b="1" dirty="0">
                <a:solidFill>
                  <a:schemeClr val="tx1"/>
                </a:solidFill>
              </a:rPr>
              <a:t>répondant aux contraintes de l'agence et compatible avec les logiciels métiers </a:t>
            </a:r>
            <a:r>
              <a:rPr lang="fr-FR" dirty="0">
                <a:solidFill>
                  <a:schemeClr val="tx1"/>
                </a:solidFill>
              </a:rPr>
              <a:t>des géomètres déjà en place.</a:t>
            </a:r>
          </a:p>
        </p:txBody>
      </p:sp>
      <p:sp>
        <p:nvSpPr>
          <p:cNvPr id="33" name="ZoneTexte 32">
            <a:extLst>
              <a:ext uri="{FF2B5EF4-FFF2-40B4-BE49-F238E27FC236}">
                <a16:creationId xmlns:a16="http://schemas.microsoft.com/office/drawing/2014/main" id="{10DE8B43-9A93-0531-A64E-250D8E023AAE}"/>
              </a:ext>
            </a:extLst>
          </p:cNvPr>
          <p:cNvSpPr txBox="1"/>
          <p:nvPr/>
        </p:nvSpPr>
        <p:spPr>
          <a:xfrm>
            <a:off x="640428" y="10075411"/>
            <a:ext cx="5747657" cy="646331"/>
          </a:xfrm>
          <a:prstGeom prst="rect">
            <a:avLst/>
          </a:prstGeom>
          <a:noFill/>
          <a:ln w="38100">
            <a:noFill/>
          </a:ln>
        </p:spPr>
        <p:txBody>
          <a:bodyPr wrap="square" numCol="1" rtlCol="0">
            <a:spAutoFit/>
          </a:bodyPr>
          <a:lstStyle/>
          <a:p>
            <a:pPr algn="ctr"/>
            <a:r>
              <a:rPr lang="fr-FR" b="1" dirty="0"/>
              <a:t>DJI Matrice 400 munit du capteur </a:t>
            </a:r>
            <a:r>
              <a:rPr lang="fr-FR" b="1" dirty="0" err="1"/>
              <a:t>LiDAR</a:t>
            </a:r>
            <a:r>
              <a:rPr lang="fr-FR" b="1" dirty="0"/>
              <a:t> </a:t>
            </a:r>
            <a:r>
              <a:rPr lang="fr-FR" b="1" dirty="0" err="1"/>
              <a:t>Zenmuse</a:t>
            </a:r>
            <a:r>
              <a:rPr lang="fr-FR" b="1" dirty="0"/>
              <a:t> L3 </a:t>
            </a:r>
          </a:p>
          <a:p>
            <a:pPr algn="ctr"/>
            <a:endParaRPr lang="fr-FR" dirty="0"/>
          </a:p>
        </p:txBody>
      </p:sp>
      <p:pic>
        <p:nvPicPr>
          <p:cNvPr id="36" name="Image 35">
            <a:extLst>
              <a:ext uri="{FF2B5EF4-FFF2-40B4-BE49-F238E27FC236}">
                <a16:creationId xmlns:a16="http://schemas.microsoft.com/office/drawing/2014/main" id="{9CC36144-816B-9B57-627E-170595789F8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25749" y="10075411"/>
            <a:ext cx="3806401" cy="3806401"/>
          </a:xfrm>
          <a:prstGeom prst="rect">
            <a:avLst/>
          </a:prstGeom>
        </p:spPr>
      </p:pic>
      <p:cxnSp>
        <p:nvCxnSpPr>
          <p:cNvPr id="40" name="Connecteur droit 39">
            <a:extLst>
              <a:ext uri="{FF2B5EF4-FFF2-40B4-BE49-F238E27FC236}">
                <a16:creationId xmlns:a16="http://schemas.microsoft.com/office/drawing/2014/main" id="{871B9274-A9BE-8EC0-A2A5-7AFDF0FFB27C}"/>
              </a:ext>
            </a:extLst>
          </p:cNvPr>
          <p:cNvCxnSpPr/>
          <p:nvPr/>
        </p:nvCxnSpPr>
        <p:spPr>
          <a:xfrm flipH="1">
            <a:off x="3383280" y="11978611"/>
            <a:ext cx="4625340" cy="3009128"/>
          </a:xfrm>
          <a:prstGeom prst="line">
            <a:avLst/>
          </a:prstGeom>
        </p:spPr>
        <p:style>
          <a:lnRef idx="2">
            <a:schemeClr val="accent1"/>
          </a:lnRef>
          <a:fillRef idx="0">
            <a:schemeClr val="accent1"/>
          </a:fillRef>
          <a:effectRef idx="1">
            <a:schemeClr val="accent1"/>
          </a:effectRef>
          <a:fontRef idx="minor">
            <a:schemeClr val="tx1"/>
          </a:fontRef>
        </p:style>
      </p:cxnSp>
      <p:sp>
        <p:nvSpPr>
          <p:cNvPr id="37" name="Rectangle 36">
            <a:extLst>
              <a:ext uri="{FF2B5EF4-FFF2-40B4-BE49-F238E27FC236}">
                <a16:creationId xmlns:a16="http://schemas.microsoft.com/office/drawing/2014/main" id="{640E1DC2-D4A7-42AB-9026-D9603DA3F0C2}"/>
              </a:ext>
            </a:extLst>
          </p:cNvPr>
          <p:cNvSpPr/>
          <p:nvPr/>
        </p:nvSpPr>
        <p:spPr>
          <a:xfrm>
            <a:off x="749299" y="10660505"/>
            <a:ext cx="5638786" cy="3009128"/>
          </a:xfrm>
          <a:prstGeom prst="rect">
            <a:avLst/>
          </a:prstGeom>
          <a:solidFill>
            <a:schemeClr val="bg1"/>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rPr>
              <a:t>Le </a:t>
            </a:r>
            <a:r>
              <a:rPr lang="fr-FR" b="1" dirty="0" err="1">
                <a:solidFill>
                  <a:schemeClr val="tx1"/>
                </a:solidFill>
              </a:rPr>
              <a:t>LiDAR</a:t>
            </a:r>
            <a:endParaRPr lang="fr-FR" b="1" dirty="0">
              <a:solidFill>
                <a:schemeClr val="tx1"/>
              </a:solidFill>
            </a:endParaRPr>
          </a:p>
          <a:p>
            <a:pPr algn="ctr"/>
            <a:endParaRPr lang="fr-FR" dirty="0">
              <a:solidFill>
                <a:schemeClr val="tx1"/>
              </a:solidFill>
            </a:endParaRPr>
          </a:p>
          <a:p>
            <a:pPr algn="just"/>
            <a:r>
              <a:rPr lang="fr-FR" dirty="0">
                <a:solidFill>
                  <a:schemeClr val="tx1"/>
                </a:solidFill>
              </a:rPr>
              <a:t>Le </a:t>
            </a:r>
            <a:r>
              <a:rPr lang="fr-FR" dirty="0" err="1">
                <a:solidFill>
                  <a:schemeClr val="tx1"/>
                </a:solidFill>
              </a:rPr>
              <a:t>LiDAR</a:t>
            </a:r>
            <a:r>
              <a:rPr lang="fr-FR" dirty="0">
                <a:solidFill>
                  <a:schemeClr val="tx1"/>
                </a:solidFill>
              </a:rPr>
              <a:t> mesure des distances en émettant des impulsions laser et en chronométrant leur aller-retour suite à la réflexion sur le sol. </a:t>
            </a:r>
          </a:p>
          <a:p>
            <a:pPr algn="just"/>
            <a:endParaRPr lang="fr-FR" dirty="0">
              <a:solidFill>
                <a:schemeClr val="tx1"/>
              </a:solidFill>
            </a:endParaRPr>
          </a:p>
          <a:p>
            <a:pPr algn="just"/>
            <a:r>
              <a:rPr lang="fr-FR" dirty="0">
                <a:solidFill>
                  <a:schemeClr val="tx1"/>
                </a:solidFill>
              </a:rPr>
              <a:t>Couplé à un GNSS/IMU embarqué sur le drone, chaque impulsion permet de calculer la position 3D exacte du point touché, générant un nuage de points dense du terrain survolé.</a:t>
            </a:r>
          </a:p>
        </p:txBody>
      </p:sp>
      <p:pic>
        <p:nvPicPr>
          <p:cNvPr id="42" name="Image 41">
            <a:extLst>
              <a:ext uri="{FF2B5EF4-FFF2-40B4-BE49-F238E27FC236}">
                <a16:creationId xmlns:a16="http://schemas.microsoft.com/office/drawing/2014/main" id="{FFCCF330-3C14-2532-AB6A-FEB75E900DA3}"/>
              </a:ext>
            </a:extLst>
          </p:cNvPr>
          <p:cNvPicPr>
            <a:picLocks noChangeAspect="1"/>
          </p:cNvPicPr>
          <p:nvPr/>
        </p:nvPicPr>
        <p:blipFill>
          <a:blip r:embed="rId6">
            <a:extLst>
              <a:ext uri="{28A0092B-C50C-407E-A947-70E740481C1C}">
                <a14:useLocalDpi xmlns:a14="http://schemas.microsoft.com/office/drawing/2010/main" val="0"/>
              </a:ext>
            </a:extLst>
          </a:blip>
          <a:srcRect l="2890" t="25693" r="2866" b="18065"/>
          <a:stretch>
            <a:fillRect/>
          </a:stretch>
        </p:blipFill>
        <p:spPr>
          <a:xfrm>
            <a:off x="5768546" y="14830611"/>
            <a:ext cx="4663604" cy="1489916"/>
          </a:xfrm>
          <a:prstGeom prst="rect">
            <a:avLst/>
          </a:prstGeom>
        </p:spPr>
      </p:pic>
      <p:sp>
        <p:nvSpPr>
          <p:cNvPr id="43" name="Flèche : droite 42">
            <a:extLst>
              <a:ext uri="{FF2B5EF4-FFF2-40B4-BE49-F238E27FC236}">
                <a16:creationId xmlns:a16="http://schemas.microsoft.com/office/drawing/2014/main" id="{76C1A2F8-F170-F8ED-70FC-7EFF2A1F5C9D}"/>
              </a:ext>
            </a:extLst>
          </p:cNvPr>
          <p:cNvSpPr/>
          <p:nvPr/>
        </p:nvSpPr>
        <p:spPr>
          <a:xfrm>
            <a:off x="5111277" y="15147759"/>
            <a:ext cx="478231" cy="487680"/>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fr-FR"/>
          </a:p>
        </p:txBody>
      </p:sp>
      <p:sp>
        <p:nvSpPr>
          <p:cNvPr id="45" name="Rectangle 44">
            <a:extLst>
              <a:ext uri="{FF2B5EF4-FFF2-40B4-BE49-F238E27FC236}">
                <a16:creationId xmlns:a16="http://schemas.microsoft.com/office/drawing/2014/main" id="{C85D9145-7C72-8F44-84A1-4A33117A92E5}"/>
              </a:ext>
            </a:extLst>
          </p:cNvPr>
          <p:cNvSpPr/>
          <p:nvPr/>
        </p:nvSpPr>
        <p:spPr>
          <a:xfrm>
            <a:off x="457199" y="17567713"/>
            <a:ext cx="10080000" cy="720000"/>
          </a:xfrm>
          <a:prstGeom prst="rect">
            <a:avLst/>
          </a:prstGeom>
          <a:solidFill>
            <a:srgbClr val="5F5F61"/>
          </a:solid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2800" dirty="0"/>
              <a:t>Exactitude et précision des données</a:t>
            </a:r>
          </a:p>
        </p:txBody>
      </p:sp>
      <p:sp>
        <p:nvSpPr>
          <p:cNvPr id="47" name="Rectangle 46">
            <a:extLst>
              <a:ext uri="{FF2B5EF4-FFF2-40B4-BE49-F238E27FC236}">
                <a16:creationId xmlns:a16="http://schemas.microsoft.com/office/drawing/2014/main" id="{416FA398-7900-8DD8-786A-080670447FB5}"/>
              </a:ext>
            </a:extLst>
          </p:cNvPr>
          <p:cNvSpPr/>
          <p:nvPr/>
        </p:nvSpPr>
        <p:spPr>
          <a:xfrm>
            <a:off x="457199" y="18287713"/>
            <a:ext cx="10080000" cy="8283422"/>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fr-FR" dirty="0">
              <a:solidFill>
                <a:schemeClr val="tx1"/>
              </a:solidFill>
            </a:endParaRPr>
          </a:p>
        </p:txBody>
      </p:sp>
      <p:sp>
        <p:nvSpPr>
          <p:cNvPr id="49" name="Rectangle 48">
            <a:extLst>
              <a:ext uri="{FF2B5EF4-FFF2-40B4-BE49-F238E27FC236}">
                <a16:creationId xmlns:a16="http://schemas.microsoft.com/office/drawing/2014/main" id="{7EC09D84-B211-26FA-7172-089521ED66A2}"/>
              </a:ext>
            </a:extLst>
          </p:cNvPr>
          <p:cNvSpPr/>
          <p:nvPr/>
        </p:nvSpPr>
        <p:spPr>
          <a:xfrm>
            <a:off x="10955352" y="18210275"/>
            <a:ext cx="10080000" cy="720000"/>
          </a:xfrm>
          <a:prstGeom prst="rect">
            <a:avLst/>
          </a:prstGeom>
          <a:solidFill>
            <a:srgbClr val="5F5F61"/>
          </a:solid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2800" dirty="0"/>
              <a:t>Applications opérationnelles</a:t>
            </a:r>
          </a:p>
        </p:txBody>
      </p:sp>
      <p:sp>
        <p:nvSpPr>
          <p:cNvPr id="51" name="Rectangle 50">
            <a:extLst>
              <a:ext uri="{FF2B5EF4-FFF2-40B4-BE49-F238E27FC236}">
                <a16:creationId xmlns:a16="http://schemas.microsoft.com/office/drawing/2014/main" id="{CA224A6D-DD8D-B30A-FF9A-64A37AF8DF58}"/>
              </a:ext>
            </a:extLst>
          </p:cNvPr>
          <p:cNvSpPr/>
          <p:nvPr/>
        </p:nvSpPr>
        <p:spPr>
          <a:xfrm>
            <a:off x="10955352" y="18928388"/>
            <a:ext cx="10080000" cy="2342700"/>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just">
              <a:buClr>
                <a:srgbClr val="FF0000"/>
              </a:buClr>
              <a:buFont typeface="Arial" panose="020B0604020202020204" pitchFamily="34" charset="0"/>
              <a:buChar char="•"/>
            </a:pPr>
            <a:r>
              <a:rPr lang="fr-FR" b="1" dirty="0">
                <a:solidFill>
                  <a:schemeClr val="tx1"/>
                </a:solidFill>
              </a:rPr>
              <a:t>Cubatures de stocks </a:t>
            </a:r>
            <a:r>
              <a:rPr lang="fr-FR" dirty="0">
                <a:solidFill>
                  <a:schemeClr val="tx1"/>
                </a:solidFill>
              </a:rPr>
              <a:t>– Calcul de déblai/remblais par rapport au sol théorique </a:t>
            </a:r>
          </a:p>
          <a:p>
            <a:pPr marL="285750" indent="-285750" algn="just">
              <a:buClr>
                <a:srgbClr val="FF0000"/>
              </a:buClr>
              <a:buFont typeface="Arial" panose="020B0604020202020204" pitchFamily="34" charset="0"/>
              <a:buChar char="•"/>
            </a:pPr>
            <a:endParaRPr lang="fr-FR" dirty="0">
              <a:solidFill>
                <a:schemeClr val="tx1"/>
              </a:solidFill>
            </a:endParaRPr>
          </a:p>
          <a:p>
            <a:pPr marL="285750" indent="-285750" algn="just">
              <a:buClr>
                <a:srgbClr val="FF0000"/>
              </a:buClr>
              <a:buFont typeface="Arial" panose="020B0604020202020204" pitchFamily="34" charset="0"/>
              <a:buChar char="•"/>
            </a:pPr>
            <a:r>
              <a:rPr lang="fr-FR" b="1" dirty="0">
                <a:solidFill>
                  <a:schemeClr val="tx1"/>
                </a:solidFill>
              </a:rPr>
              <a:t>Mouvements de terres </a:t>
            </a:r>
            <a:r>
              <a:rPr lang="fr-FR" dirty="0">
                <a:solidFill>
                  <a:schemeClr val="tx1"/>
                </a:solidFill>
              </a:rPr>
              <a:t>– Exploitation optimale des matériaux en place sur le chantier. </a:t>
            </a:r>
          </a:p>
          <a:p>
            <a:pPr marL="285750" indent="-285750" algn="just">
              <a:buClr>
                <a:srgbClr val="FF0000"/>
              </a:buClr>
              <a:buFont typeface="Arial" panose="020B0604020202020204" pitchFamily="34" charset="0"/>
              <a:buChar char="•"/>
            </a:pPr>
            <a:endParaRPr lang="fr-FR" b="1" dirty="0">
              <a:solidFill>
                <a:schemeClr val="tx1"/>
              </a:solidFill>
            </a:endParaRPr>
          </a:p>
          <a:p>
            <a:pPr marL="285750" indent="-285750" algn="just">
              <a:buClr>
                <a:srgbClr val="FF0000"/>
              </a:buClr>
              <a:buFont typeface="Arial" panose="020B0604020202020204" pitchFamily="34" charset="0"/>
              <a:buChar char="•"/>
            </a:pPr>
            <a:r>
              <a:rPr lang="fr-FR" b="1" dirty="0">
                <a:solidFill>
                  <a:schemeClr val="tx1"/>
                </a:solidFill>
              </a:rPr>
              <a:t>Levé de réception de couche de forme </a:t>
            </a:r>
            <a:r>
              <a:rPr lang="fr-FR" dirty="0">
                <a:solidFill>
                  <a:schemeClr val="tx1"/>
                </a:solidFill>
              </a:rPr>
              <a:t>– Contrôle de la planimétrie de la plateforme</a:t>
            </a:r>
          </a:p>
          <a:p>
            <a:pPr marL="285750" indent="-285750" algn="just">
              <a:buClr>
                <a:srgbClr val="FF0000"/>
              </a:buClr>
              <a:buFont typeface="Arial" panose="020B0604020202020204" pitchFamily="34" charset="0"/>
              <a:buChar char="•"/>
            </a:pPr>
            <a:endParaRPr lang="fr-FR" dirty="0">
              <a:solidFill>
                <a:schemeClr val="tx1"/>
              </a:solidFill>
            </a:endParaRPr>
          </a:p>
          <a:p>
            <a:pPr marL="285750" indent="-285750" algn="just">
              <a:buClr>
                <a:srgbClr val="FF0000"/>
              </a:buClr>
              <a:buFont typeface="Arial" panose="020B0604020202020204" pitchFamily="34" charset="0"/>
              <a:buChar char="•"/>
            </a:pPr>
            <a:r>
              <a:rPr lang="fr-FR" b="1" dirty="0">
                <a:solidFill>
                  <a:schemeClr val="tx1"/>
                </a:solidFill>
              </a:rPr>
              <a:t>Suivi de gravières </a:t>
            </a:r>
            <a:r>
              <a:rPr lang="fr-FR" dirty="0">
                <a:solidFill>
                  <a:schemeClr val="tx1"/>
                </a:solidFill>
              </a:rPr>
              <a:t>– estimation de volumes de découverte entre deux phases</a:t>
            </a:r>
          </a:p>
        </p:txBody>
      </p:sp>
      <p:sp>
        <p:nvSpPr>
          <p:cNvPr id="53" name="Rectangle 52">
            <a:extLst>
              <a:ext uri="{FF2B5EF4-FFF2-40B4-BE49-F238E27FC236}">
                <a16:creationId xmlns:a16="http://schemas.microsoft.com/office/drawing/2014/main" id="{1A43CE2B-597E-7D94-91AB-B6BAF068EB7E}"/>
              </a:ext>
            </a:extLst>
          </p:cNvPr>
          <p:cNvSpPr/>
          <p:nvPr/>
        </p:nvSpPr>
        <p:spPr>
          <a:xfrm>
            <a:off x="10955352" y="4372089"/>
            <a:ext cx="10080000" cy="720000"/>
          </a:xfrm>
          <a:prstGeom prst="rect">
            <a:avLst/>
          </a:prstGeom>
          <a:solidFill>
            <a:srgbClr val="5F5F61"/>
          </a:solid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2800" dirty="0"/>
              <a:t>Chaîne de traitement</a:t>
            </a:r>
          </a:p>
        </p:txBody>
      </p:sp>
      <p:sp>
        <p:nvSpPr>
          <p:cNvPr id="55" name="Rectangle 54">
            <a:extLst>
              <a:ext uri="{FF2B5EF4-FFF2-40B4-BE49-F238E27FC236}">
                <a16:creationId xmlns:a16="http://schemas.microsoft.com/office/drawing/2014/main" id="{4E95F335-E2FC-8E68-36B5-898CC9E2C70E}"/>
              </a:ext>
            </a:extLst>
          </p:cNvPr>
          <p:cNvSpPr/>
          <p:nvPr/>
        </p:nvSpPr>
        <p:spPr>
          <a:xfrm>
            <a:off x="10955352" y="5092089"/>
            <a:ext cx="10080000" cy="12800928"/>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fr-FR" dirty="0">
              <a:solidFill>
                <a:schemeClr val="tx1"/>
              </a:solidFill>
            </a:endParaRPr>
          </a:p>
        </p:txBody>
      </p:sp>
      <p:sp>
        <p:nvSpPr>
          <p:cNvPr id="57" name="Rectangle 56">
            <a:extLst>
              <a:ext uri="{FF2B5EF4-FFF2-40B4-BE49-F238E27FC236}">
                <a16:creationId xmlns:a16="http://schemas.microsoft.com/office/drawing/2014/main" id="{FAEEF0F7-FD7A-6538-A5C9-B51EBAE5B468}"/>
              </a:ext>
            </a:extLst>
          </p:cNvPr>
          <p:cNvSpPr/>
          <p:nvPr/>
        </p:nvSpPr>
        <p:spPr>
          <a:xfrm>
            <a:off x="10955352" y="26230562"/>
            <a:ext cx="10080000" cy="720000"/>
          </a:xfrm>
          <a:prstGeom prst="rect">
            <a:avLst/>
          </a:prstGeom>
          <a:solidFill>
            <a:srgbClr val="5F5F61"/>
          </a:solid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2800" dirty="0"/>
              <a:t>Conclusion et perspectives</a:t>
            </a:r>
          </a:p>
        </p:txBody>
      </p:sp>
      <p:sp>
        <p:nvSpPr>
          <p:cNvPr id="59" name="Rectangle 58">
            <a:extLst>
              <a:ext uri="{FF2B5EF4-FFF2-40B4-BE49-F238E27FC236}">
                <a16:creationId xmlns:a16="http://schemas.microsoft.com/office/drawing/2014/main" id="{65C5B40C-13E7-5B86-3A1B-8B1D2A4D65CB}"/>
              </a:ext>
            </a:extLst>
          </p:cNvPr>
          <p:cNvSpPr/>
          <p:nvPr/>
        </p:nvSpPr>
        <p:spPr>
          <a:xfrm>
            <a:off x="10955352" y="26948674"/>
            <a:ext cx="10080000" cy="3077709"/>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fr-FR" dirty="0">
                <a:solidFill>
                  <a:schemeClr val="tx1"/>
                </a:solidFill>
              </a:rPr>
              <a:t>Ce projet a permis de concevoir et de valider une chaîne de traitement complète pour le </a:t>
            </a:r>
            <a:r>
              <a:rPr lang="fr-FR" dirty="0" err="1">
                <a:solidFill>
                  <a:schemeClr val="tx1"/>
                </a:solidFill>
              </a:rPr>
              <a:t>LiDAR</a:t>
            </a:r>
            <a:r>
              <a:rPr lang="fr-FR" dirty="0">
                <a:solidFill>
                  <a:schemeClr val="tx1"/>
                </a:solidFill>
              </a:rPr>
              <a:t> aéroporté, apportant à l'agence </a:t>
            </a:r>
            <a:r>
              <a:rPr lang="fr-FR" b="1" dirty="0">
                <a:solidFill>
                  <a:schemeClr val="tx1"/>
                </a:solidFill>
              </a:rPr>
              <a:t>un gain réel en rapidité,</a:t>
            </a:r>
            <a:r>
              <a:rPr lang="fr-FR" dirty="0">
                <a:solidFill>
                  <a:schemeClr val="tx1"/>
                </a:solidFill>
              </a:rPr>
              <a:t> </a:t>
            </a:r>
            <a:r>
              <a:rPr lang="fr-FR" b="1" dirty="0">
                <a:solidFill>
                  <a:schemeClr val="tx1"/>
                </a:solidFill>
              </a:rPr>
              <a:t>en précision et en sécurité </a:t>
            </a:r>
            <a:r>
              <a:rPr lang="fr-FR" dirty="0">
                <a:solidFill>
                  <a:schemeClr val="tx1"/>
                </a:solidFill>
              </a:rPr>
              <a:t>par rapport aux méthodes traditionnelles et à la photogrammétrie déjà en place.</a:t>
            </a:r>
          </a:p>
          <a:p>
            <a:pPr algn="just"/>
            <a:endParaRPr lang="fr-FR" dirty="0">
              <a:solidFill>
                <a:schemeClr val="tx1"/>
              </a:solidFill>
            </a:endParaRPr>
          </a:p>
          <a:p>
            <a:pPr algn="just"/>
            <a:r>
              <a:rPr lang="fr-FR" dirty="0">
                <a:solidFill>
                  <a:schemeClr val="tx1"/>
                </a:solidFill>
              </a:rPr>
              <a:t>Plusieurs perspectives se dégagent pour l'agence. </a:t>
            </a:r>
            <a:r>
              <a:rPr lang="fr-FR" b="1" dirty="0">
                <a:solidFill>
                  <a:schemeClr val="tx1"/>
                </a:solidFill>
              </a:rPr>
              <a:t>Le déploiement des modules de Machine Learning </a:t>
            </a:r>
            <a:r>
              <a:rPr lang="fr-FR" dirty="0">
                <a:solidFill>
                  <a:schemeClr val="tx1"/>
                </a:solidFill>
              </a:rPr>
              <a:t>et de Deep Learning via </a:t>
            </a:r>
            <a:r>
              <a:rPr lang="fr-FR" dirty="0" err="1">
                <a:solidFill>
                  <a:schemeClr val="tx1"/>
                </a:solidFill>
              </a:rPr>
              <a:t>iTwin</a:t>
            </a:r>
            <a:r>
              <a:rPr lang="fr-FR" dirty="0">
                <a:solidFill>
                  <a:schemeClr val="tx1"/>
                </a:solidFill>
              </a:rPr>
              <a:t> Capture Manage &amp; </a:t>
            </a:r>
            <a:r>
              <a:rPr lang="fr-FR" dirty="0" err="1">
                <a:solidFill>
                  <a:schemeClr val="tx1"/>
                </a:solidFill>
              </a:rPr>
              <a:t>Extract</a:t>
            </a:r>
            <a:r>
              <a:rPr lang="fr-FR" dirty="0">
                <a:solidFill>
                  <a:schemeClr val="tx1"/>
                </a:solidFill>
              </a:rPr>
              <a:t> ouvrira la voie à une </a:t>
            </a:r>
            <a:r>
              <a:rPr lang="fr-FR" b="1" dirty="0">
                <a:solidFill>
                  <a:schemeClr val="tx1"/>
                </a:solidFill>
              </a:rPr>
              <a:t>classification entièrement automatisée </a:t>
            </a:r>
            <a:r>
              <a:rPr lang="fr-FR" dirty="0">
                <a:solidFill>
                  <a:schemeClr val="tx1"/>
                </a:solidFill>
              </a:rPr>
              <a:t>: détection de marquages routiers, de regards, de tampons ou de fissures, potentiellement couplée à des robots de traçage. L'arrivée des kits de sécurité de classe C5 permettra par ailleurs </a:t>
            </a:r>
            <a:r>
              <a:rPr lang="fr-FR" b="1" dirty="0">
                <a:solidFill>
                  <a:schemeClr val="tx1"/>
                </a:solidFill>
              </a:rPr>
              <a:t>d'étendre ces missions aux environnements urbains denses</a:t>
            </a:r>
            <a:r>
              <a:rPr lang="fr-FR" dirty="0">
                <a:solidFill>
                  <a:schemeClr val="tx1"/>
                </a:solidFill>
              </a:rPr>
              <a:t>.</a:t>
            </a:r>
          </a:p>
        </p:txBody>
      </p:sp>
      <p:sp>
        <p:nvSpPr>
          <p:cNvPr id="60" name="Rectangle 59">
            <a:extLst>
              <a:ext uri="{FF2B5EF4-FFF2-40B4-BE49-F238E27FC236}">
                <a16:creationId xmlns:a16="http://schemas.microsoft.com/office/drawing/2014/main" id="{F4E3554C-D155-C3B7-9E36-A9A34496E0E2}"/>
              </a:ext>
            </a:extLst>
          </p:cNvPr>
          <p:cNvSpPr/>
          <p:nvPr/>
        </p:nvSpPr>
        <p:spPr>
          <a:xfrm>
            <a:off x="14619227" y="5252502"/>
            <a:ext cx="2752249" cy="564578"/>
          </a:xfrm>
          <a:prstGeom prst="rect">
            <a:avLst/>
          </a:prstGeom>
          <a:solidFill>
            <a:schemeClr val="bg1"/>
          </a:solidFill>
          <a:ln w="762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Type de chantier</a:t>
            </a:r>
          </a:p>
        </p:txBody>
      </p:sp>
      <p:sp>
        <p:nvSpPr>
          <p:cNvPr id="62" name="Rectangle 61">
            <a:extLst>
              <a:ext uri="{FF2B5EF4-FFF2-40B4-BE49-F238E27FC236}">
                <a16:creationId xmlns:a16="http://schemas.microsoft.com/office/drawing/2014/main" id="{79C422AE-6F28-569D-C102-FA6230DCD180}"/>
              </a:ext>
            </a:extLst>
          </p:cNvPr>
          <p:cNvSpPr/>
          <p:nvPr/>
        </p:nvSpPr>
        <p:spPr>
          <a:xfrm>
            <a:off x="11389798" y="6103573"/>
            <a:ext cx="2752249" cy="564578"/>
          </a:xfrm>
          <a:prstGeom prst="rect">
            <a:avLst/>
          </a:prstGeom>
          <a:solidFill>
            <a:schemeClr val="bg1"/>
          </a:solidFill>
          <a:ln w="762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Analyse de réglementation de vol</a:t>
            </a:r>
          </a:p>
        </p:txBody>
      </p:sp>
      <p:sp>
        <p:nvSpPr>
          <p:cNvPr id="64" name="Rectangle 63">
            <a:extLst>
              <a:ext uri="{FF2B5EF4-FFF2-40B4-BE49-F238E27FC236}">
                <a16:creationId xmlns:a16="http://schemas.microsoft.com/office/drawing/2014/main" id="{045A2570-4C19-296F-51E3-3FBBBA202139}"/>
              </a:ext>
            </a:extLst>
          </p:cNvPr>
          <p:cNvSpPr/>
          <p:nvPr/>
        </p:nvSpPr>
        <p:spPr>
          <a:xfrm>
            <a:off x="17716037" y="6103573"/>
            <a:ext cx="2752249" cy="564578"/>
          </a:xfrm>
          <a:prstGeom prst="rect">
            <a:avLst/>
          </a:prstGeom>
          <a:solidFill>
            <a:schemeClr val="bg1"/>
          </a:solidFill>
          <a:ln w="762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Préparation de la trajectoire de vol</a:t>
            </a:r>
          </a:p>
        </p:txBody>
      </p:sp>
      <p:sp>
        <p:nvSpPr>
          <p:cNvPr id="65" name="Flèche : bas 64">
            <a:extLst>
              <a:ext uri="{FF2B5EF4-FFF2-40B4-BE49-F238E27FC236}">
                <a16:creationId xmlns:a16="http://schemas.microsoft.com/office/drawing/2014/main" id="{80BC46B5-A9B9-BE62-F094-52589373C37D}"/>
              </a:ext>
            </a:extLst>
          </p:cNvPr>
          <p:cNvSpPr/>
          <p:nvPr/>
        </p:nvSpPr>
        <p:spPr>
          <a:xfrm rot="3260010">
            <a:off x="13960479" y="5471657"/>
            <a:ext cx="280905" cy="564578"/>
          </a:xfrm>
          <a:prstGeom prst="down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7" name="Flèche : bas 66">
            <a:extLst>
              <a:ext uri="{FF2B5EF4-FFF2-40B4-BE49-F238E27FC236}">
                <a16:creationId xmlns:a16="http://schemas.microsoft.com/office/drawing/2014/main" id="{5C9578CC-0C28-91BB-1750-34E3F2E38E5A}"/>
              </a:ext>
            </a:extLst>
          </p:cNvPr>
          <p:cNvSpPr/>
          <p:nvPr/>
        </p:nvSpPr>
        <p:spPr>
          <a:xfrm rot="18493019">
            <a:off x="17746762" y="5461284"/>
            <a:ext cx="280905" cy="564578"/>
          </a:xfrm>
          <a:prstGeom prst="down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9" name="Rectangle 68">
            <a:extLst>
              <a:ext uri="{FF2B5EF4-FFF2-40B4-BE49-F238E27FC236}">
                <a16:creationId xmlns:a16="http://schemas.microsoft.com/office/drawing/2014/main" id="{580E76C0-F8D6-C2E0-7B74-BAC82AF6992E}"/>
              </a:ext>
            </a:extLst>
          </p:cNvPr>
          <p:cNvSpPr/>
          <p:nvPr/>
        </p:nvSpPr>
        <p:spPr>
          <a:xfrm>
            <a:off x="14619226" y="7130195"/>
            <a:ext cx="2752249" cy="564578"/>
          </a:xfrm>
          <a:prstGeom prst="rect">
            <a:avLst/>
          </a:prstGeom>
          <a:solidFill>
            <a:schemeClr val="bg1"/>
          </a:solidFill>
          <a:ln w="762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Contrôle du matériel de vol et de la météo</a:t>
            </a:r>
          </a:p>
        </p:txBody>
      </p:sp>
      <p:sp>
        <p:nvSpPr>
          <p:cNvPr id="73" name="Flèche : bas 72">
            <a:extLst>
              <a:ext uri="{FF2B5EF4-FFF2-40B4-BE49-F238E27FC236}">
                <a16:creationId xmlns:a16="http://schemas.microsoft.com/office/drawing/2014/main" id="{7852E481-22F0-F300-3F35-368DF6017E5C}"/>
              </a:ext>
            </a:extLst>
          </p:cNvPr>
          <p:cNvSpPr/>
          <p:nvPr/>
        </p:nvSpPr>
        <p:spPr>
          <a:xfrm rot="18493019">
            <a:off x="13963033" y="6781939"/>
            <a:ext cx="280905" cy="564578"/>
          </a:xfrm>
          <a:prstGeom prst="down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5" name="Flèche : bas 74">
            <a:extLst>
              <a:ext uri="{FF2B5EF4-FFF2-40B4-BE49-F238E27FC236}">
                <a16:creationId xmlns:a16="http://schemas.microsoft.com/office/drawing/2014/main" id="{F38D359E-682D-7DE0-A116-4765F5BF8C46}"/>
              </a:ext>
            </a:extLst>
          </p:cNvPr>
          <p:cNvSpPr/>
          <p:nvPr/>
        </p:nvSpPr>
        <p:spPr>
          <a:xfrm rot="3260010">
            <a:off x="17744208" y="6781940"/>
            <a:ext cx="280905" cy="564578"/>
          </a:xfrm>
          <a:prstGeom prst="down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7" name="Flèche : bas 76">
            <a:extLst>
              <a:ext uri="{FF2B5EF4-FFF2-40B4-BE49-F238E27FC236}">
                <a16:creationId xmlns:a16="http://schemas.microsoft.com/office/drawing/2014/main" id="{0A729E50-300D-63E3-BECB-E26DB4BD1590}"/>
              </a:ext>
            </a:extLst>
          </p:cNvPr>
          <p:cNvSpPr/>
          <p:nvPr/>
        </p:nvSpPr>
        <p:spPr>
          <a:xfrm rot="3260010">
            <a:off x="14001595" y="7456716"/>
            <a:ext cx="280905" cy="564578"/>
          </a:xfrm>
          <a:prstGeom prst="down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9" name="Flèche : bas 78">
            <a:extLst>
              <a:ext uri="{FF2B5EF4-FFF2-40B4-BE49-F238E27FC236}">
                <a16:creationId xmlns:a16="http://schemas.microsoft.com/office/drawing/2014/main" id="{F471A0C3-921E-8DE0-C317-44F1F7C51D77}"/>
              </a:ext>
            </a:extLst>
          </p:cNvPr>
          <p:cNvSpPr/>
          <p:nvPr/>
        </p:nvSpPr>
        <p:spPr>
          <a:xfrm rot="18493019">
            <a:off x="17746763" y="7456716"/>
            <a:ext cx="280905" cy="564578"/>
          </a:xfrm>
          <a:prstGeom prst="down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1" name="Rectangle 80">
            <a:extLst>
              <a:ext uri="{FF2B5EF4-FFF2-40B4-BE49-F238E27FC236}">
                <a16:creationId xmlns:a16="http://schemas.microsoft.com/office/drawing/2014/main" id="{6E1BDC9F-E4B1-FC48-58F7-68DBD4CCCFE4}"/>
              </a:ext>
            </a:extLst>
          </p:cNvPr>
          <p:cNvSpPr/>
          <p:nvPr/>
        </p:nvSpPr>
        <p:spPr>
          <a:xfrm>
            <a:off x="11389797" y="8166499"/>
            <a:ext cx="2752249" cy="564578"/>
          </a:xfrm>
          <a:prstGeom prst="rect">
            <a:avLst/>
          </a:prstGeom>
          <a:solidFill>
            <a:schemeClr val="bg1"/>
          </a:solidFill>
          <a:ln w="762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Contrôle du géoréférencement</a:t>
            </a:r>
          </a:p>
        </p:txBody>
      </p:sp>
      <p:sp>
        <p:nvSpPr>
          <p:cNvPr id="83" name="Flèche : bas 82">
            <a:extLst>
              <a:ext uri="{FF2B5EF4-FFF2-40B4-BE49-F238E27FC236}">
                <a16:creationId xmlns:a16="http://schemas.microsoft.com/office/drawing/2014/main" id="{DDB85A23-1B0C-2E45-5A85-FC960C8104F2}"/>
              </a:ext>
            </a:extLst>
          </p:cNvPr>
          <p:cNvSpPr/>
          <p:nvPr/>
        </p:nvSpPr>
        <p:spPr>
          <a:xfrm>
            <a:off x="12625468" y="8884611"/>
            <a:ext cx="280905" cy="564578"/>
          </a:xfrm>
          <a:prstGeom prst="down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4" name="Ellipse 83">
            <a:extLst>
              <a:ext uri="{FF2B5EF4-FFF2-40B4-BE49-F238E27FC236}">
                <a16:creationId xmlns:a16="http://schemas.microsoft.com/office/drawing/2014/main" id="{BD0A89B8-7433-F8EF-C11D-F70C432527A8}"/>
              </a:ext>
            </a:extLst>
          </p:cNvPr>
          <p:cNvSpPr/>
          <p:nvPr/>
        </p:nvSpPr>
        <p:spPr>
          <a:xfrm>
            <a:off x="11441291" y="10298279"/>
            <a:ext cx="2752249" cy="923714"/>
          </a:xfrm>
          <a:prstGeom prst="ellipse">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GNSS TRIMBLE</a:t>
            </a:r>
          </a:p>
        </p:txBody>
      </p:sp>
      <p:sp>
        <p:nvSpPr>
          <p:cNvPr id="86" name="Ellipse 85">
            <a:extLst>
              <a:ext uri="{FF2B5EF4-FFF2-40B4-BE49-F238E27FC236}">
                <a16:creationId xmlns:a16="http://schemas.microsoft.com/office/drawing/2014/main" id="{ABE0BFB8-8788-50F1-ED46-24E6101EFAD9}"/>
              </a:ext>
            </a:extLst>
          </p:cNvPr>
          <p:cNvSpPr/>
          <p:nvPr/>
        </p:nvSpPr>
        <p:spPr>
          <a:xfrm>
            <a:off x="11441290" y="11472111"/>
            <a:ext cx="2752249" cy="923714"/>
          </a:xfrm>
          <a:prstGeom prst="ellipse">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Station totale </a:t>
            </a:r>
          </a:p>
        </p:txBody>
      </p:sp>
      <p:sp>
        <p:nvSpPr>
          <p:cNvPr id="88" name="Rectangle 87">
            <a:extLst>
              <a:ext uri="{FF2B5EF4-FFF2-40B4-BE49-F238E27FC236}">
                <a16:creationId xmlns:a16="http://schemas.microsoft.com/office/drawing/2014/main" id="{66FBF62E-6ACD-DF2A-175C-FF3A494E7C33}"/>
              </a:ext>
            </a:extLst>
          </p:cNvPr>
          <p:cNvSpPr/>
          <p:nvPr/>
        </p:nvSpPr>
        <p:spPr>
          <a:xfrm>
            <a:off x="11441291" y="9548362"/>
            <a:ext cx="2752249" cy="564578"/>
          </a:xfrm>
          <a:prstGeom prst="rect">
            <a:avLst/>
          </a:prstGeom>
          <a:solidFill>
            <a:schemeClr val="bg1"/>
          </a:solidFill>
          <a:ln w="762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err="1">
                <a:solidFill>
                  <a:schemeClr val="tx1"/>
                </a:solidFill>
              </a:rPr>
              <a:t>GCPs</a:t>
            </a:r>
            <a:endParaRPr lang="fr-FR" dirty="0">
              <a:solidFill>
                <a:schemeClr val="tx1"/>
              </a:solidFill>
            </a:endParaRPr>
          </a:p>
        </p:txBody>
      </p:sp>
      <p:sp>
        <p:nvSpPr>
          <p:cNvPr id="90" name="Rectangle 89">
            <a:extLst>
              <a:ext uri="{FF2B5EF4-FFF2-40B4-BE49-F238E27FC236}">
                <a16:creationId xmlns:a16="http://schemas.microsoft.com/office/drawing/2014/main" id="{3784DCF5-9B4B-BF17-8148-0B5FF94B7878}"/>
              </a:ext>
            </a:extLst>
          </p:cNvPr>
          <p:cNvSpPr/>
          <p:nvPr/>
        </p:nvSpPr>
        <p:spPr>
          <a:xfrm>
            <a:off x="17716036" y="8088009"/>
            <a:ext cx="2752249" cy="564578"/>
          </a:xfrm>
          <a:prstGeom prst="rect">
            <a:avLst/>
          </a:prstGeom>
          <a:solidFill>
            <a:schemeClr val="bg1"/>
          </a:solidFill>
          <a:ln w="762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Acquisition </a:t>
            </a:r>
            <a:r>
              <a:rPr lang="fr-FR" dirty="0" err="1">
                <a:solidFill>
                  <a:schemeClr val="tx1"/>
                </a:solidFill>
              </a:rPr>
              <a:t>LiDAR</a:t>
            </a:r>
            <a:endParaRPr lang="fr-FR" dirty="0">
              <a:solidFill>
                <a:schemeClr val="tx1"/>
              </a:solidFill>
            </a:endParaRPr>
          </a:p>
        </p:txBody>
      </p:sp>
      <p:sp>
        <p:nvSpPr>
          <p:cNvPr id="92" name="Ellipse 91">
            <a:extLst>
              <a:ext uri="{FF2B5EF4-FFF2-40B4-BE49-F238E27FC236}">
                <a16:creationId xmlns:a16="http://schemas.microsoft.com/office/drawing/2014/main" id="{0CDF88A6-B0EC-20D2-D173-C4E191155ECE}"/>
              </a:ext>
            </a:extLst>
          </p:cNvPr>
          <p:cNvSpPr/>
          <p:nvPr/>
        </p:nvSpPr>
        <p:spPr>
          <a:xfrm>
            <a:off x="17720844" y="8817786"/>
            <a:ext cx="2752249" cy="923714"/>
          </a:xfrm>
          <a:prstGeom prst="ellipse">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Drone Matrice 400</a:t>
            </a:r>
          </a:p>
        </p:txBody>
      </p:sp>
      <p:sp>
        <p:nvSpPr>
          <p:cNvPr id="94" name="Ellipse 93">
            <a:extLst>
              <a:ext uri="{FF2B5EF4-FFF2-40B4-BE49-F238E27FC236}">
                <a16:creationId xmlns:a16="http://schemas.microsoft.com/office/drawing/2014/main" id="{389E6787-D115-C55F-CDA0-6B93EF9E8220}"/>
              </a:ext>
            </a:extLst>
          </p:cNvPr>
          <p:cNvSpPr/>
          <p:nvPr/>
        </p:nvSpPr>
        <p:spPr>
          <a:xfrm>
            <a:off x="17716032" y="9803439"/>
            <a:ext cx="2752249" cy="923714"/>
          </a:xfrm>
          <a:prstGeom prst="ellipse">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err="1"/>
              <a:t>LiDAR</a:t>
            </a:r>
            <a:r>
              <a:rPr lang="fr-FR" dirty="0"/>
              <a:t> </a:t>
            </a:r>
            <a:r>
              <a:rPr lang="fr-FR" dirty="0" err="1"/>
              <a:t>Zenmuse</a:t>
            </a:r>
            <a:r>
              <a:rPr lang="fr-FR" dirty="0"/>
              <a:t> L3</a:t>
            </a:r>
          </a:p>
        </p:txBody>
      </p:sp>
      <p:sp>
        <p:nvSpPr>
          <p:cNvPr id="96" name="Flèche : bas 95">
            <a:extLst>
              <a:ext uri="{FF2B5EF4-FFF2-40B4-BE49-F238E27FC236}">
                <a16:creationId xmlns:a16="http://schemas.microsoft.com/office/drawing/2014/main" id="{3EE14149-EBDE-5977-67B6-960896C68ED4}"/>
              </a:ext>
            </a:extLst>
          </p:cNvPr>
          <p:cNvSpPr/>
          <p:nvPr/>
        </p:nvSpPr>
        <p:spPr>
          <a:xfrm>
            <a:off x="18951703" y="10880687"/>
            <a:ext cx="280905" cy="564578"/>
          </a:xfrm>
          <a:prstGeom prst="down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8" name="Rectangle 97">
            <a:extLst>
              <a:ext uri="{FF2B5EF4-FFF2-40B4-BE49-F238E27FC236}">
                <a16:creationId xmlns:a16="http://schemas.microsoft.com/office/drawing/2014/main" id="{9F451E00-B0DC-1AA2-7D8E-600B17FE3C0A}"/>
              </a:ext>
            </a:extLst>
          </p:cNvPr>
          <p:cNvSpPr/>
          <p:nvPr/>
        </p:nvSpPr>
        <p:spPr>
          <a:xfrm>
            <a:off x="17716030" y="13010883"/>
            <a:ext cx="2752249" cy="564578"/>
          </a:xfrm>
          <a:prstGeom prst="rect">
            <a:avLst/>
          </a:prstGeom>
          <a:solidFill>
            <a:schemeClr val="bg1"/>
          </a:solidFill>
          <a:ln w="762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Export en .las</a:t>
            </a:r>
          </a:p>
        </p:txBody>
      </p:sp>
      <p:sp>
        <p:nvSpPr>
          <p:cNvPr id="100" name="Flèche : bas 99">
            <a:extLst>
              <a:ext uri="{FF2B5EF4-FFF2-40B4-BE49-F238E27FC236}">
                <a16:creationId xmlns:a16="http://schemas.microsoft.com/office/drawing/2014/main" id="{E164889F-B172-E0E0-97E8-AB1BEE460AF6}"/>
              </a:ext>
            </a:extLst>
          </p:cNvPr>
          <p:cNvSpPr/>
          <p:nvPr/>
        </p:nvSpPr>
        <p:spPr>
          <a:xfrm>
            <a:off x="18951703" y="12355398"/>
            <a:ext cx="280905" cy="564578"/>
          </a:xfrm>
          <a:prstGeom prst="down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2" name="Rectangle 101">
            <a:extLst>
              <a:ext uri="{FF2B5EF4-FFF2-40B4-BE49-F238E27FC236}">
                <a16:creationId xmlns:a16="http://schemas.microsoft.com/office/drawing/2014/main" id="{0916E55B-CD04-AC6B-A345-AA20A3CA56CE}"/>
              </a:ext>
            </a:extLst>
          </p:cNvPr>
          <p:cNvSpPr/>
          <p:nvPr/>
        </p:nvSpPr>
        <p:spPr>
          <a:xfrm>
            <a:off x="17716029" y="11589726"/>
            <a:ext cx="2752249" cy="564578"/>
          </a:xfrm>
          <a:prstGeom prst="rect">
            <a:avLst/>
          </a:prstGeom>
          <a:solidFill>
            <a:schemeClr val="bg1"/>
          </a:solidFill>
          <a:ln w="762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Pré-traitement</a:t>
            </a:r>
          </a:p>
        </p:txBody>
      </p:sp>
      <p:sp>
        <p:nvSpPr>
          <p:cNvPr id="104" name="Rectangle 103">
            <a:extLst>
              <a:ext uri="{FF2B5EF4-FFF2-40B4-BE49-F238E27FC236}">
                <a16:creationId xmlns:a16="http://schemas.microsoft.com/office/drawing/2014/main" id="{A27EBA16-AB41-9698-2F02-E97039759397}"/>
              </a:ext>
            </a:extLst>
          </p:cNvPr>
          <p:cNvSpPr/>
          <p:nvPr/>
        </p:nvSpPr>
        <p:spPr>
          <a:xfrm>
            <a:off x="11441288" y="13115458"/>
            <a:ext cx="2752249" cy="564578"/>
          </a:xfrm>
          <a:prstGeom prst="rect">
            <a:avLst/>
          </a:prstGeom>
          <a:solidFill>
            <a:schemeClr val="bg1"/>
          </a:solidFill>
          <a:ln w="762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Export en .csv</a:t>
            </a:r>
          </a:p>
        </p:txBody>
      </p:sp>
      <p:sp>
        <p:nvSpPr>
          <p:cNvPr id="106" name="Flèche : bas 105">
            <a:extLst>
              <a:ext uri="{FF2B5EF4-FFF2-40B4-BE49-F238E27FC236}">
                <a16:creationId xmlns:a16="http://schemas.microsoft.com/office/drawing/2014/main" id="{5929544B-9214-0D06-DC74-78DD312169F1}"/>
              </a:ext>
            </a:extLst>
          </p:cNvPr>
          <p:cNvSpPr/>
          <p:nvPr/>
        </p:nvSpPr>
        <p:spPr>
          <a:xfrm>
            <a:off x="12676961" y="12471648"/>
            <a:ext cx="280905" cy="564578"/>
          </a:xfrm>
          <a:prstGeom prst="down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0" name="Flèche : bas 109">
            <a:extLst>
              <a:ext uri="{FF2B5EF4-FFF2-40B4-BE49-F238E27FC236}">
                <a16:creationId xmlns:a16="http://schemas.microsoft.com/office/drawing/2014/main" id="{42C78BD8-6E06-B44F-45E4-9B517FA4EFEB}"/>
              </a:ext>
            </a:extLst>
          </p:cNvPr>
          <p:cNvSpPr/>
          <p:nvPr/>
        </p:nvSpPr>
        <p:spPr>
          <a:xfrm>
            <a:off x="12676961" y="13866286"/>
            <a:ext cx="280905" cy="564578"/>
          </a:xfrm>
          <a:prstGeom prst="down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2" name="Rectangle 111">
            <a:extLst>
              <a:ext uri="{FF2B5EF4-FFF2-40B4-BE49-F238E27FC236}">
                <a16:creationId xmlns:a16="http://schemas.microsoft.com/office/drawing/2014/main" id="{5A8610CB-A58D-61F9-86E7-5A5EC45E2C81}"/>
              </a:ext>
            </a:extLst>
          </p:cNvPr>
          <p:cNvSpPr/>
          <p:nvPr/>
        </p:nvSpPr>
        <p:spPr>
          <a:xfrm>
            <a:off x="11441290" y="14572281"/>
            <a:ext cx="2752249" cy="564578"/>
          </a:xfrm>
          <a:prstGeom prst="rect">
            <a:avLst/>
          </a:prstGeom>
          <a:solidFill>
            <a:schemeClr val="bg1"/>
          </a:solidFill>
          <a:ln w="762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Recalage</a:t>
            </a:r>
          </a:p>
        </p:txBody>
      </p:sp>
      <p:sp>
        <p:nvSpPr>
          <p:cNvPr id="114" name="Rectangle 113">
            <a:extLst>
              <a:ext uri="{FF2B5EF4-FFF2-40B4-BE49-F238E27FC236}">
                <a16:creationId xmlns:a16="http://schemas.microsoft.com/office/drawing/2014/main" id="{32282853-F5B3-7F5B-48D5-1521E0BDBF65}"/>
              </a:ext>
            </a:extLst>
          </p:cNvPr>
          <p:cNvSpPr/>
          <p:nvPr/>
        </p:nvSpPr>
        <p:spPr>
          <a:xfrm>
            <a:off x="14611692" y="14572281"/>
            <a:ext cx="2752249" cy="564578"/>
          </a:xfrm>
          <a:prstGeom prst="rect">
            <a:avLst/>
          </a:prstGeom>
          <a:solidFill>
            <a:schemeClr val="bg1"/>
          </a:solidFill>
          <a:ln w="762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Classification</a:t>
            </a:r>
          </a:p>
        </p:txBody>
      </p:sp>
      <p:sp>
        <p:nvSpPr>
          <p:cNvPr id="116" name="Rectangle 115">
            <a:extLst>
              <a:ext uri="{FF2B5EF4-FFF2-40B4-BE49-F238E27FC236}">
                <a16:creationId xmlns:a16="http://schemas.microsoft.com/office/drawing/2014/main" id="{F565494E-C8B1-DD91-FDCD-268D9C06E7A5}"/>
              </a:ext>
            </a:extLst>
          </p:cNvPr>
          <p:cNvSpPr/>
          <p:nvPr/>
        </p:nvSpPr>
        <p:spPr>
          <a:xfrm>
            <a:off x="17716029" y="14597569"/>
            <a:ext cx="2752249" cy="564578"/>
          </a:xfrm>
          <a:prstGeom prst="rect">
            <a:avLst/>
          </a:prstGeom>
          <a:solidFill>
            <a:schemeClr val="bg1"/>
          </a:solidFill>
          <a:ln w="762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Filtrage</a:t>
            </a:r>
          </a:p>
        </p:txBody>
      </p:sp>
      <p:sp>
        <p:nvSpPr>
          <p:cNvPr id="120" name="Flèche : bas 119">
            <a:extLst>
              <a:ext uri="{FF2B5EF4-FFF2-40B4-BE49-F238E27FC236}">
                <a16:creationId xmlns:a16="http://schemas.microsoft.com/office/drawing/2014/main" id="{D8D6F09A-D259-A918-0896-24CEC69FDAC0}"/>
              </a:ext>
            </a:extLst>
          </p:cNvPr>
          <p:cNvSpPr/>
          <p:nvPr/>
        </p:nvSpPr>
        <p:spPr>
          <a:xfrm rot="16200000">
            <a:off x="14262243" y="14725621"/>
            <a:ext cx="308870" cy="257897"/>
          </a:xfrm>
          <a:prstGeom prst="down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2" name="Flèche : bas 121">
            <a:extLst>
              <a:ext uri="{FF2B5EF4-FFF2-40B4-BE49-F238E27FC236}">
                <a16:creationId xmlns:a16="http://schemas.microsoft.com/office/drawing/2014/main" id="{8FADC2A0-39AE-C3AA-50B5-901157283496}"/>
              </a:ext>
            </a:extLst>
          </p:cNvPr>
          <p:cNvSpPr/>
          <p:nvPr/>
        </p:nvSpPr>
        <p:spPr>
          <a:xfrm rot="16200000">
            <a:off x="17385550" y="14728421"/>
            <a:ext cx="308870" cy="257897"/>
          </a:xfrm>
          <a:prstGeom prst="down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4" name="Flèche : bas 123">
            <a:extLst>
              <a:ext uri="{FF2B5EF4-FFF2-40B4-BE49-F238E27FC236}">
                <a16:creationId xmlns:a16="http://schemas.microsoft.com/office/drawing/2014/main" id="{F43F3865-6877-5C88-3DD5-9D5897D42789}"/>
              </a:ext>
            </a:extLst>
          </p:cNvPr>
          <p:cNvSpPr/>
          <p:nvPr/>
        </p:nvSpPr>
        <p:spPr>
          <a:xfrm>
            <a:off x="18934425" y="15880259"/>
            <a:ext cx="280905" cy="564578"/>
          </a:xfrm>
          <a:prstGeom prst="down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6" name="Rectangle 125">
            <a:extLst>
              <a:ext uri="{FF2B5EF4-FFF2-40B4-BE49-F238E27FC236}">
                <a16:creationId xmlns:a16="http://schemas.microsoft.com/office/drawing/2014/main" id="{AE954BBA-B12E-03A0-5A89-9BC3AA81B97A}"/>
              </a:ext>
            </a:extLst>
          </p:cNvPr>
          <p:cNvSpPr/>
          <p:nvPr/>
        </p:nvSpPr>
        <p:spPr>
          <a:xfrm>
            <a:off x="17716029" y="16637481"/>
            <a:ext cx="2752249" cy="564578"/>
          </a:xfrm>
          <a:prstGeom prst="rect">
            <a:avLst/>
          </a:prstGeom>
          <a:solidFill>
            <a:schemeClr val="bg1"/>
          </a:solidFill>
          <a:ln w="762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Import et création du MNT du nuage de points</a:t>
            </a:r>
          </a:p>
        </p:txBody>
      </p:sp>
      <p:sp>
        <p:nvSpPr>
          <p:cNvPr id="128" name="Flèche : bas 127">
            <a:extLst>
              <a:ext uri="{FF2B5EF4-FFF2-40B4-BE49-F238E27FC236}">
                <a16:creationId xmlns:a16="http://schemas.microsoft.com/office/drawing/2014/main" id="{C14F6348-6318-F1DB-1A72-2558FC6AE8DC}"/>
              </a:ext>
            </a:extLst>
          </p:cNvPr>
          <p:cNvSpPr/>
          <p:nvPr/>
        </p:nvSpPr>
        <p:spPr>
          <a:xfrm rot="5400000">
            <a:off x="15854897" y="16637481"/>
            <a:ext cx="280905" cy="564578"/>
          </a:xfrm>
          <a:prstGeom prst="down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0" name="Rectangle 129">
            <a:extLst>
              <a:ext uri="{FF2B5EF4-FFF2-40B4-BE49-F238E27FC236}">
                <a16:creationId xmlns:a16="http://schemas.microsoft.com/office/drawing/2014/main" id="{E64F6D7A-21CA-DD6E-A5EB-DB0808D18443}"/>
              </a:ext>
            </a:extLst>
          </p:cNvPr>
          <p:cNvSpPr/>
          <p:nvPr/>
        </p:nvSpPr>
        <p:spPr>
          <a:xfrm>
            <a:off x="11441288" y="16637481"/>
            <a:ext cx="2752249" cy="564578"/>
          </a:xfrm>
          <a:prstGeom prst="rect">
            <a:avLst/>
          </a:prstGeom>
          <a:solidFill>
            <a:schemeClr val="bg1"/>
          </a:solidFill>
          <a:ln w="762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Calculs et rendus dans Mensura</a:t>
            </a:r>
          </a:p>
        </p:txBody>
      </p:sp>
      <p:sp>
        <p:nvSpPr>
          <p:cNvPr id="132" name="Rectangle 131">
            <a:extLst>
              <a:ext uri="{FF2B5EF4-FFF2-40B4-BE49-F238E27FC236}">
                <a16:creationId xmlns:a16="http://schemas.microsoft.com/office/drawing/2014/main" id="{346E6776-1AFB-0699-3407-3E400DEE731C}"/>
              </a:ext>
            </a:extLst>
          </p:cNvPr>
          <p:cNvSpPr/>
          <p:nvPr/>
        </p:nvSpPr>
        <p:spPr>
          <a:xfrm>
            <a:off x="457519" y="26846789"/>
            <a:ext cx="10080000" cy="720000"/>
          </a:xfrm>
          <a:prstGeom prst="rect">
            <a:avLst/>
          </a:prstGeom>
          <a:solidFill>
            <a:srgbClr val="5F5F61"/>
          </a:solid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2800" dirty="0"/>
              <a:t>Problèmes et solutions trouvés</a:t>
            </a:r>
          </a:p>
        </p:txBody>
      </p:sp>
      <p:sp>
        <p:nvSpPr>
          <p:cNvPr id="134" name="Rectangle 133">
            <a:extLst>
              <a:ext uri="{FF2B5EF4-FFF2-40B4-BE49-F238E27FC236}">
                <a16:creationId xmlns:a16="http://schemas.microsoft.com/office/drawing/2014/main" id="{F5FA14C6-6539-4756-1C85-F2565C99DC90}"/>
              </a:ext>
            </a:extLst>
          </p:cNvPr>
          <p:cNvSpPr/>
          <p:nvPr/>
        </p:nvSpPr>
        <p:spPr>
          <a:xfrm>
            <a:off x="457519" y="27564902"/>
            <a:ext cx="10080000" cy="2391038"/>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buClr>
                <a:srgbClr val="FF0000"/>
              </a:buClr>
            </a:pPr>
            <a:endParaRPr lang="fr-FR" dirty="0">
              <a:solidFill>
                <a:schemeClr val="tx1"/>
              </a:solidFill>
            </a:endParaRPr>
          </a:p>
        </p:txBody>
      </p:sp>
      <p:sp>
        <p:nvSpPr>
          <p:cNvPr id="135" name="Rectangle 134">
            <a:extLst>
              <a:ext uri="{FF2B5EF4-FFF2-40B4-BE49-F238E27FC236}">
                <a16:creationId xmlns:a16="http://schemas.microsoft.com/office/drawing/2014/main" id="{471A4769-D376-62C3-3700-7095BECE1B66}"/>
              </a:ext>
            </a:extLst>
          </p:cNvPr>
          <p:cNvSpPr/>
          <p:nvPr/>
        </p:nvSpPr>
        <p:spPr>
          <a:xfrm>
            <a:off x="556873" y="27651778"/>
            <a:ext cx="3227792" cy="1098413"/>
          </a:xfrm>
          <a:prstGeom prst="rect">
            <a:avLst/>
          </a:prstGeom>
          <a:solidFill>
            <a:schemeClr val="bg2">
              <a:lumMod val="75000"/>
            </a:schemeClr>
          </a:solidFill>
          <a:ln>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b="1" dirty="0">
                <a:solidFill>
                  <a:srgbClr val="FF0000"/>
                </a:solidFill>
              </a:rPr>
              <a:t>Exactitude des données</a:t>
            </a:r>
          </a:p>
          <a:p>
            <a:r>
              <a:rPr lang="fr-FR" sz="1200" dirty="0"/>
              <a:t>Décalage systématique de l'altimétrie (jusqu'à 10 cm)</a:t>
            </a:r>
            <a:endParaRPr lang="fr-FR" sz="1000" dirty="0"/>
          </a:p>
        </p:txBody>
      </p:sp>
      <p:sp>
        <p:nvSpPr>
          <p:cNvPr id="137" name="Rectangle 136">
            <a:extLst>
              <a:ext uri="{FF2B5EF4-FFF2-40B4-BE49-F238E27FC236}">
                <a16:creationId xmlns:a16="http://schemas.microsoft.com/office/drawing/2014/main" id="{A14A8653-1894-FA8A-5479-9A6ECD4C5141}"/>
              </a:ext>
            </a:extLst>
          </p:cNvPr>
          <p:cNvSpPr/>
          <p:nvPr/>
        </p:nvSpPr>
        <p:spPr>
          <a:xfrm>
            <a:off x="556873" y="28745317"/>
            <a:ext cx="3227792" cy="1098413"/>
          </a:xfrm>
          <a:prstGeom prst="rect">
            <a:avLst/>
          </a:prstGeom>
          <a:solidFill>
            <a:schemeClr val="bg2">
              <a:lumMod val="75000"/>
            </a:schemeClr>
          </a:solidFill>
          <a:ln>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b="1" dirty="0"/>
              <a:t>Solution</a:t>
            </a:r>
            <a:endParaRPr lang="fr-FR" dirty="0">
              <a:solidFill>
                <a:schemeClr val="tx1"/>
              </a:solidFill>
            </a:endParaRPr>
          </a:p>
          <a:p>
            <a:pPr algn="just"/>
            <a:r>
              <a:rPr lang="fr-FR" sz="1200" dirty="0"/>
              <a:t>Recalage à 4 paramètres (3 translations + rotation Z) sous Excel et </a:t>
            </a:r>
            <a:r>
              <a:rPr lang="fr-FR" sz="1200" dirty="0" err="1"/>
              <a:t>CloudCompare</a:t>
            </a:r>
            <a:endParaRPr lang="fr-FR" dirty="0"/>
          </a:p>
        </p:txBody>
      </p:sp>
      <p:sp>
        <p:nvSpPr>
          <p:cNvPr id="172" name="ZoneTexte 171">
            <a:extLst>
              <a:ext uri="{FF2B5EF4-FFF2-40B4-BE49-F238E27FC236}">
                <a16:creationId xmlns:a16="http://schemas.microsoft.com/office/drawing/2014/main" id="{B6D5789A-F1A3-A7DF-03D3-9883461CAD00}"/>
              </a:ext>
            </a:extLst>
          </p:cNvPr>
          <p:cNvSpPr txBox="1"/>
          <p:nvPr/>
        </p:nvSpPr>
        <p:spPr>
          <a:xfrm>
            <a:off x="1656067" y="28597388"/>
            <a:ext cx="1019175" cy="369332"/>
          </a:xfrm>
          <a:prstGeom prst="rect">
            <a:avLst/>
          </a:prstGeom>
          <a:solidFill>
            <a:schemeClr val="bg2">
              <a:lumMod val="75000"/>
            </a:schemeClr>
          </a:solidFill>
        </p:spPr>
        <p:txBody>
          <a:bodyPr wrap="square" rtlCol="0">
            <a:spAutoFit/>
          </a:bodyPr>
          <a:lstStyle/>
          <a:p>
            <a:endParaRPr lang="fr-FR" dirty="0"/>
          </a:p>
        </p:txBody>
      </p:sp>
      <p:sp>
        <p:nvSpPr>
          <p:cNvPr id="173" name="Flèche : bas 172">
            <a:extLst>
              <a:ext uri="{FF2B5EF4-FFF2-40B4-BE49-F238E27FC236}">
                <a16:creationId xmlns:a16="http://schemas.microsoft.com/office/drawing/2014/main" id="{9E384E64-D66C-F068-A582-75AE1D8EE484}"/>
              </a:ext>
            </a:extLst>
          </p:cNvPr>
          <p:cNvSpPr/>
          <p:nvPr/>
        </p:nvSpPr>
        <p:spPr>
          <a:xfrm>
            <a:off x="2067248" y="28536149"/>
            <a:ext cx="223760" cy="405886"/>
          </a:xfrm>
          <a:prstGeom prst="down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5" name="Rectangle 174">
            <a:extLst>
              <a:ext uri="{FF2B5EF4-FFF2-40B4-BE49-F238E27FC236}">
                <a16:creationId xmlns:a16="http://schemas.microsoft.com/office/drawing/2014/main" id="{B7519DCD-F4B8-4432-CBB7-AFF4A90370DB}"/>
              </a:ext>
            </a:extLst>
          </p:cNvPr>
          <p:cNvSpPr/>
          <p:nvPr/>
        </p:nvSpPr>
        <p:spPr>
          <a:xfrm>
            <a:off x="3884019" y="27633141"/>
            <a:ext cx="3227792" cy="1098413"/>
          </a:xfrm>
          <a:prstGeom prst="rect">
            <a:avLst/>
          </a:prstGeom>
          <a:solidFill>
            <a:schemeClr val="bg2">
              <a:lumMod val="75000"/>
            </a:schemeClr>
          </a:solidFill>
          <a:ln>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b="1" dirty="0">
                <a:solidFill>
                  <a:srgbClr val="FF0000"/>
                </a:solidFill>
              </a:rPr>
              <a:t>Classification</a:t>
            </a:r>
          </a:p>
          <a:p>
            <a:r>
              <a:rPr lang="fr-FR" sz="1200" dirty="0"/>
              <a:t>Isoler le sol des artefacts (végétation, véhicules)</a:t>
            </a:r>
            <a:endParaRPr lang="fr-FR" sz="1000" dirty="0"/>
          </a:p>
        </p:txBody>
      </p:sp>
      <p:sp>
        <p:nvSpPr>
          <p:cNvPr id="177" name="Rectangle 176">
            <a:extLst>
              <a:ext uri="{FF2B5EF4-FFF2-40B4-BE49-F238E27FC236}">
                <a16:creationId xmlns:a16="http://schemas.microsoft.com/office/drawing/2014/main" id="{F50EE311-0BC6-DDB0-7EC9-D34DB9404B17}"/>
              </a:ext>
            </a:extLst>
          </p:cNvPr>
          <p:cNvSpPr>
            <a:spLocks/>
          </p:cNvSpPr>
          <p:nvPr/>
        </p:nvSpPr>
        <p:spPr>
          <a:xfrm>
            <a:off x="3884019" y="28726680"/>
            <a:ext cx="3227792" cy="1098413"/>
          </a:xfrm>
          <a:prstGeom prst="rect">
            <a:avLst/>
          </a:prstGeom>
          <a:solidFill>
            <a:schemeClr val="bg2">
              <a:lumMod val="75000"/>
            </a:schemeClr>
          </a:solidFill>
          <a:ln>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b="1" dirty="0"/>
              <a:t>Solution</a:t>
            </a:r>
            <a:endParaRPr lang="fr-FR" dirty="0">
              <a:solidFill>
                <a:schemeClr val="tx1"/>
              </a:solidFill>
            </a:endParaRPr>
          </a:p>
          <a:p>
            <a:pPr algn="just"/>
            <a:r>
              <a:rPr lang="fr-FR" sz="1200" dirty="0"/>
              <a:t>Classification géométrique sous DJI Terra, complétée par une solution de Machine Learning sous </a:t>
            </a:r>
            <a:r>
              <a:rPr lang="fr-FR" sz="1200" dirty="0" err="1"/>
              <a:t>iTwin</a:t>
            </a:r>
            <a:r>
              <a:rPr lang="fr-FR" sz="1200" dirty="0"/>
              <a:t> Capture Manage &amp; </a:t>
            </a:r>
            <a:r>
              <a:rPr lang="fr-FR" sz="1200" dirty="0" err="1"/>
              <a:t>Extract</a:t>
            </a:r>
            <a:endParaRPr lang="fr-FR" dirty="0"/>
          </a:p>
        </p:txBody>
      </p:sp>
      <p:sp>
        <p:nvSpPr>
          <p:cNvPr id="179" name="ZoneTexte 178">
            <a:extLst>
              <a:ext uri="{FF2B5EF4-FFF2-40B4-BE49-F238E27FC236}">
                <a16:creationId xmlns:a16="http://schemas.microsoft.com/office/drawing/2014/main" id="{FE9D40F6-E553-CAD9-D611-43748AF72F97}"/>
              </a:ext>
            </a:extLst>
          </p:cNvPr>
          <p:cNvSpPr txBox="1"/>
          <p:nvPr/>
        </p:nvSpPr>
        <p:spPr>
          <a:xfrm>
            <a:off x="4983213" y="28578751"/>
            <a:ext cx="1019175" cy="369332"/>
          </a:xfrm>
          <a:prstGeom prst="rect">
            <a:avLst/>
          </a:prstGeom>
          <a:solidFill>
            <a:schemeClr val="bg2">
              <a:lumMod val="75000"/>
            </a:schemeClr>
          </a:solidFill>
        </p:spPr>
        <p:txBody>
          <a:bodyPr wrap="square" rtlCol="0">
            <a:spAutoFit/>
          </a:bodyPr>
          <a:lstStyle/>
          <a:p>
            <a:endParaRPr lang="fr-FR" dirty="0"/>
          </a:p>
        </p:txBody>
      </p:sp>
      <p:sp>
        <p:nvSpPr>
          <p:cNvPr id="181" name="Flèche : bas 180">
            <a:extLst>
              <a:ext uri="{FF2B5EF4-FFF2-40B4-BE49-F238E27FC236}">
                <a16:creationId xmlns:a16="http://schemas.microsoft.com/office/drawing/2014/main" id="{C74D560E-FDF6-17FD-9703-F666ECD61631}"/>
              </a:ext>
            </a:extLst>
          </p:cNvPr>
          <p:cNvSpPr/>
          <p:nvPr/>
        </p:nvSpPr>
        <p:spPr>
          <a:xfrm>
            <a:off x="5394394" y="28517512"/>
            <a:ext cx="223760" cy="405886"/>
          </a:xfrm>
          <a:prstGeom prst="down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3" name="Rectangle 182">
            <a:extLst>
              <a:ext uri="{FF2B5EF4-FFF2-40B4-BE49-F238E27FC236}">
                <a16:creationId xmlns:a16="http://schemas.microsoft.com/office/drawing/2014/main" id="{6F6FFE4D-FA80-B895-7741-37818830C01C}"/>
              </a:ext>
            </a:extLst>
          </p:cNvPr>
          <p:cNvSpPr/>
          <p:nvPr/>
        </p:nvSpPr>
        <p:spPr>
          <a:xfrm>
            <a:off x="7218196" y="27633141"/>
            <a:ext cx="3227792" cy="1098413"/>
          </a:xfrm>
          <a:prstGeom prst="rect">
            <a:avLst/>
          </a:prstGeom>
          <a:solidFill>
            <a:schemeClr val="bg2">
              <a:lumMod val="75000"/>
            </a:schemeClr>
          </a:solidFill>
          <a:ln>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b="1" dirty="0">
                <a:solidFill>
                  <a:srgbClr val="FF0000"/>
                </a:solidFill>
              </a:rPr>
              <a:t>Filtrage</a:t>
            </a:r>
          </a:p>
          <a:p>
            <a:r>
              <a:rPr lang="fr-FR" sz="1200" dirty="0"/>
              <a:t>Calcul du MNT dans Mensura avec un nuage trop dense</a:t>
            </a:r>
            <a:endParaRPr lang="fr-FR" sz="1000" dirty="0"/>
          </a:p>
        </p:txBody>
      </p:sp>
      <p:sp>
        <p:nvSpPr>
          <p:cNvPr id="185" name="Rectangle 184">
            <a:extLst>
              <a:ext uri="{FF2B5EF4-FFF2-40B4-BE49-F238E27FC236}">
                <a16:creationId xmlns:a16="http://schemas.microsoft.com/office/drawing/2014/main" id="{73157A8F-FE27-43C7-F46A-B0C4C6A7DE98}"/>
              </a:ext>
            </a:extLst>
          </p:cNvPr>
          <p:cNvSpPr/>
          <p:nvPr/>
        </p:nvSpPr>
        <p:spPr>
          <a:xfrm>
            <a:off x="7218196" y="28726680"/>
            <a:ext cx="3227792" cy="1098413"/>
          </a:xfrm>
          <a:prstGeom prst="rect">
            <a:avLst/>
          </a:prstGeom>
          <a:solidFill>
            <a:schemeClr val="bg2">
              <a:lumMod val="75000"/>
            </a:schemeClr>
          </a:solidFill>
          <a:ln>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b="1" dirty="0"/>
              <a:t>Solution</a:t>
            </a:r>
            <a:endParaRPr lang="fr-FR" dirty="0">
              <a:solidFill>
                <a:schemeClr val="tx1"/>
              </a:solidFill>
            </a:endParaRPr>
          </a:p>
          <a:p>
            <a:pPr algn="just"/>
            <a:r>
              <a:rPr lang="fr-FR" sz="1200" dirty="0"/>
              <a:t>Filtrage par pourcentage de points, ciblant un nuage réduit à 100 000–200 000 points exploitable dans Mensura</a:t>
            </a:r>
            <a:endParaRPr lang="fr-FR" dirty="0"/>
          </a:p>
        </p:txBody>
      </p:sp>
      <p:sp>
        <p:nvSpPr>
          <p:cNvPr id="187" name="ZoneTexte 186">
            <a:extLst>
              <a:ext uri="{FF2B5EF4-FFF2-40B4-BE49-F238E27FC236}">
                <a16:creationId xmlns:a16="http://schemas.microsoft.com/office/drawing/2014/main" id="{D5275028-2C16-5DA0-D912-49BDA2BD9907}"/>
              </a:ext>
            </a:extLst>
          </p:cNvPr>
          <p:cNvSpPr txBox="1"/>
          <p:nvPr/>
        </p:nvSpPr>
        <p:spPr>
          <a:xfrm>
            <a:off x="8317390" y="28578751"/>
            <a:ext cx="1019175" cy="369332"/>
          </a:xfrm>
          <a:prstGeom prst="rect">
            <a:avLst/>
          </a:prstGeom>
          <a:solidFill>
            <a:schemeClr val="bg2">
              <a:lumMod val="75000"/>
            </a:schemeClr>
          </a:solidFill>
        </p:spPr>
        <p:txBody>
          <a:bodyPr wrap="square" rtlCol="0">
            <a:spAutoFit/>
          </a:bodyPr>
          <a:lstStyle/>
          <a:p>
            <a:endParaRPr lang="fr-FR" dirty="0"/>
          </a:p>
        </p:txBody>
      </p:sp>
      <p:sp>
        <p:nvSpPr>
          <p:cNvPr id="189" name="Flèche : bas 188">
            <a:extLst>
              <a:ext uri="{FF2B5EF4-FFF2-40B4-BE49-F238E27FC236}">
                <a16:creationId xmlns:a16="http://schemas.microsoft.com/office/drawing/2014/main" id="{4E0BAE8B-A239-2AC3-D89B-6703222D2AE6}"/>
              </a:ext>
            </a:extLst>
          </p:cNvPr>
          <p:cNvSpPr/>
          <p:nvPr/>
        </p:nvSpPr>
        <p:spPr>
          <a:xfrm>
            <a:off x="8728571" y="28517512"/>
            <a:ext cx="223760" cy="405886"/>
          </a:xfrm>
          <a:prstGeom prst="down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1" name="Flèche : angle droit 190">
            <a:extLst>
              <a:ext uri="{FF2B5EF4-FFF2-40B4-BE49-F238E27FC236}">
                <a16:creationId xmlns:a16="http://schemas.microsoft.com/office/drawing/2014/main" id="{0CF81E42-5917-C9E0-7FF9-CC200E814895}"/>
              </a:ext>
            </a:extLst>
          </p:cNvPr>
          <p:cNvSpPr/>
          <p:nvPr/>
        </p:nvSpPr>
        <p:spPr>
          <a:xfrm rot="16200000" flipH="1">
            <a:off x="15856197" y="11067625"/>
            <a:ext cx="573234" cy="5939473"/>
          </a:xfrm>
          <a:prstGeom prst="bentUp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2" name="Rectangle 191">
            <a:extLst>
              <a:ext uri="{FF2B5EF4-FFF2-40B4-BE49-F238E27FC236}">
                <a16:creationId xmlns:a16="http://schemas.microsoft.com/office/drawing/2014/main" id="{499B31E2-5BC7-4395-F480-5635B8F8FECB}"/>
              </a:ext>
            </a:extLst>
          </p:cNvPr>
          <p:cNvSpPr/>
          <p:nvPr/>
        </p:nvSpPr>
        <p:spPr>
          <a:xfrm>
            <a:off x="-12538" y="4125288"/>
            <a:ext cx="21384000" cy="26136000"/>
          </a:xfrm>
          <a:prstGeom prst="rect">
            <a:avLst/>
          </a:prstGeom>
          <a:noFill/>
          <a:ln w="571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6" name="Image 5">
            <a:extLst>
              <a:ext uri="{FF2B5EF4-FFF2-40B4-BE49-F238E27FC236}">
                <a16:creationId xmlns:a16="http://schemas.microsoft.com/office/drawing/2014/main" id="{0A974D35-F04C-3635-BABB-B2159EFAD500}"/>
              </a:ext>
              <a:ext uri="{C183D7F6-B498-43B3-948B-1728B52AA6E4}">
                <adec:decorative xmlns:adec="http://schemas.microsoft.com/office/drawing/2017/decorative" val="1"/>
              </a:ext>
            </a:extLst>
          </p:cNvPr>
          <p:cNvPicPr>
            <a:picLocks noChangeAspect="1"/>
          </p:cNvPicPr>
          <p:nvPr/>
        </p:nvPicPr>
        <p:blipFill>
          <a:blip r:embed="rId7"/>
          <a:srcRect l="2123" t="2104" r="1090" b="2516"/>
          <a:stretch>
            <a:fillRect/>
          </a:stretch>
        </p:blipFill>
        <p:spPr>
          <a:xfrm>
            <a:off x="1379220" y="18905415"/>
            <a:ext cx="8285209" cy="3779520"/>
          </a:xfrm>
          <a:prstGeom prst="rect">
            <a:avLst/>
          </a:prstGeom>
          <a:ln>
            <a:noFill/>
          </a:ln>
        </p:spPr>
      </p:pic>
      <p:sp>
        <p:nvSpPr>
          <p:cNvPr id="9" name="Rectangle 8">
            <a:extLst>
              <a:ext uri="{FF2B5EF4-FFF2-40B4-BE49-F238E27FC236}">
                <a16:creationId xmlns:a16="http://schemas.microsoft.com/office/drawing/2014/main" id="{7A832684-AB8D-A19E-A837-AEDDEA278575}"/>
              </a:ext>
            </a:extLst>
          </p:cNvPr>
          <p:cNvSpPr/>
          <p:nvPr/>
        </p:nvSpPr>
        <p:spPr>
          <a:xfrm>
            <a:off x="551528" y="23065987"/>
            <a:ext cx="3227792" cy="1098413"/>
          </a:xfrm>
          <a:prstGeom prst="rect">
            <a:avLst/>
          </a:prstGeom>
          <a:solidFill>
            <a:schemeClr val="bg2">
              <a:lumMod val="75000"/>
            </a:schemeClr>
          </a:solidFill>
          <a:ln>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b="1" dirty="0"/>
              <a:t>EMQ </a:t>
            </a:r>
          </a:p>
          <a:p>
            <a:endParaRPr lang="fr-FR" b="1" dirty="0"/>
          </a:p>
          <a:p>
            <a:pPr algn="ctr"/>
            <a:r>
              <a:rPr lang="fr-FR" b="1" dirty="0"/>
              <a:t>X =  3,0 cm</a:t>
            </a:r>
          </a:p>
          <a:p>
            <a:pPr algn="ctr"/>
            <a:r>
              <a:rPr lang="fr-FR" b="1" dirty="0"/>
              <a:t>Y = 2,0 cm</a:t>
            </a:r>
            <a:endParaRPr lang="fr-FR" dirty="0"/>
          </a:p>
        </p:txBody>
      </p:sp>
      <p:sp>
        <p:nvSpPr>
          <p:cNvPr id="15" name="Rectangle 14">
            <a:extLst>
              <a:ext uri="{FF2B5EF4-FFF2-40B4-BE49-F238E27FC236}">
                <a16:creationId xmlns:a16="http://schemas.microsoft.com/office/drawing/2014/main" id="{FF9FE7F7-0544-A8AF-0B0E-9C58BC593CDC}"/>
              </a:ext>
            </a:extLst>
          </p:cNvPr>
          <p:cNvSpPr/>
          <p:nvPr/>
        </p:nvSpPr>
        <p:spPr>
          <a:xfrm>
            <a:off x="3883303" y="23065987"/>
            <a:ext cx="3227792" cy="1098413"/>
          </a:xfrm>
          <a:prstGeom prst="rect">
            <a:avLst/>
          </a:prstGeom>
          <a:solidFill>
            <a:schemeClr val="bg2">
              <a:lumMod val="75000"/>
            </a:schemeClr>
          </a:solidFill>
          <a:ln>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b="1" dirty="0"/>
              <a:t>EMQ </a:t>
            </a:r>
          </a:p>
          <a:p>
            <a:endParaRPr lang="fr-FR" b="1" dirty="0"/>
          </a:p>
          <a:p>
            <a:pPr algn="ctr"/>
            <a:r>
              <a:rPr lang="fr-FR" b="1" dirty="0"/>
              <a:t>Planimétrique = 2,6 cm</a:t>
            </a:r>
            <a:endParaRPr lang="fr-FR" dirty="0"/>
          </a:p>
        </p:txBody>
      </p:sp>
      <p:sp>
        <p:nvSpPr>
          <p:cNvPr id="19" name="Rectangle 18">
            <a:extLst>
              <a:ext uri="{FF2B5EF4-FFF2-40B4-BE49-F238E27FC236}">
                <a16:creationId xmlns:a16="http://schemas.microsoft.com/office/drawing/2014/main" id="{F526C916-1C32-BAD8-1F29-EB66D740C156}"/>
              </a:ext>
            </a:extLst>
          </p:cNvPr>
          <p:cNvSpPr/>
          <p:nvPr/>
        </p:nvSpPr>
        <p:spPr>
          <a:xfrm>
            <a:off x="7204358" y="23065987"/>
            <a:ext cx="3227792" cy="1098413"/>
          </a:xfrm>
          <a:prstGeom prst="rect">
            <a:avLst/>
          </a:prstGeom>
          <a:solidFill>
            <a:schemeClr val="bg2">
              <a:lumMod val="75000"/>
            </a:schemeClr>
          </a:solidFill>
          <a:ln>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b="1" dirty="0"/>
              <a:t>EMQ </a:t>
            </a:r>
          </a:p>
          <a:p>
            <a:endParaRPr lang="fr-FR" b="1" dirty="0"/>
          </a:p>
          <a:p>
            <a:pPr algn="ctr"/>
            <a:r>
              <a:rPr lang="fr-FR" b="1" dirty="0"/>
              <a:t>Altimétrique = 13,0 cm</a:t>
            </a:r>
            <a:endParaRPr lang="fr-FR" dirty="0"/>
          </a:p>
        </p:txBody>
      </p:sp>
      <p:sp>
        <p:nvSpPr>
          <p:cNvPr id="22" name="ZoneTexte 21">
            <a:extLst>
              <a:ext uri="{FF2B5EF4-FFF2-40B4-BE49-F238E27FC236}">
                <a16:creationId xmlns:a16="http://schemas.microsoft.com/office/drawing/2014/main" id="{4A2CD13A-4EE5-FA2D-12C8-86E496DC2A4F}"/>
              </a:ext>
            </a:extLst>
          </p:cNvPr>
          <p:cNvSpPr txBox="1"/>
          <p:nvPr/>
        </p:nvSpPr>
        <p:spPr>
          <a:xfrm>
            <a:off x="640428" y="24689248"/>
            <a:ext cx="9791722" cy="1754326"/>
          </a:xfrm>
          <a:prstGeom prst="rect">
            <a:avLst/>
          </a:prstGeom>
          <a:noFill/>
        </p:spPr>
        <p:txBody>
          <a:bodyPr wrap="square">
            <a:spAutoFit/>
          </a:bodyPr>
          <a:lstStyle/>
          <a:p>
            <a:r>
              <a:rPr lang="fr-FR" dirty="0"/>
              <a:t>Sur les 9 GCP du banc d'essai, les résidus planimétriques (X, Y) se répartissent de part et d'autre de zéro, avec un EMQ de 2,6 cm cohérent avec un levé GNSS RTK conventionnel. En altimétrie (Z), en revanche, tous les GCP présentent un résidu </a:t>
            </a:r>
            <a:r>
              <a:rPr lang="fr-FR" b="1" dirty="0"/>
              <a:t>systématiquement négatif</a:t>
            </a:r>
            <a:r>
              <a:rPr lang="fr-FR" dirty="0"/>
              <a:t>, de l'ordre de -12 à -15 cm représentant une signature caractéristique d'un </a:t>
            </a:r>
            <a:r>
              <a:rPr lang="fr-FR" b="1" dirty="0"/>
              <a:t>biais constant</a:t>
            </a:r>
            <a:r>
              <a:rPr lang="fr-FR" dirty="0"/>
              <a:t> plutôt que d'un bruit de mesure aléatoire. Ce décalage, largement supérieur à la tolérance GNSS, est corrigé par le recalage GCP appliqué au nuage de points.</a:t>
            </a:r>
          </a:p>
        </p:txBody>
      </p:sp>
      <p:sp>
        <p:nvSpPr>
          <p:cNvPr id="29" name="ZoneTexte 28">
            <a:extLst>
              <a:ext uri="{FF2B5EF4-FFF2-40B4-BE49-F238E27FC236}">
                <a16:creationId xmlns:a16="http://schemas.microsoft.com/office/drawing/2014/main" id="{ACEA2630-80FB-9AA1-C6D3-066D83FE1940}"/>
              </a:ext>
            </a:extLst>
          </p:cNvPr>
          <p:cNvSpPr txBox="1"/>
          <p:nvPr/>
        </p:nvSpPr>
        <p:spPr>
          <a:xfrm>
            <a:off x="2476563" y="16480547"/>
            <a:ext cx="5747657" cy="923330"/>
          </a:xfrm>
          <a:prstGeom prst="rect">
            <a:avLst/>
          </a:prstGeom>
          <a:noFill/>
          <a:ln w="38100">
            <a:noFill/>
          </a:ln>
        </p:spPr>
        <p:txBody>
          <a:bodyPr wrap="square" numCol="1" rtlCol="0">
            <a:spAutoFit/>
          </a:bodyPr>
          <a:lstStyle/>
          <a:p>
            <a:pPr algn="ctr"/>
            <a:r>
              <a:rPr lang="fr-FR" b="1" dirty="0"/>
              <a:t>Chaine de traitement permettant le passage de l’acquisition au nuage de points</a:t>
            </a:r>
          </a:p>
          <a:p>
            <a:pPr algn="ctr"/>
            <a:endParaRPr lang="fr-FR" dirty="0"/>
          </a:p>
        </p:txBody>
      </p:sp>
      <p:sp>
        <p:nvSpPr>
          <p:cNvPr id="41" name="Rectangle 40">
            <a:extLst>
              <a:ext uri="{FF2B5EF4-FFF2-40B4-BE49-F238E27FC236}">
                <a16:creationId xmlns:a16="http://schemas.microsoft.com/office/drawing/2014/main" id="{9FFC76F2-8D39-99F9-341A-5A6D9DBE7F2D}"/>
              </a:ext>
            </a:extLst>
          </p:cNvPr>
          <p:cNvSpPr/>
          <p:nvPr/>
        </p:nvSpPr>
        <p:spPr>
          <a:xfrm>
            <a:off x="10955352" y="21509125"/>
            <a:ext cx="10080000" cy="720000"/>
          </a:xfrm>
          <a:prstGeom prst="rect">
            <a:avLst/>
          </a:prstGeom>
          <a:solidFill>
            <a:srgbClr val="5F5F61"/>
          </a:solid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2800" dirty="0"/>
              <a:t>Nouvelles solutions et perspectives</a:t>
            </a:r>
          </a:p>
        </p:txBody>
      </p:sp>
      <p:sp>
        <p:nvSpPr>
          <p:cNvPr id="46" name="Rectangle 45">
            <a:extLst>
              <a:ext uri="{FF2B5EF4-FFF2-40B4-BE49-F238E27FC236}">
                <a16:creationId xmlns:a16="http://schemas.microsoft.com/office/drawing/2014/main" id="{71E04008-D4FD-6B97-1DE1-A1F7F9824AE6}"/>
              </a:ext>
            </a:extLst>
          </p:cNvPr>
          <p:cNvSpPr/>
          <p:nvPr/>
        </p:nvSpPr>
        <p:spPr>
          <a:xfrm>
            <a:off x="10955352" y="22227237"/>
            <a:ext cx="10080000" cy="3804587"/>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dirty="0">
                <a:solidFill>
                  <a:schemeClr val="tx1"/>
                </a:solidFill>
              </a:rPr>
              <a:t>Après des recherches de logiciels compétents dans le traitement de nuages de points, la solution </a:t>
            </a:r>
            <a:r>
              <a:rPr lang="fr-FR" dirty="0" err="1">
                <a:solidFill>
                  <a:schemeClr val="tx1"/>
                </a:solidFill>
              </a:rPr>
              <a:t>iTwin</a:t>
            </a:r>
            <a:r>
              <a:rPr lang="fr-FR" dirty="0">
                <a:solidFill>
                  <a:schemeClr val="tx1"/>
                </a:solidFill>
              </a:rPr>
              <a:t> Capture Manage &amp; </a:t>
            </a:r>
            <a:r>
              <a:rPr lang="fr-FR" dirty="0" err="1">
                <a:solidFill>
                  <a:schemeClr val="tx1"/>
                </a:solidFill>
              </a:rPr>
              <a:t>Extract</a:t>
            </a:r>
            <a:r>
              <a:rPr lang="fr-FR" dirty="0">
                <a:solidFill>
                  <a:schemeClr val="tx1"/>
                </a:solidFill>
              </a:rPr>
              <a:t> de Bentley a été identifiée pour ses modules de classification par Machine Learning. </a:t>
            </a:r>
          </a:p>
          <a:p>
            <a:r>
              <a:rPr lang="fr-FR" dirty="0">
                <a:solidFill>
                  <a:schemeClr val="tx1"/>
                </a:solidFill>
              </a:rPr>
              <a:t>Cette approche ouvre des perspectives concrètes pour l'agence : </a:t>
            </a:r>
          </a:p>
          <a:p>
            <a:r>
              <a:rPr lang="fr-FR" dirty="0">
                <a:solidFill>
                  <a:schemeClr val="tx1"/>
                </a:solidFill>
              </a:rPr>
              <a:t>un gain de précision par rapport au filtrage géométrique actuel</a:t>
            </a:r>
          </a:p>
          <a:p>
            <a:r>
              <a:rPr lang="fr-FR" dirty="0">
                <a:solidFill>
                  <a:schemeClr val="tx1"/>
                </a:solidFill>
              </a:rPr>
              <a:t>une automatisation renforcée</a:t>
            </a:r>
          </a:p>
          <a:p>
            <a:endParaRPr lang="fr-FR" dirty="0">
              <a:solidFill>
                <a:schemeClr val="tx1"/>
              </a:solidFill>
            </a:endParaRPr>
          </a:p>
          <a:p>
            <a:r>
              <a:rPr lang="fr-FR" dirty="0">
                <a:solidFill>
                  <a:schemeClr val="tx1"/>
                </a:solidFill>
              </a:rPr>
              <a:t>la détection d'éléments spécifiques du chantier (marquages, regards, fissures).</a:t>
            </a:r>
          </a:p>
          <a:p>
            <a:pPr algn="just">
              <a:buClr>
                <a:srgbClr val="FF0000"/>
              </a:buClr>
            </a:pPr>
            <a:endParaRPr lang="fr-FR" dirty="0">
              <a:solidFill>
                <a:schemeClr val="tx1"/>
              </a:solidFill>
            </a:endParaRPr>
          </a:p>
        </p:txBody>
      </p:sp>
    </p:spTree>
    <p:extLst>
      <p:ext uri="{BB962C8B-B14F-4D97-AF65-F5344CB8AC3E}">
        <p14:creationId xmlns:p14="http://schemas.microsoft.com/office/powerpoint/2010/main" val="4184347786"/>
      </p:ext>
    </p:extLst>
  </p:cSld>
  <p:clrMapOvr>
    <a:masterClrMapping/>
  </p:clrMapOvr>
</p:sld>
</file>

<file path=ppt/theme/theme1.xml><?xml version="1.0" encoding="utf-8"?>
<a:theme xmlns:a="http://schemas.openxmlformats.org/drawingml/2006/main" name="Thème Office">
  <a:themeElements>
    <a:clrScheme name="Thème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hème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413</TotalTime>
  <Words>850</Words>
  <Application>Microsoft Office PowerPoint</Application>
  <PresentationFormat>Personnalisé</PresentationFormat>
  <Paragraphs>95</Paragraphs>
  <Slides>1</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vt:i4>
      </vt:variant>
    </vt:vector>
  </HeadingPairs>
  <TitlesOfParts>
    <vt:vector size="5" baseType="lpstr">
      <vt:lpstr>Aptos</vt:lpstr>
      <vt:lpstr>Aptos Display</vt:lpstr>
      <vt:lpstr>Arial</vt:lpstr>
      <vt:lpstr>Thème Office</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SCHERTZINGER Gabin [EIFFAGE INFRASTRUCTURES]</dc:creator>
  <cp:lastModifiedBy>SCHERTZINGER Gabin [EIFFAGE INFRASTRUCTURES]</cp:lastModifiedBy>
  <cp:revision>16</cp:revision>
  <dcterms:created xsi:type="dcterms:W3CDTF">2026-09-02T06:42:08Z</dcterms:created>
  <dcterms:modified xsi:type="dcterms:W3CDTF">2026-09-02T13:38:59Z</dcterms:modified>
</cp:coreProperties>
</file>