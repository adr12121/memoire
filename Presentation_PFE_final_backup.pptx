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[0:00 - 0:25] Bonjour à tous. Je m'appelle Adrien Travaillé, étudiant en génie topographique à l'INSA Strasbourg. Mon PFE, réalisé au cabinet GEO-SIAPP à Aubenas, porte sur le développement d'un outil d'automatisation du traitement et du versement des archives numériques vers Géofoncier.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[0:25 - 0:45] ARCHITECTURE GLOBALE</a:t>
            </a:r>
          </a:p>
          <a:p/>
          <a:p>
            <a:r>
              <a:t>L'outil repose sur une chaîne automatisée en 6 étapes. Je vais maintenant vous montrer chaque étape avec une capture concrète.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[0:45 - 0:55] Dès l'import, le module identifie le type de document pour orienter vers les bons algorithmes.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[0:55 - 1:05] YOLOv8 localise les zones utiles : cartouche, sections cadastrales, dates, tableaux de parcelles.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[1:05 - 1:15] OCR pour l'imprimé, HTR et GLiNER pour les manuscrits, avec scores de confiance par champ.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[1:15 - 1:25] Vérification automatique : commune (INSEE), parcelle (cadastre), adresse (BAN).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[1:25 - 1:35] L'opérateur contrôle les résultats préremplis et valide en un clic.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[1:35 - 1:45] Les données validées sont publiées directement sur le portail national Géofoncier.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[1:45 - 2:25] DÉMONSTRATION VIDÉO (40s)</a:t>
            </a:r>
          </a:p>
          <a:p/>
          <a:p>
            <a:r>
              <a:t>Démonstration sur un plan manuscrit Harrois et un registre d'arpentage.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[2:25 - 3:00] BILAN</a:t>
            </a:r>
          </a:p>
          <a:p/>
          <a:p>
            <a:r>
              <a:t>Cet outil est directement opérationnel pour GEO-SIAPP. Le temps de traitement est divisé par dix, sans compromis sur la déontologie.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7.jp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8.jp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9.jp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microsoft.com/office/2007/relationships/media" Target="../media/media1.mp4"/><Relationship Id="rId5" Type="http://schemas.openxmlformats.org/officeDocument/2006/relationships/video" Target="../media/media1.mp4"/><Relationship Id="rId6" Type="http://schemas.openxmlformats.org/officeDocument/2006/relationships/image" Target="../media/image10.png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01122"/>
            <a:ext cx="2560320" cy="717994"/>
          </a:xfrm>
          <a:prstGeom prst="rect">
            <a:avLst/>
          </a:prstGeom>
        </p:spPr>
      </p:pic>
      <p:pic>
        <p:nvPicPr>
          <p:cNvPr id="4" name="Picture 3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329" y="457200"/>
            <a:ext cx="1019371" cy="1005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1072865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594360"/>
          <a:lstStyle/>
          <a:p>
            <a:pPr algn="ctr">
              <a:defRPr sz="2300" b="1">
                <a:solidFill>
                  <a:srgbClr val="0F172A"/>
                </a:solidFill>
                <a:latin typeface="Arial"/>
              </a:defRPr>
            </a:pPr>
            <a:r>
              <a:t>DÉVELOPPEMENT D'UN OUTIL PERMETTANT LE TRAITEMENT ET L'INSERTION DES ARCHIVES NUMÉRIQUES SUR GÉOFONCIER</a:t>
            </a:r>
          </a:p>
          <a:p>
            <a:pPr algn="ctr">
              <a:spcBef>
                <a:spcPts val="1600"/>
              </a:spcBef>
              <a:defRPr sz="1300" b="1">
                <a:solidFill>
                  <a:srgbClr val="0284C7"/>
                </a:solidFill>
                <a:latin typeface="Arial"/>
              </a:defRPr>
            </a:pPr>
            <a:r>
              <a:t>PROJET DE FIN D'ÉTUDES — INSA STRASBOURG</a:t>
            </a:r>
          </a:p>
          <a:p>
            <a:pPr algn="ctr">
              <a:spcBef>
                <a:spcPts val="28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Étudiant : Adrien TRAVAILLÉ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64748B"/>
                </a:solidFill>
                <a:latin typeface="Arial"/>
              </a:defRPr>
            </a:pPr>
            <a:r>
              <a:t>Correcteur : M. Mathieu KOEHL (INSA Strasbourg)   •   Encadrant de PFE : M. Gaëtan HAGUE (GEO-SIAPP)</a:t>
            </a:r>
          </a:p>
          <a:p>
            <a:pPr algn="ctr">
              <a:spcBef>
                <a:spcPts val="600"/>
              </a:spcBef>
              <a:defRPr sz="1100" b="0">
                <a:solidFill>
                  <a:srgbClr val="64748B"/>
                </a:solidFill>
                <a:latin typeface="Arial"/>
              </a:defRPr>
            </a:pPr>
            <a:r>
              <a:t>Entreprise : Cabinet GEO-SIAPP   •   18 Chemin de la Plaine, 07200 Aubenas (Ardèche)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88" y="73152"/>
            <a:ext cx="1434703" cy="402336"/>
          </a:xfrm>
          <a:prstGeom prst="rect">
            <a:avLst/>
          </a:prstGeom>
        </p:spPr>
      </p:pic>
      <p:pic>
        <p:nvPicPr>
          <p:cNvPr id="5" name="Picture 4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4645" y="73152"/>
            <a:ext cx="407748" cy="4023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651760" y="100584"/>
            <a:ext cx="2377440" cy="33832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● 1.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00584"/>
            <a:ext cx="2377440" cy="33832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2. Vidéo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00584"/>
            <a:ext cx="2377440" cy="33832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3. Bilan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"/>
            <a:ext cx="10972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0F172A"/>
                </a:solidFill>
                <a:latin typeface="Arial"/>
              </a:defRPr>
            </a:pPr>
            <a:r>
              <a:t>Chaîne de traitement en 6 étapes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143000"/>
            <a:ext cx="10911535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4p_page2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957" y="1280160"/>
            <a:ext cx="10115781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88" y="73152"/>
            <a:ext cx="1434703" cy="402336"/>
          </a:xfrm>
          <a:prstGeom prst="rect">
            <a:avLst/>
          </a:prstGeom>
        </p:spPr>
      </p:pic>
      <p:pic>
        <p:nvPicPr>
          <p:cNvPr id="5" name="Picture 4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4645" y="73152"/>
            <a:ext cx="407748" cy="4023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651760" y="100584"/>
            <a:ext cx="2377440" cy="33832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● 1.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00584"/>
            <a:ext cx="2377440" cy="33832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2. Vidéo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00584"/>
            <a:ext cx="2377440" cy="33832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3. Bilan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"/>
            <a:ext cx="11430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Arial"/>
              </a:defRPr>
            </a:pPr>
            <a:r>
              <a:t>Tri &amp; classification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70432"/>
            <a:ext cx="44805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4p_page2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21232"/>
            <a:ext cx="4206240" cy="214822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7362" y="3138525"/>
            <a:ext cx="1169334" cy="785175"/>
          </a:xfrm>
          <a:prstGeom prst="roundRect">
            <a:avLst/>
          </a:prstGeom>
          <a:noFill/>
          <a:ln w="444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64608" y="1417320"/>
            <a:ext cx="45720" cy="51206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83480" y="1170432"/>
            <a:ext cx="7114032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retraitement_vrai_pl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803765"/>
            <a:ext cx="6858000" cy="41831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88" y="73152"/>
            <a:ext cx="1434703" cy="402336"/>
          </a:xfrm>
          <a:prstGeom prst="rect">
            <a:avLst/>
          </a:prstGeom>
        </p:spPr>
      </p:pic>
      <p:pic>
        <p:nvPicPr>
          <p:cNvPr id="5" name="Picture 4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4645" y="73152"/>
            <a:ext cx="407748" cy="4023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651760" y="100584"/>
            <a:ext cx="2377440" cy="33832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● 1.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00584"/>
            <a:ext cx="2377440" cy="33832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2. Vidéo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00584"/>
            <a:ext cx="2377440" cy="33832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3. Bilan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"/>
            <a:ext cx="11430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Arial"/>
              </a:defRPr>
            </a:pPr>
            <a:r>
              <a:t>Détection spatiale (YOLOv8)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70432"/>
            <a:ext cx="44805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4p_page2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21232"/>
            <a:ext cx="4206240" cy="214822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893630" y="3138525"/>
            <a:ext cx="1303093" cy="785175"/>
          </a:xfrm>
          <a:prstGeom prst="roundRect">
            <a:avLst/>
          </a:prstGeom>
          <a:noFill/>
          <a:ln w="444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64608" y="1417320"/>
            <a:ext cx="45720" cy="51206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83480" y="1170432"/>
            <a:ext cx="7114032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4p_fig2_t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3425" y="1298448"/>
            <a:ext cx="5392429" cy="5193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88" y="73152"/>
            <a:ext cx="1434703" cy="402336"/>
          </a:xfrm>
          <a:prstGeom prst="rect">
            <a:avLst/>
          </a:prstGeom>
        </p:spPr>
      </p:pic>
      <p:pic>
        <p:nvPicPr>
          <p:cNvPr id="5" name="Picture 4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4645" y="73152"/>
            <a:ext cx="407748" cy="4023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651760" y="100584"/>
            <a:ext cx="2377440" cy="33832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● 1.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00584"/>
            <a:ext cx="2377440" cy="33832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2. Vidéo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00584"/>
            <a:ext cx="2377440" cy="33832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3. Bilan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"/>
            <a:ext cx="11430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Arial"/>
              </a:defRPr>
            </a:pPr>
            <a:r>
              <a:t>Lecture hybride &amp; extraction d'entités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70432"/>
            <a:ext cx="44805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4p_page2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21232"/>
            <a:ext cx="4206240" cy="214822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330482" y="3138525"/>
            <a:ext cx="1286268" cy="785175"/>
          </a:xfrm>
          <a:prstGeom prst="roundRect">
            <a:avLst/>
          </a:prstGeom>
          <a:noFill/>
          <a:ln w="444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64608" y="1417320"/>
            <a:ext cx="45720" cy="51206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83480" y="1170432"/>
            <a:ext cx="7114032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xtraction_ocr_gli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893764"/>
            <a:ext cx="6858000" cy="40031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88" y="73152"/>
            <a:ext cx="1434703" cy="402336"/>
          </a:xfrm>
          <a:prstGeom prst="rect">
            <a:avLst/>
          </a:prstGeom>
        </p:spPr>
      </p:pic>
      <p:pic>
        <p:nvPicPr>
          <p:cNvPr id="5" name="Picture 4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4645" y="73152"/>
            <a:ext cx="407748" cy="4023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651760" y="100584"/>
            <a:ext cx="2377440" cy="33832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● 1.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00584"/>
            <a:ext cx="2377440" cy="33832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2. Vidéo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00584"/>
            <a:ext cx="2377440" cy="33832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3. Bilan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"/>
            <a:ext cx="11430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Arial"/>
              </a:defRPr>
            </a:pPr>
            <a:r>
              <a:t>Contrôle de cohérence &amp; référentiels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70432"/>
            <a:ext cx="44805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4p_page2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21232"/>
            <a:ext cx="4206240" cy="214822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330482" y="4090832"/>
            <a:ext cx="1286268" cy="835228"/>
          </a:xfrm>
          <a:prstGeom prst="roundRect">
            <a:avLst/>
          </a:prstGeom>
          <a:noFill/>
          <a:ln w="444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64608" y="1417320"/>
            <a:ext cx="45720" cy="51206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83480" y="1170432"/>
            <a:ext cx="7114032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6.4_match_confirm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845987"/>
            <a:ext cx="6858000" cy="20987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88" y="73152"/>
            <a:ext cx="1434703" cy="402336"/>
          </a:xfrm>
          <a:prstGeom prst="rect">
            <a:avLst/>
          </a:prstGeom>
        </p:spPr>
      </p:pic>
      <p:pic>
        <p:nvPicPr>
          <p:cNvPr id="5" name="Picture 4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4645" y="73152"/>
            <a:ext cx="407748" cy="4023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651760" y="100584"/>
            <a:ext cx="2377440" cy="33832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● 1.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00584"/>
            <a:ext cx="2377440" cy="33832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2. Vidéo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00584"/>
            <a:ext cx="2377440" cy="33832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3. Bilan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"/>
            <a:ext cx="11430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Arial"/>
              </a:defRPr>
            </a:pPr>
            <a:r>
              <a:t>Validation opérateur (Streamlit)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70432"/>
            <a:ext cx="44805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4p_page2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21232"/>
            <a:ext cx="4206240" cy="214822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893630" y="4090832"/>
            <a:ext cx="1303093" cy="835228"/>
          </a:xfrm>
          <a:prstGeom prst="roundRect">
            <a:avLst/>
          </a:prstGeom>
          <a:noFill/>
          <a:ln w="444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64608" y="1417320"/>
            <a:ext cx="45720" cy="51206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83480" y="1170432"/>
            <a:ext cx="7114032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nterface_hau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205978"/>
            <a:ext cx="6858000" cy="33787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88" y="73152"/>
            <a:ext cx="1434703" cy="402336"/>
          </a:xfrm>
          <a:prstGeom prst="rect">
            <a:avLst/>
          </a:prstGeom>
        </p:spPr>
      </p:pic>
      <p:pic>
        <p:nvPicPr>
          <p:cNvPr id="5" name="Picture 4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4645" y="73152"/>
            <a:ext cx="407748" cy="4023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651760" y="100584"/>
            <a:ext cx="2377440" cy="33832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● 1.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00584"/>
            <a:ext cx="2377440" cy="33832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2. Vidéo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00584"/>
            <a:ext cx="2377440" cy="33832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3. Bilan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"/>
            <a:ext cx="11430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Arial"/>
              </a:defRPr>
            </a:pPr>
            <a:r>
              <a:t>Export &amp; versement Géofoncier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70432"/>
            <a:ext cx="44805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4p_page2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21232"/>
            <a:ext cx="4206240" cy="214822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7362" y="4090832"/>
            <a:ext cx="1169334" cy="835228"/>
          </a:xfrm>
          <a:prstGeom prst="roundRect">
            <a:avLst/>
          </a:prstGeom>
          <a:noFill/>
          <a:ln w="444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64608" y="1417320"/>
            <a:ext cx="45720" cy="51206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83480" y="1170432"/>
            <a:ext cx="7114032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tape_2_localisation_cartographi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986896"/>
            <a:ext cx="6858000" cy="38168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88" y="73152"/>
            <a:ext cx="1434703" cy="402336"/>
          </a:xfrm>
          <a:prstGeom prst="rect">
            <a:avLst/>
          </a:prstGeom>
        </p:spPr>
      </p:pic>
      <p:pic>
        <p:nvPicPr>
          <p:cNvPr id="5" name="Picture 4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4645" y="73152"/>
            <a:ext cx="407748" cy="4023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651760" y="100584"/>
            <a:ext cx="2377440" cy="33832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1.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00584"/>
            <a:ext cx="2377440" cy="33832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● 2. Vidéo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00584"/>
            <a:ext cx="2377440" cy="33832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3. Bilan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"/>
            <a:ext cx="11430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Arial"/>
              </a:defRPr>
            </a:pPr>
            <a:r>
              <a:t>Vidéo de démonstration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70432"/>
            <a:ext cx="11551615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Demo_final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31520" y="1298448"/>
            <a:ext cx="10728655" cy="51937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9997135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502920"/>
          <a:lstStyle/>
          <a:p>
            <a:pPr algn="ctr">
              <a:defRPr sz="3000" b="1">
                <a:solidFill>
                  <a:srgbClr val="0F172A"/>
                </a:solidFill>
                <a:latin typeface="Arial"/>
              </a:defRPr>
            </a:pPr>
            <a:r>
              <a:t>Bilan de l'étude</a:t>
            </a:r>
          </a:p>
          <a:p>
            <a:pPr algn="ctr">
              <a:spcBef>
                <a:spcPts val="26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•   Chaîne automatisée de bout en bout</a:t>
            </a:r>
          </a:p>
          <a:p>
            <a:pPr algn="ctr">
              <a:spcBef>
                <a:spcPts val="2600"/>
              </a:spcBef>
              <a:defRPr sz="2200" b="1">
                <a:solidFill>
                  <a:srgbClr val="0284C7"/>
                </a:solidFill>
                <a:latin typeface="Arial"/>
              </a:defRPr>
            </a:pPr>
            <a:r>
              <a:t>•   Gain de temps : 1 min 30 par dossier</a:t>
            </a:r>
          </a:p>
          <a:p>
            <a:pPr algn="ctr">
              <a:spcBef>
                <a:spcPts val="26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•   Validation humaine &amp; Déontologie</a:t>
            </a:r>
          </a:p>
          <a:p>
            <a:pPr algn="ctr">
              <a:spcBef>
                <a:spcPts val="26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•   Déploiement 100 % local en cabinet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