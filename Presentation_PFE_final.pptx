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2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99" y="601200"/>
            <a:ext cx="2559600" cy="717792"/>
          </a:xfrm>
          <a:prstGeom prst="rect">
            <a:avLst/>
          </a:prstGeom>
        </p:spPr>
      </p:pic>
      <p:pic>
        <p:nvPicPr>
          <p:cNvPr id="4" name="Picture 3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600" y="457200"/>
            <a:ext cx="1017912" cy="100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0799" y="1645200"/>
            <a:ext cx="10728000" cy="46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799" y="1645200"/>
            <a:ext cx="10728000" cy="4662000"/>
          </a:xfrm>
          <a:prstGeom prst="rect">
            <a:avLst/>
          </a:prstGeom>
          <a:noFill/>
        </p:spPr>
        <p:txBody>
          <a:bodyPr wrap="square" lIns="730799" tIns="594000" rIns="730799" bIns="46800">
            <a:spAutoFit/>
          </a:bodyPr>
          <a:lstStyle/>
          <a:p>
            <a:pPr algn="ctr"/>
            <a:r>
              <a:rPr sz="2200" b="1">
                <a:solidFill>
                  <a:srgbClr val="102C57"/>
                </a:solidFill>
                <a:latin typeface="Calibri"/>
              </a:rPr>
              <a:t>DÉVELOPPEMENT D'UN OUTIL PERMETTANT LE TRAITEMENT ET L'INSERTION DES ARCHIVES NUMÉRIQUES SUR GÉOFONCIER</a:t>
            </a:r>
          </a:p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0284C7"/>
                </a:solidFill>
                <a:latin typeface="Calibri"/>
              </a:rPr>
              <a:t>PROJET DE FIN D'ÉTUDES  ·  INSA STRASBOURG</a:t>
            </a:r>
          </a:p>
          <a:p>
            <a:pPr algn="ctr">
              <a:spcBef>
                <a:spcPts val="3000"/>
              </a:spcBef>
            </a:pPr>
            <a:r>
              <a:rPr sz="1400" b="1">
                <a:solidFill>
                  <a:srgbClr val="1E293B"/>
                </a:solidFill>
                <a:latin typeface="Calibri"/>
              </a:rPr>
              <a:t>Étudiant : TRAVAILLÉ Adrien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Correcteur : M. Mathieu KOEHL (INSA Strasbourg)   ·   Encadrant de PFE : M. Gaëtan HAGUE (GEO-SIAPP)</a:t>
            </a:r>
          </a:p>
          <a:p>
            <a:pPr algn="ctr">
              <a:spcBef>
                <a:spcPts val="600"/>
              </a:spcBef>
            </a:pPr>
            <a:r>
              <a:rPr sz="1150">
                <a:solidFill>
                  <a:srgbClr val="64748B"/>
                </a:solidFill>
                <a:latin typeface="Calibri"/>
              </a:rPr>
              <a:t>Entreprise : Cabinet GEO-SIAPP   ·   2 Avenue Jean Monnet, 07200 Aubenas (Ardèche)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0" y="4392000"/>
            <a:ext cx="8593200" cy="21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 /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Sommaire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Les 5 grandes parties de la soutenance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" y="1512000"/>
            <a:ext cx="10332000" cy="75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52000" y="1648800"/>
            <a:ext cx="684000" cy="48600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0000" y="1656000"/>
            <a:ext cx="882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2C57"/>
                </a:solidFill>
                <a:latin typeface="Calibri"/>
              </a:rPr>
              <a:t>Contexte métier &amp; Cadre juridique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6000" y="2412000"/>
            <a:ext cx="10332000" cy="75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52000" y="2548800"/>
            <a:ext cx="684000" cy="48600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2556000"/>
            <a:ext cx="882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2C57"/>
                </a:solidFill>
                <a:latin typeface="Calibri"/>
              </a:rPr>
              <a:t>État de l'art des technologies d'analyse documentaire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6000" y="3311999"/>
            <a:ext cx="10332000" cy="75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2000" y="3448799"/>
            <a:ext cx="684000" cy="48600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3455999"/>
            <a:ext cx="882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2C57"/>
                </a:solidFill>
                <a:latin typeface="Calibri"/>
              </a:rPr>
              <a:t>Architecture &amp; Chaîne d'extraction 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6000" y="4212000"/>
            <a:ext cx="10332000" cy="75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52000" y="4348800"/>
            <a:ext cx="684000" cy="48600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0000" y="4356000"/>
            <a:ext cx="882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2C57"/>
                </a:solidFill>
                <a:latin typeface="Calibri"/>
              </a:rPr>
              <a:t>Validation des données &amp; Démonstration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000" y="5112000"/>
            <a:ext cx="10332000" cy="75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52000" y="5248800"/>
            <a:ext cx="684000" cy="48600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0000" y="5256000"/>
            <a:ext cx="882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2C57"/>
                </a:solidFill>
                <a:latin typeface="Calibri"/>
              </a:rPr>
              <a:t>Bilan, Limites &amp; Déontologie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3 /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Problématique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Pourquoi ce projet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1368000"/>
            <a:ext cx="3311999" cy="309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Un fonds d'archives volumineux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02C57"/>
                </a:solidFill>
                <a:latin typeface="Calibri"/>
              </a:rPr>
              <a:t>~23 600 dossiers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Archives de 1959 à 2007, issues de cabinets rachetés par GEO-SIAPP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Supports divers : calques, registres manuscrits, DMPC tapés à la machine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Non versées sur Géofoncier : invisibles pour la profession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3999" y="1368000"/>
            <a:ext cx="3311999" cy="3096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Une obligation légale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02C57"/>
                </a:solidFill>
                <a:latin typeface="Calibri"/>
              </a:rPr>
              <a:t>Article 646 du Code civil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Avant tout bornage, recherche des antériorités obligatoire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Règle : 'bornage sur bornage ne vaut' - la limite ancienne prime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Géofoncier (depuis 2010) : toute intervention doit y être géolocalisée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5999" y="1368000"/>
            <a:ext cx="3311999" cy="3096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/>
          <a:lstStyle/>
          <a:p>
            <a:pPr algn="ctr"/>
            <a:r>
              <a:rPr sz="1300" b="1">
                <a:solidFill>
                  <a:srgbClr val="EA580C"/>
                </a:solidFill>
                <a:latin typeface="Calibri"/>
              </a:rPr>
              <a:t>Une saisie manuelle impossible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02C57"/>
                </a:solidFill>
                <a:latin typeface="Calibri"/>
              </a:rPr>
              <a:t>25 min / dossier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23 600 × 25 min ≈ 9 800 heures de saisie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Recherche physique dans les cartons : chronophage et incertaine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• Certains cabinets facturent la recherche tant elle est lourde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608000"/>
            <a:ext cx="10584000" cy="172800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Problématique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FFFFFF"/>
                </a:solidFill>
                <a:latin typeface="Calibri"/>
              </a:rPr>
              <a:t>Dans quelle mesure est-il possible de concevoir un outil logiciel capable d'extraire avec fiabilité les données d'archives foncières très variées, tout en fonctionnant localement sur un ordinateur de bureau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" y="6408000"/>
            <a:ext cx="10584000" cy="37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54000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📌 Enjeu national : </a:t>
            </a:r>
            <a:r>
              <a:rPr sz="1100">
                <a:solidFill>
                  <a:srgbClr val="1E293B"/>
                </a:solidFill>
                <a:latin typeface="Calibri"/>
              </a:rPr>
              <a:t>L'OGE estime que plusieurs dizaines de millions de documents dorment dans les archives des cabinets français.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0" y="0"/>
            <a:ext cx="787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48000"/>
            <a:ext cx="4320000" cy="81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7999"/>
            <a:ext cx="39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Calibri"/>
              </a:rPr>
              <a:t>01</a:t>
            </a:r>
          </a:p>
          <a:p>
            <a:pPr algn="ctr">
              <a:spcBef>
                <a:spcPts val="0"/>
              </a:spcBef>
            </a:pPr>
            <a:r>
              <a:rPr sz="1200" b="1">
                <a:solidFill>
                  <a:srgbClr val="94A3B8"/>
                </a:solidFill>
                <a:latin typeface="Calibri"/>
              </a:rPr>
              <a:t>CHAPITRE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540000"/>
            <a:ext cx="21600" cy="576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0" y="864000"/>
            <a:ext cx="70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02C57"/>
                </a:solidFill>
                <a:latin typeface="Calibri"/>
              </a:rPr>
              <a:t>Contexte métier</a:t>
            </a:r>
            <a:br/>
            <a:r>
              <a:t>&amp; Cadre juridique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284C7"/>
                </a:solidFill>
                <a:latin typeface="Calibri"/>
              </a:rPr>
              <a:t>GEO-SIAPP, archives papier et obligations de la profession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2951999"/>
            <a:ext cx="666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0000" y="3168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0000" y="3186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Structure d'accueil : le Cabinet GEO-SIAPP et ses 4 agences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726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0000" y="3744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Cadre juridique : Article 646 et obligation de recherche des antériorités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4284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0000" y="4302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Réalité du fonds : 23 600 dossiers de 1959 à 2007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4842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000" y="4860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Le portail Géofoncier et l'enjeu du versement rétrospectif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19" name="Picture 18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1. Contexte &amp; Cadre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1.1 GEO-SIAPP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1.2 Cadre juridique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1.3 Archives papier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1.4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5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Structure d'accueil : Le Cabinet GEO-SIAPP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Implantation territoriale et missions du cabinet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1368000"/>
            <a:ext cx="5040000" cy="2340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Siège à Aubenas (Ardèche) : </a:t>
            </a:r>
            <a:r>
              <a:rPr sz="1350">
                <a:solidFill>
                  <a:srgbClr val="1E293B"/>
                </a:solidFill>
                <a:latin typeface="Calibri"/>
              </a:rPr>
              <a:t>Cabinet créé en 1992, développé par acquisitions de cabinets locaux dont les archives remontent à 1959.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4 agences : </a:t>
            </a:r>
            <a:r>
              <a:rPr sz="1350">
                <a:solidFill>
                  <a:srgbClr val="1E293B"/>
                </a:solidFill>
                <a:latin typeface="Calibri"/>
              </a:rPr>
              <a:t>Aubenas, Pierrelatte, Vallon-Pont-d'Arc, Guilherand-Granges.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Missions : </a:t>
            </a:r>
            <a:r>
              <a:rPr sz="1350">
                <a:solidFill>
                  <a:srgbClr val="1E293B"/>
                </a:solidFill>
                <a:latin typeface="Calibri"/>
              </a:rPr>
              <a:t>Foncier (bornage, divisions), urbanisme, ingénierie VRD et topographie (drone, LiDAR, bathymétrie).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996000"/>
            <a:ext cx="1512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1992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Création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GEO-SIAPP Aubenas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20000" y="3996000"/>
            <a:ext cx="1584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Agences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Ardèche &amp; Drôme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4000" y="3996000"/>
            <a:ext cx="1512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~40 000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Dossiers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dont 23 600 ciblés</a:t>
            </a:r>
          </a:p>
        </p:txBody>
      </p:sp>
      <p:pic>
        <p:nvPicPr>
          <p:cNvPr id="22" name="Picture 21" descr="bureau_cropp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500836"/>
            <a:ext cx="5328000" cy="22883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76000" y="4825163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Implantation territoriale de GEO-SIAPP (Source : geo-siapp.com)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1.1 GEO-SIAPP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1.2 Cadre juridique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1.3 Archives papier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1.4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6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Cadre juridique : L'obligation de recherche des antériorités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Article 646 du Code civil et responsabilité décennale du géomètre-expert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Article 646 du Code civil : </a:t>
            </a:r>
            <a:r>
              <a:rPr sz="1350">
                <a:solidFill>
                  <a:srgbClr val="1E293B"/>
                </a:solidFill>
                <a:latin typeface="Calibri"/>
              </a:rPr>
              <a:t>Tout propriétaire peut obliger son voisin au bornage de leurs propriétés contiguës.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Règle 'bornage sur bornage ne vaut' : </a:t>
            </a:r>
            <a:r>
              <a:rPr sz="1350">
                <a:solidFill>
                  <a:srgbClr val="1E293B"/>
                </a:solidFill>
                <a:latin typeface="Calibri"/>
              </a:rPr>
              <a:t>Si une limite est déjà fixée définitivement, le géomètre ne peut la remettre en cause.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Responsabilité civile : </a:t>
            </a:r>
            <a:r>
              <a:rPr sz="1350">
                <a:solidFill>
                  <a:srgbClr val="1E293B"/>
                </a:solidFill>
                <a:latin typeface="Calibri"/>
              </a:rPr>
              <a:t>Le géomètre engage sa responsabilité décennale s'il ignore une opération antérieure.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En pratique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La toute première étape d'une nouvelle mission : interroger Géofoncier. Si l'opération ancienne n'est pas versée, la recherche physique en carton prend plusieurs heures sans garantie de succès.</a:t>
            </a:r>
          </a:p>
        </p:txBody>
      </p:sp>
      <p:pic>
        <p:nvPicPr>
          <p:cNvPr id="20" name="Picture 19" descr="registre_crop_op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000" y="2979976"/>
            <a:ext cx="5148000" cy="133004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0000" y="4346023"/>
            <a:ext cx="51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Registre historique manuscrit du Cabinet (vers 1979)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1.1 GEO-SIAPP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1.2 Cadre juridique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1.3 Archives papier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1.4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7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Réalité du fonds : 23 600 dossiers d'archives hétérogènes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Cinq fonds de géomètres prédécesseurs, de 1959 à 2007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Registres manuscrits : </a:t>
            </a:r>
            <a:r>
              <a:rPr sz="1350">
                <a:solidFill>
                  <a:srgbClr val="1E293B"/>
                </a:solidFill>
                <a:latin typeface="Calibri"/>
              </a:rPr>
              <a:t>Listes d'affaires tenues à la main par chaque géomètre, avec abréviations et guillemets de répétition.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Formulaires DMPC : </a:t>
            </a:r>
            <a:r>
              <a:rPr sz="1350">
                <a:solidFill>
                  <a:srgbClr val="1E293B"/>
                </a:solidFill>
                <a:latin typeface="Calibri"/>
              </a:rPr>
              <a:t>Documents d'Arpentage tapés à la machine, mis en page normalisée mais avec taches et ratures.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Pièces annexes : </a:t>
            </a:r>
            <a:r>
              <a:rPr sz="1350">
                <a:solidFill>
                  <a:srgbClr val="1E293B"/>
                </a:solidFill>
                <a:latin typeface="Calibri"/>
              </a:rPr>
              <a:t>Devis, factures, croquis de terrain : à ignorer lors du traitement automatique.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996000"/>
            <a:ext cx="2088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48 ans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D'archives papier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Période 1959-2007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6000" y="3996000"/>
            <a:ext cx="2088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5 fonds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Géomètres prédécesseurs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Aubenas &amp; Privas</a:t>
            </a:r>
          </a:p>
        </p:txBody>
      </p:sp>
      <p:pic>
        <p:nvPicPr>
          <p:cNvPr id="21" name="Picture 20" descr="repartition_archi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485016"/>
            <a:ext cx="5328000" cy="23199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76000" y="4840983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Répartition typologique des 23 600 dossiers du cabinet GEO-SIAPP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1.1 GEO-SIAPP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1.2 Cadre juridique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1.3 Archives papier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1.4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8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Le portail Géofoncier : Référentiel national des géomètres-experts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Obligation ordinale de versement et enjeu du rétrospectif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Créé en 2010 par l'OGE : </a:t>
            </a:r>
            <a:r>
              <a:rPr sz="1350">
                <a:solidFill>
                  <a:srgbClr val="1E293B"/>
                </a:solidFill>
                <a:latin typeface="Calibri"/>
              </a:rPr>
              <a:t>Portail cartographique centralisant toutes les interventions foncières en France sous forme de pastilles géolocalisées.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Obligation ordinale : </a:t>
            </a:r>
            <a:r>
              <a:rPr sz="1350">
                <a:solidFill>
                  <a:srgbClr val="1E293B"/>
                </a:solidFill>
                <a:latin typeface="Calibri"/>
              </a:rPr>
              <a:t>Tout document d'arpentage ou bornage doit être localisé par une pastille RFU officielle.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350" b="1">
                <a:solidFill>
                  <a:srgbClr val="102C57"/>
                </a:solidFill>
                <a:latin typeface="Calibri"/>
              </a:rPr>
              <a:t>• Les archives d'avant 2010 : </a:t>
            </a:r>
            <a:r>
              <a:rPr sz="1350">
                <a:solidFill>
                  <a:srgbClr val="1E293B"/>
                </a:solidFill>
                <a:latin typeface="Calibri"/>
              </a:rPr>
              <a:t>Les 23 600 dossiers antérieurs restent invisibles sur le portail sans versement structuré.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Objectif opérationnel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Transformer un demi-siècle d'archives papier en pastilles consultables par la profession entière, évitant les doublons de bornage et les contestations de limites.</a:t>
            </a:r>
          </a:p>
        </p:txBody>
      </p:sp>
      <p:pic>
        <p:nvPicPr>
          <p:cNvPr id="20" name="Picture 19" descr="fig_geofoncier_pra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000" y="2185863"/>
            <a:ext cx="5148000" cy="29182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0000" y="5140136"/>
            <a:ext cx="51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Portail Géofoncier : pastilles géolocalisées des interventions foncières sur Prades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0" y="0"/>
            <a:ext cx="787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48000"/>
            <a:ext cx="4320000" cy="81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7999"/>
            <a:ext cx="39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Calibri"/>
              </a:rPr>
              <a:t>02</a:t>
            </a:r>
          </a:p>
          <a:p>
            <a:pPr algn="ctr">
              <a:spcBef>
                <a:spcPts val="0"/>
              </a:spcBef>
            </a:pPr>
            <a:r>
              <a:rPr sz="1200" b="1">
                <a:solidFill>
                  <a:srgbClr val="94A3B8"/>
                </a:solidFill>
                <a:latin typeface="Calibri"/>
              </a:rPr>
              <a:t>CHAPITRE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540000"/>
            <a:ext cx="21600" cy="576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0" y="864000"/>
            <a:ext cx="70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02C57"/>
                </a:solidFill>
                <a:latin typeface="Calibri"/>
              </a:rPr>
              <a:t>État de l'art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284C7"/>
                </a:solidFill>
                <a:latin typeface="Calibri"/>
              </a:rPr>
              <a:t>Technologies d'analyse automatique de documents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2951999"/>
            <a:ext cx="666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0000" y="3168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0000" y="3186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OCR imprimé : de Tesseract au Deep Learning (Baek et al., 2019)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726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0000" y="3744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HTR manuscrit : PyLaia (Tarride, 2024) vs TrOCR (Li et al., 2021)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4284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0000" y="4302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Détection de zones : YOLOv8 vs LayoutLM (Xu et al., 2020)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4842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000" y="4860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Extraction d'entités : NER supervisé vs GLiNER Zero-Shot (Zaratiana, 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0" y="5400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0000" y="5418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Modèles Vision-Langage locaux : LLaVA / MiniCPM-V sous Ollama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0000" y="5958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0000" y="5976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Tableaux &amp; métriques : TATR, DBSCAN, CER, WER, 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23" name="Picture 22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10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Lecture de texte imprimé (OCR)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De Tesseract aux réseaux profonds : Baek et al.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Tesseract v5 (Smith, 2007) : </a:t>
            </a:r>
            <a:r>
              <a:rPr sz="1250">
                <a:solidFill>
                  <a:srgbClr val="1E293B"/>
                </a:solidFill>
                <a:latin typeface="Calibri"/>
              </a:rPr>
              <a:t>Découpage successif en lignes, mots et caractères isolés. Lignes de base modélisées par splines polynomiales pour absorber les ondulations du papier.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Pipeline 4 étapes (Baek et al., 2019) : </a:t>
            </a:r>
            <a:r>
              <a:rPr sz="1250">
                <a:solidFill>
                  <a:srgbClr val="1E293B"/>
                </a:solidFill>
                <a:latin typeface="Calibri"/>
              </a:rPr>
              <a:t>Transformation géométrique TPS, extraction visuelle ResNet, modélisation de séquence BiLSTM et prédiction CTC ou Attention.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EasyOCR (Jaided AI, 2021) : </a:t>
            </a:r>
            <a:r>
              <a:rPr sz="1250">
                <a:solidFill>
                  <a:srgbClr val="1E293B"/>
                </a:solidFill>
                <a:latin typeface="Calibri"/>
              </a:rPr>
              <a:t>Détection des boîtes de texte par CRAFT combinée à un réseau récurrent CRNN. Adapté aux formulaires imprimés DMPC.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Binarisation adaptative (Otsu / Sauvola) : </a:t>
            </a:r>
            <a:r>
              <a:rPr sz="1250">
                <a:solidFill>
                  <a:srgbClr val="1E293B"/>
                </a:solidFill>
                <a:latin typeface="Calibri"/>
              </a:rPr>
              <a:t>Calcul d'un seuil local par pixel selon la moyenne et l'écart-type du voisinage pour préserver les traits fins d'encre.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4 étapes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Pipeline Baek et al.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TPS · ResNet · BiLSTM · CTC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0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CRAFT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Détection de texte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Réseau EasyOCR</a:t>
            </a:r>
          </a:p>
        </p:txBody>
      </p:sp>
      <p:pic>
        <p:nvPicPr>
          <p:cNvPr id="25" name="Picture 24" descr="baek_ocr_pipeline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3100882"/>
            <a:ext cx="5328000" cy="108823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76000" y="4225117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Pipeline OCR 4 étapes (Baek et al., 2019)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11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Reconnaissance de l'écriture manuscrite (HTR)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PyLaia (Tarride et al., 2024) vs TrOCR (Li et al., 2021)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Signal visuel continu : </a:t>
            </a:r>
            <a:r>
              <a:rPr sz="1250">
                <a:solidFill>
                  <a:srgbClr val="1E293B"/>
                </a:solidFill>
                <a:latin typeface="Calibri"/>
              </a:rPr>
              <a:t>En écriture cursive, les lettres sont attachées et variables : le système analyse la ligne entière sans tenter d'isoler les caractères.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Architecture CNN + CTC (PyLaia) : </a:t>
            </a:r>
            <a:r>
              <a:rPr sz="1250">
                <a:solidFill>
                  <a:srgbClr val="1E293B"/>
                </a:solidFill>
                <a:latin typeface="Calibri"/>
              </a:rPr>
              <a:t>Convolutions pour les formes, réseau bidirectionnel (BLSTM) pour le contexte et alignement temporel CTC sans annotation lettre par lettre.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Architecture Transformer (TrOCR) : </a:t>
            </a:r>
            <a:r>
              <a:rPr sz="1250">
                <a:solidFill>
                  <a:srgbClr val="1E293B"/>
                </a:solidFill>
                <a:latin typeface="Calibri"/>
              </a:rPr>
              <a:t>Découpage de la ligne en patchs visuels (16×16 px) traités par un Vision Transformer (ViT) et génération mot à mot par un décodeur de langage.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Mécanisme d'attention (Vaswani) : </a:t>
            </a:r>
            <a:r>
              <a:rPr sz="1250">
                <a:solidFill>
                  <a:srgbClr val="1E293B"/>
                </a:solidFill>
                <a:latin typeface="Calibri"/>
              </a:rPr>
              <a:t>Calcul des scores softmax(QK^T / sqrt(d_k))V pour focaliser le réseau directement sur le tracé de chaque lettre correspondante.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Ligne entière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Analyse continue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Sans découpe de lettre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0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ViT + RoBERTa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Architecture TrOCR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Attention multi-tête</a:t>
            </a:r>
          </a:p>
        </p:txBody>
      </p:sp>
      <p:pic>
        <p:nvPicPr>
          <p:cNvPr id="25" name="Picture 24" descr="trocr_architecture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653856"/>
            <a:ext cx="5328000" cy="19822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76000" y="4672143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Architecture TrOCR : ViT + décodeur RoBERTa (Li et al., 2021)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12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Détection et segmentation spatiale des zones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Principe de segmentation visuelle par YOLOv8 (Ultralytics, 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Détection en un seul passage : </a:t>
            </a:r>
            <a:r>
              <a:rPr sz="1250">
                <a:solidFill>
                  <a:srgbClr val="1E293B"/>
                </a:solidFill>
                <a:latin typeface="Calibri"/>
              </a:rPr>
              <a:t>L'image du document est analysée globalement sur une grille de cellules pour prédire simultanément les boîtes et les catégories.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Architecture sans ancrage (Anchor-free) : </a:t>
            </a:r>
            <a:r>
              <a:rPr sz="1250">
                <a:solidFill>
                  <a:srgbClr val="1E293B"/>
                </a:solidFill>
                <a:latin typeface="Calibri"/>
              </a:rPr>
              <a:t>YOLOv8 prédit directement le centre et les dimensions des blocs sans boîtes préformées, s'adaptant aux formats d'archives non standards.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Fonction de perte CIoU (Zheng, 2020) : </a:t>
            </a:r>
            <a:r>
              <a:rPr sz="1250">
                <a:solidFill>
                  <a:srgbClr val="1E293B"/>
                </a:solidFill>
                <a:latin typeface="Calibri"/>
              </a:rPr>
              <a:t>Optimisation conjointe du chevauchement IoU, de la distance euclidienne entre centres et du rapport d'aspect des boîtes.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Indépendance visuelle totale : </a:t>
            </a:r>
            <a:r>
              <a:rPr sz="1250">
                <a:solidFill>
                  <a:srgbClr val="1E293B"/>
                </a:solidFill>
                <a:latin typeface="Calibri"/>
              </a:rPr>
              <a:t>Repérage des cartouches, tableaux de parcelles et tampons cadastraux sur la géométrie pure, sans dépendre de la lecture du texte.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Rôle clé dans la chaîne de traitement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Isoler préalablement les zones d'intérêt préserve les ressources de calcul : les modèles de lecture de texte ne traitent que les extraits strictement utiles plutôt que l'image complète de l'archive.</a:t>
            </a:r>
          </a:p>
        </p:txBody>
      </p:sp>
      <p:pic>
        <p:nvPicPr>
          <p:cNvPr id="24" name="Picture 23" descr="r4p_fig2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915" y="1368000"/>
            <a:ext cx="4728168" cy="455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6000" y="5958000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Détection des zones sur un DMPC par YOLOv8 (boîtes englobantes)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13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Extraction d'entités nommées métier (NER)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Approches supervisées vs Zero-Shot GLiNER (Zaratiana et al., 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Limite du NER classique (spaCy, BERT) : </a:t>
            </a:r>
            <a:r>
              <a:rPr sz="1250">
                <a:solidFill>
                  <a:srgbClr val="1E293B"/>
                </a:solidFill>
                <a:latin typeface="Calibri"/>
              </a:rPr>
              <a:t>Fonctionne sur une liste fermée de catégories. Ajouter des entités cadastrales requiert un réentraînement sur données annotées.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Approche Zero-Shot bidirectionnelle : </a:t>
            </a:r>
            <a:r>
              <a:rPr sz="1250">
                <a:solidFill>
                  <a:srgbClr val="1E293B"/>
                </a:solidFill>
                <a:latin typeface="Calibri"/>
              </a:rPr>
              <a:t>GLiNER utilise un encodeur de langage (DeBERTa) projetant simultanément le texte à analyser et la liste des entités cibles.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Matrice de ressemblance vectorielle : </a:t>
            </a:r>
            <a:r>
              <a:rPr sz="1250">
                <a:solidFill>
                  <a:srgbClr val="1E293B"/>
                </a:solidFill>
                <a:latin typeface="Calibri"/>
              </a:rPr>
              <a:t>Calcul d'un produit scalaire entre les représentations des segments de texte et les représentations des catégories demandées.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Flexibilité opérationnelle : </a:t>
            </a:r>
            <a:r>
              <a:rPr sz="1250">
                <a:solidFill>
                  <a:srgbClr val="1E293B"/>
                </a:solidFill>
                <a:latin typeface="Calibri"/>
              </a:rPr>
              <a:t>Extraction immédiate des noms de communes, dates, sections et parcelles par de simples mots-clés dans la consigne, sans annoter de corpus.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Condition de fonctionnement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L'extraction s'opère directement sur le texte brut sans phase d'apprentissage préalable. Sa robustesse repose néanmoins sur la propreté de la transcription transmise par la brique amont.</a:t>
            </a:r>
          </a:p>
        </p:txBody>
      </p:sp>
      <p:pic>
        <p:nvPicPr>
          <p:cNvPr id="24" name="Picture 23" descr="gliner_gener_r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146500"/>
            <a:ext cx="5328000" cy="2997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6000" y="5179500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Architecture bidirectionnelle GLiNER (Zaratiana et al., 2024)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14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Modèles Vision-Langage (VLM) et souveraineté locale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Principe multimodal et cadre d'exécution souverain en cabinet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Principe Vision-Langage (LLaVA) : </a:t>
            </a:r>
            <a:r>
              <a:rPr sz="1250">
                <a:solidFill>
                  <a:srgbClr val="1E293B"/>
                </a:solidFill>
                <a:latin typeface="Calibri"/>
              </a:rPr>
              <a:t>Couplage d'un encodeur visuel (SigLIP / CLIP) projeté vers un grand modèle de langage pour analyser conjointement image et consigne textuelle.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Exclusion stricte du Cloud : </a:t>
            </a:r>
            <a:r>
              <a:rPr sz="1250">
                <a:solidFill>
                  <a:srgbClr val="1E293B"/>
                </a:solidFill>
                <a:latin typeface="Calibri"/>
              </a:rPr>
              <a:t>Les modèles hébergés à distance sont exclus pour garantir le respect absolu du secret professionnel et de la souveraineté des données d'archives.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Quantification locale 4 bits : </a:t>
            </a:r>
            <a:r>
              <a:rPr sz="1250">
                <a:solidFill>
                  <a:srgbClr val="1E293B"/>
                </a:solidFill>
                <a:latin typeface="Calibri"/>
              </a:rPr>
              <a:t>Compression des poids du modèle pour permettre une exécution fluide sous Ollama sur les postes de travail existants du cabinet (8 Go VRAM).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Positionnement comme modèle de secours : </a:t>
            </a:r>
            <a:r>
              <a:rPr sz="1250">
                <a:solidFill>
                  <a:srgbClr val="1E293B"/>
                </a:solidFill>
                <a:latin typeface="Calibri"/>
              </a:rPr>
              <a:t>Intervention ciblée uniquement sur les extraits complexes où la confiance des modèles amont est insuffisante.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Gestion du risque d'hallucination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Sur les écritures très dégradées, les modèles Vision-Langage peuvent formuler des réponses plausibles mais inexactes. Le VLM est donc encadré par des règles de cohérence géométrique et cadastrale.</a:t>
            </a:r>
          </a:p>
        </p:txBody>
      </p:sp>
      <p:pic>
        <p:nvPicPr>
          <p:cNvPr id="24" name="Picture 23" descr="llava_arch_r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3004086"/>
            <a:ext cx="5328000" cy="12818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6000" y="4321913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Architecture LLaVA / MiniCPM-V : modèle Vision-Langage local (Liu et al., 2024)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15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Extraction de tableaux et métriques d'évaluation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Table Transformer (Smock, 2022), densités et métriques standardisées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Table Transformer TATR (Smock, 2022) : </a:t>
            </a:r>
            <a:r>
              <a:rPr sz="1250">
                <a:solidFill>
                  <a:srgbClr val="1E293B"/>
                </a:solidFill>
                <a:latin typeface="Calibri"/>
              </a:rPr>
              <a:t>Architecture DETR prédisant la structure des tableaux (lignes, colonnes, cellules) sous forme de boîtes englobantes sans règles rigides.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Registres sans grille géométrique : </a:t>
            </a:r>
            <a:r>
              <a:rPr sz="1250">
                <a:solidFill>
                  <a:srgbClr val="1E293B"/>
                </a:solidFill>
                <a:latin typeface="Calibri"/>
              </a:rPr>
              <a:t>Calcul de l'histogramme des projections de densité horizontale et clustering DBSCAN 1D sur les centroïdes verticaux des mots.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Taux d'erreur caractères (CER) : </a:t>
            </a:r>
            <a:r>
              <a:rPr sz="1250">
                <a:solidFill>
                  <a:srgbClr val="1E293B"/>
                </a:solidFill>
                <a:latin typeface="Calibri"/>
              </a:rPr>
              <a:t>CER = (S + D + I) / N : distance de Levenshtein comptant les substitutions, suppressions et insertions par rapport à la référence.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Précision, Rappel et F1-Score : </a:t>
            </a:r>
            <a:r>
              <a:rPr sz="1250">
                <a:solidFill>
                  <a:srgbClr val="1E293B"/>
                </a:solidFill>
                <a:latin typeface="Calibri"/>
              </a:rPr>
              <a:t>P = TP/(TP+FP), R = TP/(TP+FN), F1 = 2×(P×R)/(P+R) : mesure conjointe de la justesse des entités extraites et de l'absence d'omissions.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Complémentarité des métriques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Le CER évalue la fidélité de la transcription textuelle brute (OCR / HTR), tandis que le score F1 mesure l'exactitude de l'attribution des métadonnées métier (communes, parcelles, dates).</a:t>
            </a:r>
          </a:p>
        </p:txBody>
      </p:sp>
      <p:pic>
        <p:nvPicPr>
          <p:cNvPr id="24" name="Picture 23" descr="table_transformer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475800"/>
            <a:ext cx="5328000" cy="2338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6000" y="4850200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Table Transformer : détection, structure et cellules (Smock et al., 2022)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16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Synthèse de l'état de l'art : L'architecture hybride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Complémentarité des 4 briques retenues pour traiter la diversité du fonds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1368000"/>
            <a:ext cx="5184000" cy="208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378000" wrap="square"/>
          <a:lstStyle/>
          <a:p>
            <a:pPr algn="ctr"/>
            <a:r>
              <a:rPr sz="1250" b="1">
                <a:solidFill>
                  <a:srgbClr val="1E293B"/>
                </a:solidFill>
                <a:latin typeface="Calibri"/>
              </a:rPr>
              <a:t>YOLOv8 Nano (Ultralytics)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Découpe visuelle des zones d'intérêt : cartouches, tableaux, formulaires, tampons.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Fonctionne sur la géométrie pure sans lire le texte.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Empreinte mémoire minime (&lt; 2 Go GPU) et insensibilité aux ratures.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1368000"/>
            <a:ext cx="5184000" cy="30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 Segmentation spatiale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368000"/>
            <a:ext cx="5184000" cy="208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378000" wrap="square"/>
          <a:lstStyle/>
          <a:p>
            <a:pPr algn="ctr"/>
            <a:r>
              <a:rPr sz="1250" b="1">
                <a:solidFill>
                  <a:srgbClr val="1E293B"/>
                </a:solidFill>
                <a:latin typeface="Calibri"/>
              </a:rPr>
              <a:t>EasyOCR + TrOCR francophone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Double moteur adapté à la typologie de chaque zone découpée.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EasyOCR pour les formulaires imprimés DMPC (CRAFT + CRNN).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TrOCR pour l'écriture manuscrite des registres anciens (ViT + RoBERTa).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2000" y="1368000"/>
            <a:ext cx="5184000" cy="306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2. Lecture textuelle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2000" y="3600000"/>
            <a:ext cx="5184000" cy="208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378000" wrap="square"/>
          <a:lstStyle/>
          <a:p>
            <a:pPr algn="ctr"/>
            <a:r>
              <a:rPr sz="1250" b="1">
                <a:solidFill>
                  <a:srgbClr val="1E293B"/>
                </a:solidFill>
                <a:latin typeface="Calibri"/>
              </a:rPr>
              <a:t>GLiNER Zero-Shot (DeBERTa)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Identification des métadonnées métier : commune, section, parcelles, dates.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Projection vectorielle bidirectionnelle sans aucun réentraînement.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Définition dynamique des catégories cibles par simple consigne textuelle.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000" y="3600000"/>
            <a:ext cx="5184000" cy="30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3. Extraction d'entités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2000" y="3600000"/>
            <a:ext cx="5184000" cy="208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378000" wrap="square"/>
          <a:lstStyle/>
          <a:p>
            <a:pPr algn="ctr"/>
            <a:r>
              <a:rPr sz="1250" b="1">
                <a:solidFill>
                  <a:srgbClr val="1E293B"/>
                </a:solidFill>
                <a:latin typeface="Calibri"/>
              </a:rPr>
              <a:t>MiniCPM-V / LLaVA (4-bit)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Modèle Vision-Langage exécuté localement sous Ollama.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Intervention ciblée de secours sur les zones ambiguës ou manuscrites denses.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Calibri"/>
              </a:rPr>
              <a:t>• Respect absolu du secret professionnel : zéro donnée transmise au Cloud.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2000" y="3600000"/>
            <a:ext cx="5184000" cy="30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4. Arbitrage souverain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2000" y="5868000"/>
            <a:ext cx="10584000" cy="503999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54000"/>
          <a:lstStyle/>
          <a:p>
            <a:pPr algn="ctr"/>
            <a:r>
              <a:rPr sz="1100" b="1">
                <a:solidFill>
                  <a:srgbClr val="102C57"/>
                </a:solidFill>
                <a:latin typeface="Calibri"/>
              </a:rPr>
              <a:t>Justification du couplage hybride : </a:t>
            </a:r>
            <a:r>
              <a:rPr sz="1050">
                <a:solidFill>
                  <a:srgbClr val="1E293B"/>
                </a:solidFill>
                <a:latin typeface="Calibri"/>
              </a:rPr>
              <a:t>Aucun modèle ne peut traiter seul l'ensemble du fonds. L'architecture hybride associe chaque outil sur son domaine d'excellence, tout en garantissant un traitement 100 % local et souverain.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2.1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97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2.2 HTR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8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2.3 YOLO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59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2.4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90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2.5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21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2.6 Tableaux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200" y="378000"/>
            <a:ext cx="12483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Synthèse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8300" y="378000"/>
            <a:ext cx="12483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Écartés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17 /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Technologies étudiées mais non retenues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Justification technique des choix d'exclusion (Section 3.7 du mémoire)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1368000"/>
            <a:ext cx="518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144000" tIns="90000" wrap="square"/>
          <a:lstStyle/>
          <a:p>
            <a:pPr algn="ctr"/>
            <a:r>
              <a:rPr sz="1200" b="1">
                <a:solidFill>
                  <a:srgbClr val="102C57"/>
                </a:solidFill>
                <a:latin typeface="Calibri"/>
              </a:rPr>
              <a:t>Tesseract v5 (Smith, 2007)</a:t>
            </a:r>
          </a:p>
          <a:p>
            <a:pPr>
              <a:spcBef>
                <a:spcPts val="100"/>
              </a:spcBef>
            </a:pPr>
            <a:r>
              <a:rPr sz="1000" i="1">
                <a:solidFill>
                  <a:srgbClr val="64748B"/>
                </a:solidFill>
                <a:latin typeface="Calibri"/>
              </a:rPr>
              <a:t>Moteur OCR par découpage de caractères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EA580C"/>
                </a:solidFill>
                <a:latin typeface="Calibri"/>
              </a:rPr>
              <a:t>Motif d'exclusion : </a:t>
            </a:r>
            <a:r>
              <a:rPr sz="1050">
                <a:solidFill>
                  <a:srgbClr val="1E293B"/>
                </a:solidFill>
                <a:latin typeface="Calibri"/>
              </a:rPr>
              <a:t>Analyse caractère par caractère inopérante sur l'écriture manuscrite cursive des registres anciens, où les lettres sont attachées et ondulées.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1368000"/>
            <a:ext cx="144000" cy="133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2000" y="1368000"/>
            <a:ext cx="518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144000" tIns="90000" wrap="square"/>
          <a:lstStyle/>
          <a:p>
            <a:pPr algn="ctr"/>
            <a:r>
              <a:rPr sz="1200" b="1">
                <a:solidFill>
                  <a:srgbClr val="102C57"/>
                </a:solidFill>
                <a:latin typeface="Calibri"/>
              </a:rPr>
              <a:t>LayoutLM / LayoutLMv3 (Xu, 2020)</a:t>
            </a:r>
          </a:p>
          <a:p>
            <a:pPr>
              <a:spcBef>
                <a:spcPts val="100"/>
              </a:spcBef>
            </a:pPr>
            <a:r>
              <a:rPr sz="1000" i="1">
                <a:solidFill>
                  <a:srgbClr val="64748B"/>
                </a:solidFill>
                <a:latin typeface="Calibri"/>
              </a:rPr>
              <a:t>Modèle multimodal texte-position-image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EA580C"/>
                </a:solidFill>
                <a:latin typeface="Calibri"/>
              </a:rPr>
              <a:t>Motif d'exclusion : </a:t>
            </a:r>
            <a:r>
              <a:rPr sz="1050">
                <a:solidFill>
                  <a:srgbClr val="1E293B"/>
                </a:solidFill>
                <a:latin typeface="Calibri"/>
              </a:rPr>
              <a:t>Dépendance critique envers l'OCR initial : les erreurs de lecture manuscrite se propagent et faussent la compréhension globale. Réentraînement hors de portée.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2000" y="1368000"/>
            <a:ext cx="144000" cy="133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2000" y="2808000"/>
            <a:ext cx="518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144000" tIns="90000" wrap="square"/>
          <a:lstStyle/>
          <a:p>
            <a:pPr algn="ctr"/>
            <a:r>
              <a:rPr sz="1200" b="1">
                <a:solidFill>
                  <a:srgbClr val="102C57"/>
                </a:solidFill>
                <a:latin typeface="Calibri"/>
              </a:rPr>
              <a:t>Donut (Kim et al., 2022)</a:t>
            </a:r>
          </a:p>
          <a:p>
            <a:pPr>
              <a:spcBef>
                <a:spcPts val="100"/>
              </a:spcBef>
            </a:pPr>
            <a:r>
              <a:rPr sz="1000" i="1">
                <a:solidFill>
                  <a:srgbClr val="64748B"/>
                </a:solidFill>
                <a:latin typeface="Calibri"/>
              </a:rPr>
              <a:t>Décodage visuel direct sans OCR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EA580C"/>
                </a:solidFill>
                <a:latin typeface="Calibri"/>
              </a:rPr>
              <a:t>Motif d'exclusion : </a:t>
            </a:r>
            <a:r>
              <a:rPr sz="1050">
                <a:solidFill>
                  <a:srgbClr val="1E293B"/>
                </a:solidFill>
                <a:latin typeface="Calibri"/>
              </a:rPr>
              <a:t>Limité aux structures de documents pré-apprises. Son adoption aurait exigé d'annoter exhaustivement chaque type de formulaire historique du cabinet.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000" y="2808000"/>
            <a:ext cx="144000" cy="133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92000" y="2808000"/>
            <a:ext cx="518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144000" tIns="90000" wrap="square"/>
          <a:lstStyle/>
          <a:p>
            <a:pPr algn="ctr"/>
            <a:r>
              <a:rPr sz="1200" b="1">
                <a:solidFill>
                  <a:srgbClr val="102C57"/>
                </a:solidFill>
                <a:latin typeface="Calibri"/>
              </a:rPr>
              <a:t>Qwen-VL (Bai et al., 2023)</a:t>
            </a:r>
          </a:p>
          <a:p>
            <a:pPr>
              <a:spcBef>
                <a:spcPts val="100"/>
              </a:spcBef>
            </a:pPr>
            <a:r>
              <a:rPr sz="1000" i="1">
                <a:solidFill>
                  <a:srgbClr val="64748B"/>
                </a:solidFill>
                <a:latin typeface="Calibri"/>
              </a:rPr>
              <a:t>VLM à résolution dynamique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EA580C"/>
                </a:solidFill>
                <a:latin typeface="Calibri"/>
              </a:rPr>
              <a:t>Motif d'exclusion : </a:t>
            </a:r>
            <a:r>
              <a:rPr sz="1050">
                <a:solidFill>
                  <a:srgbClr val="1E293B"/>
                </a:solidFill>
                <a:latin typeface="Calibri"/>
              </a:rPr>
              <a:t>Temps de calcul excessif sur la configuration matérielle standard du cabinet (8 Go VRAM), incompatible avec le traitement de volumes importants.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2000" y="2808000"/>
            <a:ext cx="144000" cy="133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2000" y="4248000"/>
            <a:ext cx="518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144000" tIns="90000" wrap="square"/>
          <a:lstStyle/>
          <a:p>
            <a:pPr algn="ctr"/>
            <a:r>
              <a:rPr sz="1200" b="1">
                <a:solidFill>
                  <a:srgbClr val="102C57"/>
                </a:solidFill>
                <a:latin typeface="Calibri"/>
              </a:rPr>
              <a:t>Phi-3 Vision (Microsoft, 2024)</a:t>
            </a:r>
          </a:p>
          <a:p>
            <a:pPr>
              <a:spcBef>
                <a:spcPts val="100"/>
              </a:spcBef>
            </a:pPr>
            <a:r>
              <a:rPr sz="1000" i="1">
                <a:solidFill>
                  <a:srgbClr val="64748B"/>
                </a:solidFill>
                <a:latin typeface="Calibri"/>
              </a:rPr>
              <a:t>Modèle multimodal compact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EA580C"/>
                </a:solidFill>
                <a:latin typeface="Calibri"/>
              </a:rPr>
              <a:t>Motif d'exclusion : </a:t>
            </a:r>
            <a:r>
              <a:rPr sz="1050">
                <a:solidFill>
                  <a:srgbClr val="1E293B"/>
                </a:solidFill>
                <a:latin typeface="Calibri"/>
              </a:rPr>
              <a:t>Entraînement quasi exclusivement anglophone entraînant une chute de compréhension sur le vocabulaire cadastral et technique français.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000" y="4248000"/>
            <a:ext cx="144000" cy="133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2000" y="4248000"/>
            <a:ext cx="518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rIns="144000" tIns="90000" wrap="square"/>
          <a:lstStyle/>
          <a:p>
            <a:pPr algn="ctr"/>
            <a:r>
              <a:rPr sz="1200" b="1">
                <a:solidFill>
                  <a:srgbClr val="102C57"/>
                </a:solidFill>
                <a:latin typeface="Calibri"/>
              </a:rPr>
              <a:t>Modèles VLM Cloud (GPT-4V, Claude)</a:t>
            </a:r>
          </a:p>
          <a:p>
            <a:pPr>
              <a:spcBef>
                <a:spcPts val="100"/>
              </a:spcBef>
            </a:pPr>
            <a:r>
              <a:rPr sz="1000" i="1">
                <a:solidFill>
                  <a:srgbClr val="64748B"/>
                </a:solidFill>
                <a:latin typeface="Calibri"/>
              </a:rPr>
              <a:t>Modèles propriétaires distants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B91C1C"/>
                </a:solidFill>
                <a:latin typeface="Calibri"/>
              </a:rPr>
              <a:t>Motif d'exclusion : </a:t>
            </a:r>
            <a:r>
              <a:rPr sz="1050">
                <a:solidFill>
                  <a:srgbClr val="1E293B"/>
                </a:solidFill>
                <a:latin typeface="Calibri"/>
              </a:rPr>
              <a:t>Exclusion déontologique stricte : transfert de données vers des serveurs tiers incompatible avec le secret professionnel (loi du 7 mai 1946).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2000" y="4248000"/>
            <a:ext cx="144000" cy="1332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2000" y="5832000"/>
            <a:ext cx="10584000" cy="54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72000"/>
          <a:lstStyle/>
          <a:p>
            <a:pPr algn="ctr"/>
            <a:r>
              <a:rPr sz="1100" b="1">
                <a:solidFill>
                  <a:srgbClr val="B91C1C"/>
                </a:solidFill>
                <a:latin typeface="Calibri"/>
              </a:rPr>
              <a:t>Principe directeur du cabinet : </a:t>
            </a:r>
            <a:r>
              <a:rPr sz="1050">
                <a:solidFill>
                  <a:srgbClr val="1E293B"/>
                </a:solidFill>
                <a:latin typeface="Calibri"/>
              </a:rPr>
              <a:t>Chaque technologie a été évaluée selon sa capacité à fonctionner sur un fonds hétérogène ancien. Les modèles écartés présentaient une fragilité structurelle (OCR initial), un coût d'annotation disproportionné ou une contrainte légale.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0" y="0"/>
            <a:ext cx="787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48000"/>
            <a:ext cx="4320000" cy="81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7999"/>
            <a:ext cx="39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Calibri"/>
              </a:rPr>
              <a:t>03</a:t>
            </a:r>
          </a:p>
          <a:p>
            <a:pPr algn="ctr">
              <a:spcBef>
                <a:spcPts val="0"/>
              </a:spcBef>
            </a:pPr>
            <a:r>
              <a:rPr sz="1200" b="1">
                <a:solidFill>
                  <a:srgbClr val="94A3B8"/>
                </a:solidFill>
                <a:latin typeface="Calibri"/>
              </a:rPr>
              <a:t>CHAPITRE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540000"/>
            <a:ext cx="21600" cy="576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0" y="864000"/>
            <a:ext cx="70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02C57"/>
                </a:solidFill>
                <a:latin typeface="Calibri"/>
              </a:rPr>
              <a:t>Architecture &amp;</a:t>
            </a:r>
            <a:br/>
            <a:r>
              <a:t>Chaîne d'extraction IA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284C7"/>
                </a:solidFill>
                <a:latin typeface="Calibri"/>
              </a:rPr>
              <a:t>Conception technique, 6 scripts Python et traitement étape par étape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2951999"/>
            <a:ext cx="666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0000" y="3168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0000" y="3186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Architecture générale : organigramme des 6 modules et flux de traitement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726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0000" y="3744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Environnement technique : Python 3.12, PyTorch CUDA, Ollama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4284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0000" y="4302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Acquisition &amp; numérisation : protocole DPI et séparation automatique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4842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000" y="4860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Classification du document (plan_classifieur.py)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0" y="5400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0000" y="5418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Segmentation visuelle par YOLOv8 (spatial_extracteur.py)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0000" y="5958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0000" y="5976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Prétraitement : Canny, Hough, Otsu adaptatif, Homographie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0000" y="6516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0000" y="6534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Extraction GLiNER &amp; arbitrage VLM sous Ollama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25" name="Picture 2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435885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3.1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285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3.2 Modules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971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3.3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8657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3.4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9342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3.5 Segmentation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28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3.6 Prétraitement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80714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3.7 Extraction &amp;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19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Architecture générale de la chaîne d'extraction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Organigramme des 6 modules et flux séquentiel de traitement (Section 4.1)</a:t>
            </a:r>
          </a:p>
        </p:txBody>
      </p:sp>
      <p:pic>
        <p:nvPicPr>
          <p:cNvPr id="21" name="Picture 2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356" y="1368000"/>
            <a:ext cx="5815287" cy="297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2000" y="4374000"/>
            <a:ext cx="10584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Organigramme officiel des traitements (Figure du mémoire, Chapitre 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" y="4752000"/>
            <a:ext cx="3420000" cy="136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1. Tri &amp; Classification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Type de document → pipeline adapté (DAO vs scan)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6000" y="4752000"/>
            <a:ext cx="3420000" cy="136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2. Nettoyage &amp; Extraction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Redressement Hough/Otsu → TrOCR/EasyOCR → GLiNER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0000" y="4752000"/>
            <a:ext cx="3420000" cy="136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3. Contrôle &amp; Versement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17 règles métier → interface Streamlit → API Géofoncier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3.1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285" y="378000"/>
            <a:ext cx="1435885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3.2 Modules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971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3.3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8657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3.4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9342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3.5 Segmentation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28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3.6 Prétraitement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80714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3.7 Extraction &amp;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20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Environnement technique et organisation des modules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Ordonnancement par main.py et rôles des 6 scripts (Section 4.1)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000" y="1368000"/>
            <a:ext cx="3420000" cy="18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0284C7"/>
                </a:solidFill>
                <a:latin typeface="Consolas"/>
              </a:rPr>
              <a:t>main.py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2C57"/>
                </a:solidFill>
                <a:latin typeface="Calibri"/>
              </a:rPr>
              <a:t>Chef d'orchestre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Pilote la chaîne, lance les scripts dans l'ordre et gère les flux.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6000" y="1368000"/>
            <a:ext cx="3420000" cy="18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0284C7"/>
                </a:solidFill>
                <a:latin typeface="Consolas"/>
              </a:rPr>
              <a:t>plan_classifieur.py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2C57"/>
                </a:solidFill>
                <a:latin typeface="Calibri"/>
              </a:rPr>
              <a:t>Classification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Trie PDF DAO vs scan, détecte mots-clés, oriente le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0000" y="1368000"/>
            <a:ext cx="3420000" cy="18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0284C7"/>
                </a:solidFill>
                <a:latin typeface="Consolas"/>
              </a:rPr>
              <a:t>spatial_extracteur.py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2C57"/>
                </a:solidFill>
                <a:latin typeface="Calibri"/>
              </a:rPr>
              <a:t>Segmentation YOLO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Découpe cartouches, tableaux, tampons. Applique NMS.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000" y="3383999"/>
            <a:ext cx="3420000" cy="18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0284C7"/>
                </a:solidFill>
                <a:latin typeface="Consolas"/>
              </a:rPr>
              <a:t>outil_ocr.py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2C57"/>
                </a:solidFill>
                <a:latin typeface="Calibri"/>
              </a:rPr>
              <a:t>OCR + GLiNER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EasyOCR (imprimé), TrOCR (manuscrit), extraction entités.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6000" y="3383999"/>
            <a:ext cx="3420000" cy="18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0284C7"/>
                </a:solidFill>
                <a:latin typeface="Consolas"/>
              </a:rPr>
              <a:t>coherence_controle.py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2C57"/>
                </a:solidFill>
                <a:latin typeface="Calibri"/>
              </a:rPr>
              <a:t>17 règles métier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Interroge ardeche.json, attribue scores, code couleur.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20000" y="3383999"/>
            <a:ext cx="3420000" cy="18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0284C7"/>
                </a:solidFill>
                <a:latin typeface="Consolas"/>
              </a:rPr>
              <a:t>app_validation.py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02C57"/>
                </a:solidFill>
                <a:latin typeface="Calibri"/>
              </a:rPr>
              <a:t>Interface Streamlit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Relecture miroir, validation opérateur, versement API.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2000" y="5580000"/>
            <a:ext cx="10584000" cy="64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Environnement souverain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Python 3.12 sous environnement virtuel. 100 % local sous Windows avec accélération PyTorch CUDA. Aucune donnée n'est envoyée à l'extérieur.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3.1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285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3.2 Modules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971" y="378000"/>
            <a:ext cx="1435885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3.3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8657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3.4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9342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3.5 Segmentation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28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3.6 Prétraitement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80714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3.7 Extraction &amp;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21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Acquisition, numérisation et séparation automatique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Protocole DPI selon le type de document (Section 4.2)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Scanner TOSHIBA e-STUDIO3015AC : </a:t>
            </a:r>
            <a:r>
              <a:rPr sz="1250">
                <a:solidFill>
                  <a:srgbClr val="1E293B"/>
                </a:solidFill>
                <a:latin typeface="Calibri"/>
              </a:rPr>
              <a:t>Matériel d'agence existant, sans investissement supplémentaire.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300 DPI (registres et manuscrits) : </a:t>
            </a:r>
            <a:r>
              <a:rPr sz="1250">
                <a:solidFill>
                  <a:srgbClr val="1E293B"/>
                </a:solidFill>
                <a:latin typeface="Calibri"/>
              </a:rPr>
              <a:t>Résolution haute pour capter la finesse des déliés d'encre ancienne.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200 DPI (plans DAO et pièces récentes) : </a:t>
            </a:r>
            <a:r>
              <a:rPr sz="1250">
                <a:solidFill>
                  <a:srgbClr val="1E293B"/>
                </a:solidFill>
                <a:latin typeface="Calibri"/>
              </a:rPr>
              <a:t>Réduit la taille des fichiers sans perte pour les documents récents.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Séparation double page A3 : </a:t>
            </a:r>
            <a:r>
              <a:rPr sz="1250">
                <a:solidFill>
                  <a:srgbClr val="1E293B"/>
                </a:solidFill>
                <a:latin typeface="Calibri"/>
              </a:rPr>
              <a:t>Script de découpage automatique de la vue double en deux images distinctes.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300 DPI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Haute définition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Registres &amp; manuscrits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0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200 DPI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Optimisation volume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Plans récents DAO</a:t>
            </a:r>
          </a:p>
        </p:txBody>
      </p:sp>
      <p:pic>
        <p:nvPicPr>
          <p:cNvPr id="24" name="Picture 23" descr="registre_crop_part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1565060"/>
            <a:ext cx="5328000" cy="415987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6000" y="5760939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Numérisation haute résolution d'un registre ancien (double page A3)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3.1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285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3.2 Modules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971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3.3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8657" y="378000"/>
            <a:ext cx="1435885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3.4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9342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3.5 Segmentation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28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3.6 Prétraitement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80714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3.7 Extraction &amp;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22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Classification et orientation du document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plan_classifieur.py : DAO vs scan en moins de 2 secondes (Section 4.3)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Critère 1 : Texte vectoriel PDF : </a:t>
            </a:r>
            <a:r>
              <a:rPr sz="1250">
                <a:solidFill>
                  <a:srgbClr val="1E293B"/>
                </a:solidFill>
                <a:latin typeface="Calibri"/>
              </a:rPr>
              <a:t>Si le PDF vient d'un logiciel DAO, PyMuPDF extrait le texte directement, sans OCR.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Critère 2 : Mots-clés OCR : </a:t>
            </a:r>
            <a:r>
              <a:rPr sz="1250">
                <a:solidFill>
                  <a:srgbClr val="1E293B"/>
                </a:solidFill>
                <a:latin typeface="Calibri"/>
              </a:rPr>
              <a:t>EasyOCR cherche 'DMPC', 'PROCÈS-VERBAL' avec tolérance aux fautes (fuzzy matching).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Critère 3 : Densité des blocs : </a:t>
            </a:r>
            <a:r>
              <a:rPr sz="1250">
                <a:solidFill>
                  <a:srgbClr val="1E293B"/>
                </a:solidFill>
                <a:latin typeface="Calibri"/>
              </a:rPr>
              <a:t>Forte densité = imprimé dense. Faible densité = croquis manuscrit.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Règle de prudence : </a:t>
            </a:r>
            <a:r>
              <a:rPr sz="1250">
                <a:solidFill>
                  <a:srgbClr val="1E293B"/>
                </a:solidFill>
                <a:latin typeface="Calibri"/>
              </a:rPr>
              <a:t>En cas de doute, orientation vers le pipeline manuscrit, capable de lire l'imprimé aussi.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Gain immédiat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Le script s'exécute en moins de 2 secondes par page. Il évite d'appliquer des traitements lourds de vision sur des documents DAO récents dont le texte est déjà parfait.</a:t>
            </a:r>
          </a:p>
        </p:txBody>
      </p:sp>
      <p:pic>
        <p:nvPicPr>
          <p:cNvPr id="23" name="Picture 22" descr="dmpc_moder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301" y="1368000"/>
            <a:ext cx="3269397" cy="45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76000" y="5958000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Identification d'un formulaire DMPC : détection des mots-clés et du gabarit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3.1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285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3.2 Modules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971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3.3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8657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3.4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9342" y="378000"/>
            <a:ext cx="1435885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3.5 Segmentation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28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3.6 Prétraitement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80714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3.7 Extraction &amp;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23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Segmentation visuelle par YOLOv8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spatial_extracteur.py : 0,15 s par page, sans ancrage fixe (Section 4.4)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YOLOv8 Nano (yolov8n.pt) : </a:t>
            </a:r>
            <a:r>
              <a:rPr sz="1250">
                <a:solidFill>
                  <a:srgbClr val="1E293B"/>
                </a:solidFill>
                <a:latin typeface="Calibri"/>
              </a:rPr>
              <a:t>Poids ultra-compacts, temps d'inférence moyen de 0,15 s par page.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Zones repérées : </a:t>
            </a:r>
            <a:r>
              <a:rPr sz="1250">
                <a:solidFill>
                  <a:srgbClr val="1E293B"/>
                </a:solidFill>
                <a:latin typeface="Calibri"/>
              </a:rPr>
              <a:t>Cartouche DMPC, tableau des parcelles, tampons de géomètres, légende d'échelle.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Non-Max Suppression (NMS) : </a:t>
            </a:r>
            <a:r>
              <a:rPr sz="1250">
                <a:solidFill>
                  <a:srgbClr val="1E293B"/>
                </a:solidFill>
                <a:latin typeface="Calibri"/>
              </a:rPr>
              <a:t>Élimine les boîtes redondantes pour ne conserver que l'encadrement optimal.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Isolation avant lecture : </a:t>
            </a:r>
            <a:r>
              <a:rPr sz="1250">
                <a:solidFill>
                  <a:srgbClr val="1E293B"/>
                </a:solidFill>
                <a:latin typeface="Calibri"/>
              </a:rPr>
              <a:t>Empêche les annotations extérieures de parasiter la transcription de texte.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0,15 s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Inférence / page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YOLOv8 Nano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0000" y="3996000"/>
            <a:ext cx="216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NMS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Suppression doublons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Boîte optimale</a:t>
            </a:r>
          </a:p>
        </p:txBody>
      </p:sp>
      <p:pic>
        <p:nvPicPr>
          <p:cNvPr id="24" name="Picture 23" descr="r4p_fig2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915" y="1368000"/>
            <a:ext cx="4728168" cy="455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6000" y="5958000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Boîtes englobantes YOLOv8 sur un DMPC (cartouche, tableau parcelles, tampon)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3.1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285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3.2 Modules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971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3.3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8657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3.4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9342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3.5 Segmentation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28" y="378000"/>
            <a:ext cx="1435885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3.6 Prétraitement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80714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3.7 Extraction &amp;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24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Prétraitement de l'image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Canny, Hough, Otsu adaptatif, Homographie (Section 4.5)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Détection de bords Canny + Hough : </a:t>
            </a:r>
            <a:r>
              <a:rPr sz="1250">
                <a:solidFill>
                  <a:srgbClr val="1E293B"/>
                </a:solidFill>
                <a:latin typeface="Calibri"/>
              </a:rPr>
              <a:t>Repère l'angle d'inclinaison de la page et applique la rotation de correction.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Binarisation d'Otsu adaptive : </a:t>
            </a:r>
            <a:r>
              <a:rPr sz="1250">
                <a:solidFill>
                  <a:srgbClr val="1E293B"/>
                </a:solidFill>
                <a:latin typeface="Calibri"/>
              </a:rPr>
              <a:t>Maximise la variance inter-classes par fenêtres glissantes : efface le jaunissement des calques.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Homographie projective (cv2) : </a:t>
            </a:r>
            <a:r>
              <a:rPr sz="1250">
                <a:solidFill>
                  <a:srgbClr val="1E293B"/>
                </a:solidFill>
                <a:latin typeface="Calibri"/>
              </a:rPr>
              <a:t>Correction des déformations en trapèze dues aux reliures (getPerspectiveTransform).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Impact mesuré : </a:t>
            </a:r>
            <a:r>
              <a:rPr sz="1250">
                <a:solidFill>
                  <a:srgbClr val="1E293B"/>
                </a:solidFill>
                <a:latin typeface="Calibri"/>
              </a:rPr>
              <a:t>Sur calques inclinés et jaunis, cette chaîne réduit le CER de 18 % avant lecture TrOCR.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Impact sur la transcription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L'enchaînement Hough + Otsu local réduit le taux d'erreur de caractères (CER) de 18 % lors de la lecture ultérieure par TrOCR.</a:t>
            </a:r>
          </a:p>
        </p:txBody>
      </p:sp>
      <p:pic>
        <p:nvPicPr>
          <p:cNvPr id="23" name="Picture 22" descr="pretraitement_vrai_p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020046"/>
            <a:ext cx="5328000" cy="324990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76000" y="5305953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Avant / après prétraitement : inclinaison -3,5° corrigée, fond jauni supprimé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0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3.1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285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3.2 Modules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971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3.3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8657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3.4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9342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3.5 Segmentation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28" y="378000"/>
            <a:ext cx="1435885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3.6 Prétraitement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80714" y="378000"/>
            <a:ext cx="1435885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3.7 Extraction &amp;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25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Extraction textuelle, GLiNER &amp; Arbitrage VLM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outil_ocr.py : extraction hybride et désambiguïsation locale (Sections 4.6 &amp; 4.7)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Détection CRAFT + EasyOCR / TrOCR : </a:t>
            </a:r>
            <a:r>
              <a:rPr sz="1250">
                <a:solidFill>
                  <a:srgbClr val="1E293B"/>
                </a:solidFill>
                <a:latin typeface="Calibri"/>
              </a:rPr>
              <a:t>Localisation des boîtes de texte puis transcription selon le type de document.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GLiNER Zero-Shot (seuil 0,45) : </a:t>
            </a:r>
            <a:r>
              <a:rPr sz="1250">
                <a:solidFill>
                  <a:srgbClr val="1E293B"/>
                </a:solidFill>
                <a:latin typeface="Calibri"/>
              </a:rPr>
              <a:t>Extrait commune, section, parcelle, géomètre, date. En dessous du seuil : alerte.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Arbitrage VLM ciblé : </a:t>
            </a:r>
            <a:r>
              <a:rPr sz="1250">
                <a:solidFill>
                  <a:srgbClr val="1E293B"/>
                </a:solidFill>
                <a:latin typeface="Calibri"/>
              </a:rPr>
              <a:t>LLaVA / MiniCPM-V déclenché uniquement si score &lt; 0,45. Temps : 10 à 30 s par zone.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Prompt contraint sous Ollama : </a:t>
            </a:r>
            <a:r>
              <a:rPr sz="1250">
                <a:solidFill>
                  <a:srgbClr val="1E293B"/>
                </a:solidFill>
                <a:latin typeface="Calibri"/>
              </a:rPr>
              <a:t>'Quel est le nom de la commune... réponds INCERTAIN si doute.'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Cas concret résolu (Figure 4.7 du mémoire)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OCR brut : 'St Didier suus Aubenas'. Alerte de cohérence déclenchée. VLM réexamine l'image : 'Saint-Didier-sous-Aubenas'. Résolu.</a:t>
            </a:r>
          </a:p>
        </p:txBody>
      </p:sp>
      <p:pic>
        <p:nvPicPr>
          <p:cNvPr id="23" name="Picture 22" descr="vlm_arbitrage_chapelle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526120"/>
            <a:ext cx="5328000" cy="2237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76000" y="4799880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Arbitrage par VLM local sur alerte de cohérence (Figure du mémoire)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0" y="0"/>
            <a:ext cx="787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48000"/>
            <a:ext cx="4320000" cy="81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7999"/>
            <a:ext cx="39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Calibri"/>
              </a:rPr>
              <a:t>04</a:t>
            </a:r>
          </a:p>
          <a:p>
            <a:pPr algn="ctr">
              <a:spcBef>
                <a:spcPts val="0"/>
              </a:spcBef>
            </a:pPr>
            <a:r>
              <a:rPr sz="1200" b="1">
                <a:solidFill>
                  <a:srgbClr val="94A3B8"/>
                </a:solidFill>
                <a:latin typeface="Calibri"/>
              </a:rPr>
              <a:t>CHAPITRE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540000"/>
            <a:ext cx="21600" cy="576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0" y="864000"/>
            <a:ext cx="70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02C57"/>
                </a:solidFill>
                <a:latin typeface="Calibri"/>
              </a:rPr>
              <a:t>Validation &amp;</a:t>
            </a:r>
            <a:br/>
            <a:r>
              <a:t>Démonstration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284C7"/>
                </a:solidFill>
                <a:latin typeface="Calibri"/>
              </a:rPr>
              <a:t>Fiabilisation par règles métier, interface Streamlit et versement Géofoncier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2951999"/>
            <a:ext cx="666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0000" y="3168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0000" y="3186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Le moteur des 17 règles de contrôle de cohérence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726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0000" y="3744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Interface de relecture : affichage du dossier prérempli par l'outil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4284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0000" y="4302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Démonstration vidéo : la chaîne complète en conditions réelles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4842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000" y="4860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Filiation parcellaire WFS &amp; versement sur l'API REST Géofoncier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19" name="Picture 18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4. Validation &amp; Démo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4.1 Contrôle 17 règles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4.2 Dossier prérempli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4.3 Démonstration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4.4 Versement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27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Fiabilisation : Les 17 règles de contrôle de cohérence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Filtrage systématique des anomalies avant présentation à l'opérateur (Chapitre 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" y="1368000"/>
            <a:ext cx="5148000" cy="1475999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Contrôles géographiques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Commune vérifiée dans ardeche.json (335 communes), code INSEE attribué automatiquement.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000" y="1368000"/>
            <a:ext cx="5148000" cy="1475999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Contrôles parcellaires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Format cadastral : section 1-2 lettres majuscules, parcelles 1-4 chiffres.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000" y="2988000"/>
            <a:ext cx="5148000" cy="1475999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Contrôles chronologiques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Cohérence de la date avec la période d'exercice du géomètre identifié.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6000" y="2988000"/>
            <a:ext cx="5148000" cy="1475999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Score global 0-1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Détermine le code couleur affiché dans l'interface : Vert / Orange / Rouge.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4788000"/>
            <a:ext cx="10584000" cy="1404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Codes couleur d'aide à la décision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• Vert (score ≥ 0,85) : validé automatiquement.   • Orange (0,45 à 0,85) : relecture recommandée.   • Rouge (&lt; 0,45) : saisie obligatoire par l'opérateur.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4.1 Contrôle 17 règles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4.2 Dossier prérempli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4.3 Démonstration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4.4 Versement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28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Interface de relecture : Le dossier prérempli par l'outil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Visualisation de l'extraction automatique : champs, codes couleur, validation</a:t>
            </a:r>
          </a:p>
        </p:txBody>
      </p:sp>
      <p:pic>
        <p:nvPicPr>
          <p:cNvPr id="18" name="Picture 17" descr="zoom_formulai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43" y="1368000"/>
            <a:ext cx="4928512" cy="459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000" y="5994000"/>
            <a:ext cx="550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Formulaire Streamlit prérempli automatiquement (Commune Joyeuse)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000" y="1368000"/>
            <a:ext cx="4788000" cy="2700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Commune identifiée : </a:t>
            </a:r>
            <a:r>
              <a:rPr sz="1250">
                <a:solidFill>
                  <a:srgbClr val="1E293B"/>
                </a:solidFill>
                <a:latin typeface="Calibri"/>
              </a:rPr>
              <a:t>Joyeuse [07110] validé en vert par concordance avec ardeche.json.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Section et Feuille : </a:t>
            </a:r>
            <a:r>
              <a:rPr sz="1250">
                <a:solidFill>
                  <a:srgbClr val="1E293B"/>
                </a:solidFill>
                <a:latin typeface="Calibri"/>
              </a:rPr>
              <a:t>AL-1 extraites et formatées selon la norme cadastrale.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Parcelles mères : </a:t>
            </a:r>
            <a:r>
              <a:rPr sz="1250">
                <a:solidFill>
                  <a:srgbClr val="1E293B"/>
                </a:solidFill>
                <a:latin typeface="Calibri"/>
              </a:rPr>
              <a:t>['272', '271'] reconnues et listées automatiquement.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Validation en 1 clic : </a:t>
            </a:r>
            <a:r>
              <a:rPr sz="1250">
                <a:solidFill>
                  <a:srgbClr val="1E293B"/>
                </a:solidFill>
                <a:latin typeface="Calibri"/>
              </a:rPr>
              <a:t>Bouton de validation immédiat : sans saisie manuelle.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6000" y="4356000"/>
            <a:ext cx="2232000" cy="1692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16A34A"/>
                </a:solidFill>
                <a:latin typeface="Calibri"/>
              </a:rPr>
              <a:t>15 s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Relecture opérateur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Au lieu de 25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0000" y="4356000"/>
            <a:ext cx="2232000" cy="1692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1 Clic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Validation finale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Envoi Géofoncier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4.1 Contrôle 17 règles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4.2 Dossier prérempli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4.3 Démonstration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4.4 Versement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29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Démonstration en conditions réelles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Du scan de l'archive papier au dossier prérempli prêt à verser sur Géofoncier</a:t>
            </a:r>
          </a:p>
        </p:txBody>
      </p:sp>
      <p:pic>
        <p:nvPicPr>
          <p:cNvPr id="18" name="Demonstration_PFE_Composite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0000" y="1296000"/>
            <a:ext cx="10393200" cy="4572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00000" y="5940000"/>
            <a:ext cx="10393200" cy="413999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Séquence : 1. Cas incomplet (relecture requise)  ▸  2. Cas prérempli (filiation &amp; pastille)  ▸  3. Registres (extraction par lots)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4.1 Contrôle 17 règles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4.2 Dossier prérempli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4.3 Démonstration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4.4 Versement Géofoncier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30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Filiation parcellaire WFS &amp; Versement sur l'API Géofoncier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Géoréférencement cadastral et cas d'étude sur la commune de Prades (Chapitre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Filiation WFS : </a:t>
            </a:r>
            <a:r>
              <a:rPr sz="1250">
                <a:solidFill>
                  <a:srgbClr val="1E293B"/>
                </a:solidFill>
                <a:latin typeface="Calibri"/>
              </a:rPr>
              <a:t>Interrogation du serveur WFS DGFIP pour remonter l'emprise des parcelles mères depuis les numéros actuels.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GeoJSON Lambert-93 (EPSG:2154) : </a:t>
            </a:r>
            <a:r>
              <a:rPr sz="1250">
                <a:solidFill>
                  <a:srgbClr val="1E293B"/>
                </a:solidFill>
                <a:latin typeface="Calibri"/>
              </a:rPr>
              <a:t>Métadonnées foncières formatées selon les spécifications de l'API REST Géofoncier.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Token JWT (validité 24 h) : </a:t>
            </a:r>
            <a:r>
              <a:rPr sz="1250">
                <a:solidFill>
                  <a:srgbClr val="1E293B"/>
                </a:solidFill>
                <a:latin typeface="Calibri"/>
              </a:rPr>
              <a:t>Authentification renouvelée automatiquement. Code retour HTTP 201 Created = dossier créé.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Cas Prades : </a:t>
            </a:r>
            <a:r>
              <a:rPr sz="1250">
                <a:solidFill>
                  <a:srgbClr val="1E293B"/>
                </a:solidFill>
                <a:latin typeface="Calibri"/>
              </a:rPr>
              <a:t>DMPC réel traité bout en bout : commune Prades (07182), section A, parcelle 385, bornage (pastille visible sur Géofoncier).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0284C7"/>
                </a:solidFill>
                <a:latin typeface="Calibri"/>
              </a:rPr>
              <a:t>Gain mesuré sur le cas d'étude Prades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Sans l'outil : environ 25 minutes de recherche dans les cartons d'archives. Avec l'outil : moins de 3 minutes (découpage YOLOv8, lecture VLM, vérification, versement). Le dossier est désormais consultable par l'ensemble de la profession sur Géofoncier.</a:t>
            </a:r>
          </a:p>
        </p:txBody>
      </p:sp>
      <p:pic>
        <p:nvPicPr>
          <p:cNvPr id="20" name="Picture 19" descr="fig_geofoncier_pra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134845"/>
            <a:ext cx="5328000" cy="30203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76000" y="5191155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Portail Géofoncier : emprises et pastilles créées sur Prades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0" y="0"/>
            <a:ext cx="787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48000"/>
            <a:ext cx="4320000" cy="81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7999"/>
            <a:ext cx="39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Calibri"/>
              </a:rPr>
              <a:t>05</a:t>
            </a:r>
          </a:p>
          <a:p>
            <a:pPr algn="ctr">
              <a:spcBef>
                <a:spcPts val="0"/>
              </a:spcBef>
            </a:pPr>
            <a:r>
              <a:rPr sz="1200" b="1">
                <a:solidFill>
                  <a:srgbClr val="94A3B8"/>
                </a:solidFill>
                <a:latin typeface="Calibri"/>
              </a:rPr>
              <a:t>CHAPITRE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540000"/>
            <a:ext cx="21600" cy="576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0" y="864000"/>
            <a:ext cx="70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02C57"/>
                </a:solidFill>
                <a:latin typeface="Calibri"/>
              </a:rPr>
              <a:t>Bilan, Limites</a:t>
            </a:r>
            <a:br/>
            <a:r>
              <a:t>&amp; Déontologie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284C7"/>
                </a:solidFill>
                <a:latin typeface="Calibri"/>
              </a:rPr>
              <a:t>Retour d'expérience, gains mesurés et cadre éthique de la profession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2951999"/>
            <a:ext cx="666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0000" y="3168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0000" y="3186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Bilan opérationnel : gains de productivité mesurés sur le cabinet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726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0000" y="3744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Limites physiques : dossiers dégradés et cas d'échec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4284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0000" y="4302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Perspectives : plugin QGIS, apprentissage actif, généralisation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4842000"/>
            <a:ext cx="331200" cy="331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000" y="4860000"/>
            <a:ext cx="6408000" cy="4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Calibri"/>
              </a:rPr>
              <a:t>Déontologie : Charte IA 2024 de l'Ordre des Géomètres-Experts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19" name="Picture 18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5. Bilan &amp; Perspectives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5.1 Bilan opérationnel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5.2 Limites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5.3 Perspectives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5.4 Déontologie OGE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32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Bilan opérationnel : Gains de productivité mesurés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Comparaison avant / après sur le cabinet GEO-SIAPP (Chapitre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Gain de temps : </a:t>
            </a:r>
            <a:r>
              <a:rPr sz="1250">
                <a:solidFill>
                  <a:srgbClr val="1E293B"/>
                </a:solidFill>
                <a:latin typeface="Calibri"/>
              </a:rPr>
              <a:t>Sans l'outil : 25 à 30 min de recherche physique par dossier. Avec l'outil : moins de 3 min de traitement automatique.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Contrôle humain réduit : </a:t>
            </a:r>
            <a:r>
              <a:rPr sz="1250">
                <a:solidFill>
                  <a:srgbClr val="1E293B"/>
                </a:solidFill>
                <a:latin typeface="Calibri"/>
              </a:rPr>
              <a:t>2 à 3 min de relecture dans l'interface Streamlit pour valider les champs pré-remplis.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Taux de réussite sur lot test : </a:t>
            </a:r>
            <a:r>
              <a:rPr sz="1250">
                <a:solidFill>
                  <a:srgbClr val="1E293B"/>
                </a:solidFill>
                <a:latin typeface="Calibri"/>
              </a:rPr>
              <a:t>27 / 33 documents pré-remplis sans aucune correction (82 %). 5 ont nécessité la retouche d'un seul champ. 1 a dû être ressaisi.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Accès universel : </a:t>
            </a:r>
            <a:r>
              <a:rPr sz="1250">
                <a:solidFill>
                  <a:srgbClr val="1E293B"/>
                </a:solidFill>
                <a:latin typeface="Calibri"/>
              </a:rPr>
              <a:t>Après versement, l'affaire est retrouvable en quelques secondes sur Géofoncier par n'importe quel géomètre.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996000"/>
            <a:ext cx="2088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16A34A"/>
                </a:solidFill>
                <a:latin typeface="Calibri"/>
              </a:rPr>
              <a:t>&lt; 3 min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Traitement auto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vs 25-30 min manuellement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6000" y="3996000"/>
            <a:ext cx="2088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72000"/>
          <a:lstStyle/>
          <a:p>
            <a:pPr algn="ctr"/>
            <a:r>
              <a:rPr sz="2600" b="1">
                <a:solidFill>
                  <a:srgbClr val="0284C7"/>
                </a:solidFill>
                <a:latin typeface="Calibri"/>
              </a:rPr>
              <a:t>82 %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02C57"/>
                </a:solidFill>
                <a:latin typeface="Calibri"/>
              </a:rPr>
              <a:t>Sans correction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Calibri"/>
              </a:rPr>
              <a:t>27 / 33 documents</a:t>
            </a:r>
          </a:p>
        </p:txBody>
      </p:sp>
      <p:pic>
        <p:nvPicPr>
          <p:cNvPr id="21" name="Picture 20" descr="composite_validation_geofonc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2912029"/>
            <a:ext cx="5328000" cy="14659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76000" y="4413970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Bilan d'intégration : validation et résultats sur le lot de 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5.1 Bilan opérationnel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5.2 Limites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5.3 Perspectives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5.4 Déontologie OGE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33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Limites physiques et cas d'échec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Analyse des dossiers complexes nécessitant une intervention humaine (Chapitre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1368000"/>
            <a:ext cx="5040000" cy="2448000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Dégradations matérielles : </a:t>
            </a:r>
            <a:r>
              <a:rPr sz="1250">
                <a:solidFill>
                  <a:srgbClr val="1E293B"/>
                </a:solidFill>
                <a:latin typeface="Calibri"/>
              </a:rPr>
              <a:t>Calques jaunis à l'extrême, déchirures sur les mentions clés, encres ferro-galliques pâles.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Plans muets sans cartouche : </a:t>
            </a:r>
            <a:r>
              <a:rPr sz="1250">
                <a:solidFill>
                  <a:srgbClr val="1E293B"/>
                </a:solidFill>
                <a:latin typeface="Calibri"/>
              </a:rPr>
              <a:t>Croquis de terrain des années 1960, sans cadre normé ni informations structurées.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Filiations parcellaires complexes : </a:t>
            </a:r>
            <a:r>
              <a:rPr sz="1250">
                <a:solidFill>
                  <a:srgbClr val="1E293B"/>
                </a:solidFill>
                <a:latin typeface="Calibri"/>
              </a:rPr>
              <a:t>Divisions successives non reportées ou remembrements modifiant la numérotation.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 b="1">
                <a:solidFill>
                  <a:srgbClr val="102C57"/>
                </a:solidFill>
                <a:latin typeface="Calibri"/>
              </a:rPr>
              <a:t>• Principe de précaution : </a:t>
            </a:r>
            <a:r>
              <a:rPr sz="1250">
                <a:solidFill>
                  <a:srgbClr val="1E293B"/>
                </a:solidFill>
                <a:latin typeface="Calibri"/>
              </a:rPr>
              <a:t>L'outil alerte et s'arrête : aucun versement incertain sans visa d'un géomètre-expert.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996000"/>
            <a:ext cx="5040000" cy="2088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EA580C"/>
                </a:solidFill>
                <a:latin typeface="Calibri"/>
              </a:rPr>
              <a:t>Sécurité juridique prioritaire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Lorsqu'un document est trop dégradé ou le cartouche absent, l'outil bascule en rouge et requiert la saisie d'un géomètre-expert. La fiabilité du cadastre prime sur le taux d'automatisation.</a:t>
            </a:r>
          </a:p>
        </p:txBody>
      </p:sp>
      <p:pic>
        <p:nvPicPr>
          <p:cNvPr id="20" name="Picture 19" descr="registre_manuscr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00" y="1761634"/>
            <a:ext cx="5328000" cy="37667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76000" y="5564365"/>
            <a:ext cx="53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Exemple d'archive ancienne dégradée : nécessite une relecture humaine attentive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5.1 Bilan opérationnel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5.2 Limites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5.3 Perspectives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5.4 Déontologie OGE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34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Perspectives d'évolution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Feuille de route technique et généralisation à la profession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" y="1368000"/>
            <a:ext cx="5148000" cy="208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98000"/>
          <a:lstStyle/>
          <a:p>
            <a:pPr algn="ctr"/>
            <a:r>
              <a:rPr sz="1500" b="1">
                <a:solidFill>
                  <a:srgbClr val="102C57"/>
                </a:solidFill>
                <a:latin typeface="Calibri"/>
              </a:rPr>
              <a:t>Plugin QGIS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Extension permettant aux techniciens d'interroger et de verser les archives depuis leur écran cartographique usuel.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000" y="1368000"/>
            <a:ext cx="5148000" cy="208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98000"/>
          <a:lstStyle/>
          <a:p>
            <a:pPr algn="ctr"/>
            <a:r>
              <a:rPr sz="1500" b="1">
                <a:solidFill>
                  <a:srgbClr val="102C57"/>
                </a:solidFill>
                <a:latin typeface="Calibri"/>
              </a:rPr>
              <a:t>Apprentissage actif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Réinjection des corrections des opérateurs pour réentraîner périodiquement YOLOv8 et GLiNER.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000" y="3671999"/>
            <a:ext cx="5148000" cy="208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98000"/>
          <a:lstStyle/>
          <a:p>
            <a:pPr algn="ctr"/>
            <a:r>
              <a:rPr sz="1500" b="1">
                <a:solidFill>
                  <a:srgbClr val="102C57"/>
                </a:solidFill>
                <a:latin typeface="Calibri"/>
              </a:rPr>
              <a:t>Généralisation ordinale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Adaptabilité à d'autres cabinets confrontés au même problème (plusieurs dizaines de millions d'archives en France).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6000" y="3671999"/>
            <a:ext cx="5148000" cy="208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98000"/>
          <a:lstStyle/>
          <a:p>
            <a:pPr algn="ctr"/>
            <a:r>
              <a:rPr sz="1500" b="1">
                <a:solidFill>
                  <a:srgbClr val="102C57"/>
                </a:solidFill>
                <a:latin typeface="Calibri"/>
              </a:rPr>
              <a:t>Archives notariées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Extension des briques HTR et GLiNER aux actes notariés anciens annexés aux dossiers.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0753200" cy="52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73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43200"/>
            <a:ext cx="1296000" cy="36343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000" y="54000"/>
            <a:ext cx="299171" cy="29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200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1. Contexte &amp; Cadre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8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2. État de l'art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6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3. Chaîne d'extraction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8400" y="43200"/>
            <a:ext cx="1638000" cy="2880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4. Validation &amp;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1200" y="43200"/>
            <a:ext cx="1638000" cy="288000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● 5.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14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5.1 Bilan opérationnel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2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5.2 Limites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00" y="378000"/>
            <a:ext cx="1944000" cy="2880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5.3 Perspectives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7800" y="378000"/>
            <a:ext cx="1944000" cy="288000"/>
          </a:xfrm>
          <a:prstGeom prst="roundRect">
            <a:avLst/>
          </a:prstGeom>
          <a:solidFill>
            <a:srgbClr val="0284C7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0" rIns="14400" tIns="14400" bIns="144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▸ 5.4 Déontologie OGE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35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63200"/>
            <a:ext cx="10753200" cy="43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>
                <a:solidFill>
                  <a:srgbClr val="102C57"/>
                </a:solidFill>
                <a:latin typeface="Calibri"/>
              </a:rPr>
              <a:t>Déontologie &amp; Charte IA OGE (19 mai 2026)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284C7"/>
                </a:solidFill>
                <a:latin typeface="Calibri"/>
              </a:rPr>
              <a:t>Les 3 piliers éthiques + la Charte IA de l'Ordre des Géomètres-Experts (en vigueur au 1er septembre 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" y="1368000"/>
            <a:ext cx="3311999" cy="342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98000"/>
          <a:lstStyle/>
          <a:p>
            <a:pPr algn="ctr"/>
            <a:r>
              <a:rPr sz="1400" b="1">
                <a:solidFill>
                  <a:srgbClr val="102C57"/>
                </a:solidFill>
                <a:latin typeface="Calibri"/>
              </a:rPr>
              <a:t>1. Secret professionnel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284C7"/>
                </a:solidFill>
                <a:latin typeface="Calibri"/>
              </a:rPr>
              <a:t>Loi n°46-942 du 7 mai 1946, Article 18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Traitement 100 % local. Aucune image ni donnée personnelle transmise à un serveur externe.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3999" y="1368000"/>
            <a:ext cx="3311999" cy="342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98000"/>
          <a:lstStyle/>
          <a:p>
            <a:pPr algn="ctr"/>
            <a:r>
              <a:rPr sz="1400" b="1">
                <a:solidFill>
                  <a:srgbClr val="102C57"/>
                </a:solidFill>
                <a:latin typeface="Calibri"/>
              </a:rPr>
              <a:t>2. Primauté humaine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284C7"/>
                </a:solidFill>
                <a:latin typeface="Calibri"/>
              </a:rPr>
              <a:t>L'IA assiste, l'homme décide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L'outil propose et attire l'attention sur les doutes. La validation finale relève exclusivement du géomètre-expert.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5999" y="1368000"/>
            <a:ext cx="3311999" cy="342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98000"/>
          <a:lstStyle/>
          <a:p>
            <a:pPr algn="ctr"/>
            <a:r>
              <a:rPr sz="1400" b="1">
                <a:solidFill>
                  <a:srgbClr val="102C57"/>
                </a:solidFill>
                <a:latin typeface="Calibri"/>
              </a:rPr>
              <a:t>3. Responsabilité civile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284C7"/>
                </a:solidFill>
                <a:latin typeface="Calibri"/>
              </a:rPr>
              <a:t>Décret n°96-478 du 31 mai 1996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Le géomètre engage sa responsabilité sur les limites publiées sur Géofoncier. Aucun acte n'est versé sans validation.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000" y="4896000"/>
            <a:ext cx="10584000" cy="1296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25999" bIns="108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Charte IA OGE : adoptée le 19 mai 2026, en vigueur au 1er septembre 2026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Quatre principes directeurs : transparence envers le client · protection stricte des données · traçabilité des processus · responsabilité entière du professionnel sur les livrables. Ce projet respecte scrupuleusement ces quatre principes.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0" y="0"/>
            <a:ext cx="787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32000"/>
            <a:ext cx="4320000" cy="102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88000"/>
            <a:ext cx="1872000" cy="524968"/>
          </a:xfrm>
          <a:prstGeom prst="rect">
            <a:avLst/>
          </a:prstGeom>
        </p:spPr>
      </p:pic>
      <p:pic>
        <p:nvPicPr>
          <p:cNvPr id="7" name="Picture 6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5328000"/>
            <a:ext cx="547265" cy="54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0000" y="1260000"/>
            <a:ext cx="396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Merci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94A3B8"/>
                </a:solidFill>
                <a:latin typeface="Calibri"/>
              </a:rPr>
              <a:t>Place aux</a:t>
            </a:r>
            <a:br/>
            <a:r>
              <a:t>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540000"/>
            <a:ext cx="21600" cy="576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0" y="720000"/>
            <a:ext cx="70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CONCLUSION DU PROJET DE FIN D'ÉTUDES</a:t>
            </a:r>
          </a:p>
          <a:p>
            <a:pPr>
              <a:spcBef>
                <a:spcPts val="600"/>
              </a:spcBef>
            </a:pPr>
            <a:r>
              <a:rPr sz="2100" b="1">
                <a:solidFill>
                  <a:srgbClr val="102C57"/>
                </a:solidFill>
                <a:latin typeface="Calibri"/>
              </a:rPr>
              <a:t>Un outil opérationnel pour transformer</a:t>
            </a:r>
            <a:br/>
            <a:r>
              <a:t>les archives en pastilles Géofoncier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E293B"/>
                </a:solidFill>
                <a:latin typeface="Calibri"/>
              </a:rPr>
              <a:t>YOLOv8 + TrOCR/EasyOCR + GLiNER + MiniCPM-V · 100 % local · &lt; 3 min / dossier · 82 % sans correction.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0" y="2736000"/>
            <a:ext cx="666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80000" y="2916000"/>
            <a:ext cx="6660000" cy="1620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44000"/>
          <a:lstStyle/>
          <a:p>
            <a:pPr algn="ctr"/>
            <a:r>
              <a:rPr sz="1300" b="1">
                <a:solidFill>
                  <a:srgbClr val="102C57"/>
                </a:solidFill>
                <a:latin typeface="Calibri"/>
              </a:rPr>
              <a:t>Un projet dans l'actualité de la profession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▸  48e Congrès OGE à Nantes (23-25 juin 2026, 1 400 professionnels), thème central : Intelligence Artificielle.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▸  Charte IA OGE adoptée le 19 mai 2026, en vigueur au 1er septembre 2026.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E293B"/>
                </a:solidFill>
                <a:latin typeface="Calibri"/>
              </a:rPr>
              <a:t>▸  Ce projet respecte les 4 principes : transparence · protection des données · traçabilité · responsabilité.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0" y="4716000"/>
            <a:ext cx="666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0" y="4824000"/>
            <a:ext cx="702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2C57"/>
                </a:solidFill>
                <a:latin typeface="Calibri"/>
              </a:rPr>
              <a:t>Remerciements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•  M. Gaëtan HAGUE et l'équipe du Cabinet GEO-SIAPP pour la confiance et l'accueil.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•  M. Mathieu KOEHL (INSA Strasbourg) pour le suivi et l'encadrement pédagogique.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•  Membres du jury pour leur attention et leurs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