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280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720000"/>
            <a:ext cx="28475999" cy="414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720000"/>
            <a:ext cx="28475999" cy="144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1331029"/>
            <a:ext cx="4500000" cy="1261941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9891" y="1080000"/>
            <a:ext cx="1824215" cy="1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000" y="936000"/>
            <a:ext cx="20375999" cy="2088000"/>
          </a:xfrm>
          <a:prstGeom prst="rect">
            <a:avLst/>
          </a:prstGeom>
          <a:noFill/>
        </p:spPr>
        <p:txBody>
          <a:bodyPr wrap="square" tIns="36000">
            <a:spAutoFit/>
          </a:bodyPr>
          <a:lstStyle/>
          <a:p>
            <a:pPr algn="ctr"/>
            <a:r>
              <a:rPr sz="3700" b="1">
                <a:solidFill>
                  <a:srgbClr val="0C2340"/>
                </a:solidFill>
                <a:latin typeface="Arial"/>
              </a:rPr>
              <a:t>TRAITEMENT AUTOMATISÉ ET INSERTION D'ARCHIVES FONCIÈRES SUR GÉOFONCIER</a:t>
            </a:r>
          </a:p>
          <a:p>
            <a:pPr algn="ctr">
              <a:spcBef>
                <a:spcPts val="800"/>
              </a:spcBef>
            </a:pPr>
            <a:r>
              <a:rPr sz="1950" b="1">
                <a:solidFill>
                  <a:srgbClr val="1B4587"/>
                </a:solidFill>
                <a:latin typeface="Arial"/>
              </a:rPr>
              <a:t>Chaîne d'intelligence artificielle locale pour la valorisation du fonds patrimonial d'un cabinet de géomètre-expert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3168000"/>
            <a:ext cx="27395999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3312000"/>
            <a:ext cx="90119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Arial"/>
              </a:rPr>
              <a:t>CANDIDAT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0F172A"/>
                </a:solidFill>
                <a:latin typeface="Arial"/>
              </a:rPr>
              <a:t>Adrien TRAVAILLÉ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Élève-ingénieur en Topographie</a:t>
            </a:r>
            <a:br/>
            <a:r>
              <a:rPr sz="1350" b="0">
                <a:solidFill>
                  <a:srgbClr val="475569"/>
                </a:solidFill>
                <a:latin typeface="Arial"/>
              </a:rPr>
              <a:t>adrien.travaille@insa-strasbourg.fr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1999" y="3312000"/>
            <a:ext cx="90119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Arial"/>
              </a:rPr>
              <a:t>ÉCOLE &amp; ENCADREMENT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0F172A"/>
                </a:solidFill>
                <a:latin typeface="Arial"/>
              </a:rPr>
              <a:t>INSA Strasbourg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Département Génie Topographique • 24 Bd de la Victoire, 67084 Strasbourg</a:t>
            </a:r>
            <a:br/>
            <a:r>
              <a:rPr sz="1350" b="0">
                <a:solidFill>
                  <a:srgbClr val="475569"/>
                </a:solidFill>
                <a:latin typeface="Arial"/>
              </a:rPr>
              <a:t>Enseignant-encadrant : M. Mathieu KOEHL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23999" y="3312000"/>
            <a:ext cx="90119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Arial"/>
              </a:rPr>
              <a:t>ENTREPRISE D'ACCUEIL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0F172A"/>
                </a:solidFill>
                <a:latin typeface="Arial"/>
              </a:rPr>
              <a:t>Cabinet GEO-SIAPP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18 Chemin de la Plaine, 07200 Aubenas (Ardèche)</a:t>
            </a:r>
            <a:br/>
            <a:r>
              <a:rPr sz="1350" b="0">
                <a:solidFill>
                  <a:srgbClr val="475569"/>
                </a:solidFill>
                <a:latin typeface="Arial"/>
              </a:rPr>
              <a:t>Maître de stage : M. Gaëtan HAGUE (Géomètre-Expert)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5112000"/>
            <a:ext cx="8820000" cy="432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1. PROBLÉMATIQUE MÉTIER &amp; LE GÎSEMENT D'ARCHIVES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27999" y="5112000"/>
            <a:ext cx="8820000" cy="432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2. CHAÎNE TECHNOLOGIQUE D'INTELLIGENCE ARTIFICIELLE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55998" y="5112000"/>
            <a:ext cx="8820000" cy="432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3. VALIDATION OPÉRATEUR, RÉSULTATS &amp; VALORISATION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5760000"/>
            <a:ext cx="8820000" cy="10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000" y="57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1.1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LE GISEMENT D'ARCHIVES ET LE DROIT FONCIER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4000" y="6408000"/>
            <a:ext cx="8172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rial"/>
              </a:rPr>
              <a:t>•  Stock ciblé à Aubenas</a:t>
            </a:r>
          </a:p>
          <a:p>
            <a:pPr algn="l">
              <a:spcBef>
                <a:spcPts val="1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23 600 dossiers papier historiques conservés au siège (sur 40 000 au cabinet).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0C2340"/>
                </a:solidFill>
                <a:latin typeface="Arial"/>
              </a:rPr>
              <a:t>•  Succession de 6 prédécesseurs</a:t>
            </a:r>
          </a:p>
          <a:p>
            <a:pPr algn="l">
              <a:spcBef>
                <a:spcPts val="1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Fonds Harrois, Blache, Teyssier, Reynaud (1959 à 2007) sans convention unique.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0C2340"/>
                </a:solidFill>
                <a:latin typeface="Arial"/>
              </a:rPr>
              <a:t>•  Supports hétérogènes fragiles</a:t>
            </a:r>
          </a:p>
          <a:p>
            <a:pPr algn="l">
              <a:spcBef>
                <a:spcPts val="1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Plans calques à l'encre, tirages ozalides bleutés, liasses et registres manuscrits.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0C2340"/>
                </a:solidFill>
                <a:latin typeface="Arial"/>
              </a:rPr>
              <a:t>•  Conservation trentenaire légale</a:t>
            </a:r>
          </a:p>
          <a:p>
            <a:pPr algn="l">
              <a:spcBef>
                <a:spcPts val="1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Décret 96-478 (art. 55) : obligation stricte de conserver les archives et de les transmettre.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0C2340"/>
                </a:solidFill>
                <a:latin typeface="Arial"/>
              </a:rPr>
              <a:t>•  Règle 'Bornage sur bornage ne vaut'</a:t>
            </a:r>
          </a:p>
          <a:p>
            <a:pPr algn="l">
              <a:spcBef>
                <a:spcPts val="1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Interdiction de redéfinir une limite déjà bornée : recherche d'antériorité obligatoire.</a:t>
            </a:r>
          </a:p>
        </p:txBody>
      </p:sp>
      <p:pic>
        <p:nvPicPr>
          <p:cNvPr id="18" name="Picture 17" descr="repartition_arch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0" y="11810835"/>
            <a:ext cx="8172000" cy="3558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4000" y="15480000"/>
            <a:ext cx="817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Arial"/>
              </a:rPr>
              <a:t>Répartition estimée des 23 600 dossiers d'Aubenas par géomètre prédécesseur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16920000"/>
            <a:ext cx="8820000" cy="1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000" y="1692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1.2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COMPLEXITÉ DES DOCUMENTS D'ARCHIVES</a:t>
            </a:r>
          </a:p>
        </p:txBody>
      </p:sp>
      <p:pic>
        <p:nvPicPr>
          <p:cNvPr id="22" name="Picture 21" descr="registre_manuscr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0" y="17919324"/>
            <a:ext cx="8172000" cy="5777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24192000"/>
            <a:ext cx="8172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rial"/>
              </a:rPr>
              <a:t>Extrait de registre d'arpentage manuscrit du cabinet GEO-SIAPP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Calligraphies cursives à la plume et encres d'époque délavées.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Abréviations métier condensées ('Déf.', 'Bge', 'Div.', 'Prop.').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Disparité des structures de tableaux selon les géomètres prédécesseurs.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Altérations physiques du papier et absence d'identifiant parcellaire unique.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Document d'archives manuscrit conservé sans échelle graphique.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29160000"/>
            <a:ext cx="8820000" cy="10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000" y="291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1.3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IMPASSE DU TRAITEMENT MANUEL ET OBJECTIFS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4000" y="29808000"/>
            <a:ext cx="8172000" cy="4320000"/>
          </a:xfrm>
          <a:prstGeom prst="rect">
            <a:avLst/>
          </a:prstGeom>
          <a:solidFill>
            <a:srgbClr val="FEF2F2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l"/>
            <a:r>
              <a:rPr sz="1550" b="1">
                <a:solidFill>
                  <a:srgbClr val="D62828"/>
                </a:solidFill>
                <a:latin typeface="Arial"/>
              </a:rPr>
              <a:t>LE CONSTAT : IMPASSE DU TRAITEMENT MANUEL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✕  Temps moyen : 15 à 20 minutes par acte sur GéofoncierEXPERT.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✕  Volume cible : 23 600 dossiers accumulés sur 50 ans.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✕  Charge cumulée : 3,5 années de travail d'un technicien à plein temps (plus de 5 900 heures).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F172A"/>
                </a:solidFill>
                <a:latin typeface="Arial"/>
              </a:rPr>
              <a:t>✕  Conséquence : risque d'erreur de saisie élevé et gisement documentaire inexploité.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24000" y="34380000"/>
            <a:ext cx="8172000" cy="4752000"/>
          </a:xfrm>
          <a:prstGeom prst="rect">
            <a:avLst/>
          </a:prstGeom>
          <a:solidFill>
            <a:srgbClr val="F0F9FF"/>
          </a:solidFill>
          <a:ln w="19050">
            <a:solidFill>
              <a:srgbClr val="1B4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l"/>
            <a:r>
              <a:rPr sz="1550" b="1">
                <a:solidFill>
                  <a:srgbClr val="0C2340"/>
                </a:solidFill>
                <a:latin typeface="Arial"/>
              </a:rPr>
              <a:t>LE CAHIER DES CHARGES ASSIGNÉ AU PFE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C2340"/>
                </a:solidFill>
                <a:latin typeface="Arial"/>
              </a:rPr>
              <a:t>✓  Traitement 100 % local : données protégées, secret professionnel, aucun flux cloud.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C2340"/>
                </a:solidFill>
                <a:latin typeface="Arial"/>
              </a:rPr>
              <a:t>✓  Autonomie sur PC bureautique classique du cabinet sans GPU dédié.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C2340"/>
                </a:solidFill>
                <a:latin typeface="Arial"/>
              </a:rPr>
              <a:t>✓  Fiabilisation automatique contre les bases officielles (INSEE, BAN).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0C2340"/>
                </a:solidFill>
                <a:latin typeface="Arial"/>
              </a:rPr>
              <a:t>✓  Supervision humaine obligatoire : l'IA assiste l'opérateur, qui valide d'un clic.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7999" y="5760000"/>
            <a:ext cx="8820000" cy="10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27999" y="57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2.1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ARCHITECTURE DU PIPELINE MODULAIRE LOCAL</a:t>
            </a:r>
          </a:p>
        </p:txBody>
      </p:sp>
      <p:pic>
        <p:nvPicPr>
          <p:cNvPr id="30" name="Picture 29" descr="architecture_t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1999" y="6417183"/>
            <a:ext cx="8172000" cy="412163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51999" y="10656000"/>
            <a:ext cx="8172000" cy="54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rial"/>
              </a:rPr>
              <a:t>1. Classification du document : Tri automatique des plans graphiques, registres et procès-verbaux.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2. Détection spatiale YOLOv8 : Localisation des cartouches, tableaux récapitulatifs, tampons et signatures.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3. Lecture hybride OCR / HTR : Binarisation Otsu, Tesseract (imprimé) et Vision Transformer TrOCR (manuscrit).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4. Extraction d'entités (GLiNER) : Reconnaissance ciblée des communes, dates et géomètres sans réentraînement.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5. Contrôle &amp; arbitrage VLM : Vérification Levenshtein (INSEE) et arbitrage par LLaVA 7B local en cas de doute.</a:t>
            </a:r>
          </a:p>
          <a:p>
            <a:pPr algn="l">
              <a:spcBef>
                <a:spcPts val="4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6. Injection API Géofoncier : Génération du JSON normalisé et versement automatique sur l'API GéofoncierEXPERT.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27999" y="16920000"/>
            <a:ext cx="8820000" cy="1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27999" y="1692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2.2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DÉTECTION SPATIALE DES ZONES CLÉS (YOLOV8)</a:t>
            </a:r>
          </a:p>
        </p:txBody>
      </p:sp>
      <p:pic>
        <p:nvPicPr>
          <p:cNvPr id="34" name="Picture 33" descr="r4p_fig2_t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3432" y="17568000"/>
            <a:ext cx="7849133" cy="756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051999" y="25272000"/>
            <a:ext cx="8172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rial"/>
              </a:rPr>
              <a:t>Détection instantanée par réseau YOLOv8 sur un plan DMPC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Localisation en moins de 150 ms des cartouches, parcelles mères/filles et échelles.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Insensibilité aux variations d'échelle, de cadrage et aux légères rotations.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Découpage immédiat des imagettes pour nourrir les modules de lecture OCR et HTR.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•  Plan régulier sans échelle graphique, orientation Nord en tête.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27999" y="29160000"/>
            <a:ext cx="8820000" cy="10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27999" y="291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2.3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EXÉCUTION SOUVERAINE ET MATRICE DÉCISIONNELLE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51999" y="29808000"/>
            <a:ext cx="817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C2340"/>
                </a:solidFill>
                <a:latin typeface="Arial"/>
              </a:rPr>
              <a:t>•  Indépendance technologique : Zéro flux réseau externe : secret professionnel et conformité légale garantis.</a:t>
            </a:r>
          </a:p>
          <a:p>
            <a:pPr algn="l">
              <a:spcBef>
                <a:spcPts val="400"/>
              </a:spcBef>
            </a:pPr>
            <a:r>
              <a:rPr sz="1450" b="1">
                <a:solidFill>
                  <a:srgbClr val="0C2340"/>
                </a:solidFill>
                <a:latin typeface="Arial"/>
              </a:rPr>
              <a:t>•  Parc bureautique standard : Exécution fluide sur processeurs bureautiques existants du cabinet sans GPU dédié.</a:t>
            </a:r>
          </a:p>
          <a:p>
            <a:pPr algn="l">
              <a:spcBef>
                <a:spcPts val="400"/>
              </a:spcBef>
            </a:pPr>
            <a:r>
              <a:rPr sz="1450" b="1">
                <a:solidFill>
                  <a:srgbClr val="0C2340"/>
                </a:solidFill>
                <a:latin typeface="Arial"/>
              </a:rPr>
              <a:t>•  Temps de calcul optimisé : Moins de 4 secondes de traitement automatique par document grand format.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51999" y="32616000"/>
            <a:ext cx="8172000" cy="14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08000"/>
          <a:lstStyle/>
          <a:p>
            <a:pPr algn="l"/>
            <a:r>
              <a:rPr sz="1450" b="1">
                <a:solidFill>
                  <a:srgbClr val="0C2340"/>
                </a:solidFill>
                <a:latin typeface="Arial"/>
              </a:rPr>
              <a:t>YOLOv8 Nano  •  120 ms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Segmentation spatiale des cartouches et parcelles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51999" y="34236000"/>
            <a:ext cx="8172000" cy="14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08000"/>
          <a:lstStyle/>
          <a:p>
            <a:pPr algn="l"/>
            <a:r>
              <a:rPr sz="1450" b="1">
                <a:solidFill>
                  <a:srgbClr val="1B4587"/>
                </a:solidFill>
                <a:latin typeface="Arial"/>
              </a:rPr>
              <a:t>Tesseract &amp; TrOCR  •  350 ms à 1,8 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Lecture hybride imprimé (dactylo) et manuscrit (plume)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51999" y="35856000"/>
            <a:ext cx="8172000" cy="14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08000"/>
          <a:lstStyle/>
          <a:p>
            <a:pPr algn="l"/>
            <a:r>
              <a:rPr sz="1450" b="1">
                <a:solidFill>
                  <a:srgbClr val="0F766E"/>
                </a:solidFill>
                <a:latin typeface="Arial"/>
              </a:rPr>
              <a:t>GLiNER Multi-v2.1  •  280 ms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Extraction d'entités ciblées (commune, date, géomètre)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51999" y="37476000"/>
            <a:ext cx="8172000" cy="14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08000"/>
          <a:lstStyle/>
          <a:p>
            <a:pPr algn="l"/>
            <a:r>
              <a:rPr sz="1450" b="1">
                <a:solidFill>
                  <a:srgbClr val="6B21A8"/>
                </a:solidFill>
                <a:latin typeface="Arial"/>
              </a:rPr>
              <a:t>LLaVA 7B (Ollama)  •  4 à 8 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Arbitrage contextuel en secours (activé sur &lt; 15 % des cas)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55998" y="5760000"/>
            <a:ext cx="8820000" cy="10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555998" y="57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3.1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SUPERVISION HUMAINE ET PUBLICATION GÉOFONCIER</a:t>
            </a:r>
          </a:p>
        </p:txBody>
      </p:sp>
      <p:pic>
        <p:nvPicPr>
          <p:cNvPr id="45" name="Picture 44" descr="interface_hau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9759" y="6408000"/>
            <a:ext cx="7672476" cy="3780000"/>
          </a:xfrm>
          <a:prstGeom prst="rect">
            <a:avLst/>
          </a:prstGeom>
        </p:spPr>
      </p:pic>
      <p:pic>
        <p:nvPicPr>
          <p:cNvPr id="46" name="Picture 45" descr="Chap2_pastilles_enhance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22373" y="10368000"/>
            <a:ext cx="7287249" cy="3168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879998" y="13680000"/>
            <a:ext cx="8172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C2340"/>
                </a:solidFill>
                <a:latin typeface="Arial"/>
              </a:rPr>
              <a:t>Poste opérateur Streamlit et publication sur Géofoncier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•  L'IA préremplit le formulaire interactif à partir des détections du plan.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•  Le géomètre-expert contrôle visuellement et valide en 1 clic.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0F172A"/>
                </a:solidFill>
                <a:latin typeface="Arial"/>
              </a:rPr>
              <a:t>•  Envoi direct par API REST et pastille immédiatement active sur la carte nationale.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55998" y="16920000"/>
            <a:ext cx="8820000" cy="1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555998" y="1692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3.2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PERFORMANCES MESURÉES ET GAINS OPÉRATIONNELS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879998" y="17568000"/>
            <a:ext cx="8172000" cy="316800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951998" y="17748000"/>
            <a:ext cx="8028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F766E"/>
                </a:solidFill>
                <a:latin typeface="Arial"/>
              </a:rPr>
              <a:t>&lt; 1 min 30 s</a:t>
            </a:r>
          </a:p>
          <a:p>
            <a:pPr algn="ctr">
              <a:spcBef>
                <a:spcPts val="300"/>
              </a:spcBef>
            </a:pPr>
            <a:r>
              <a:rPr sz="1550" b="1">
                <a:solidFill>
                  <a:srgbClr val="0F172A"/>
                </a:solidFill>
                <a:latin typeface="Arial"/>
              </a:rPr>
              <a:t>DURÉE TOTALE PAR DOSSIER VALIDÉ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475569"/>
                </a:solidFill>
                <a:latin typeface="Arial"/>
              </a:rPr>
              <a:t>Temps unitaire divisé par 10 (comparé à 15 à 20 minutes en saisie manuelle).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879998" y="21024000"/>
            <a:ext cx="8172000" cy="3168000"/>
          </a:xfrm>
          <a:prstGeom prst="rect">
            <a:avLst/>
          </a:prstGeom>
          <a:solidFill>
            <a:srgbClr val="F1F5F9"/>
          </a:solidFill>
          <a:ln w="190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951998" y="21204000"/>
            <a:ext cx="8028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C2340"/>
                </a:solidFill>
                <a:latin typeface="Arial"/>
              </a:rPr>
              <a:t>88,0 %</a:t>
            </a:r>
          </a:p>
          <a:p>
            <a:pPr algn="ctr">
              <a:spcBef>
                <a:spcPts val="300"/>
              </a:spcBef>
            </a:pPr>
            <a:r>
              <a:rPr sz="1550" b="1">
                <a:solidFill>
                  <a:srgbClr val="0F172A"/>
                </a:solidFill>
                <a:latin typeface="Arial"/>
              </a:rPr>
              <a:t>SCORE F1 SUR LES COMMUNES &amp; CODES INSEE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475569"/>
                </a:solidFill>
                <a:latin typeface="Arial"/>
              </a:rPr>
              <a:t>Exactitude élevée grâce à l'appariement flou Levenshtein sur les bases officielles.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879998" y="24480000"/>
            <a:ext cx="8172000" cy="3168000"/>
          </a:xfrm>
          <a:prstGeom prst="rect">
            <a:avLst/>
          </a:prstGeom>
          <a:solidFill>
            <a:srgbClr val="EFF6FF"/>
          </a:solidFill>
          <a:ln w="19050">
            <a:solidFill>
              <a:srgbClr val="1B4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951998" y="24660000"/>
            <a:ext cx="8028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B4587"/>
                </a:solidFill>
                <a:latin typeface="Arial"/>
              </a:rPr>
              <a:t>100 % Local</a:t>
            </a:r>
          </a:p>
          <a:p>
            <a:pPr algn="ctr">
              <a:spcBef>
                <a:spcPts val="300"/>
              </a:spcBef>
            </a:pPr>
            <a:r>
              <a:rPr sz="1550" b="1">
                <a:solidFill>
                  <a:srgbClr val="0F172A"/>
                </a:solidFill>
                <a:latin typeface="Arial"/>
              </a:rPr>
              <a:t>SOUVERAINETÉ ET SECRET PROFESSIONNEL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475569"/>
                </a:solidFill>
                <a:latin typeface="Arial"/>
              </a:rPr>
              <a:t>Aucune donnée de propriétaire transmise à l'extérieur, zéro dépendance cloud.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55998" y="29160000"/>
            <a:ext cx="8820000" cy="10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555998" y="29160000"/>
            <a:ext cx="8820000" cy="540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36000" bIns="36000"/>
          <a:lstStyle/>
          <a:p>
            <a:pPr algn="l"/>
            <a:r>
              <a:rPr sz="2100" b="1">
                <a:solidFill>
                  <a:srgbClr val="93C5FD"/>
                </a:solidFill>
                <a:latin typeface="Arial"/>
              </a:rPr>
              <a:t>3.3  •  </a:t>
            </a:r>
            <a:r>
              <a:rPr sz="2100" b="1">
                <a:solidFill>
                  <a:srgbClr val="FFFFFF"/>
                </a:solidFill>
                <a:latin typeface="Arial"/>
              </a:rPr>
              <a:t>IMPACT INDUSTRIEL ET BOUCLE D'APPRENTISSAGE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879998" y="29808000"/>
            <a:ext cx="817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rial"/>
              </a:rPr>
              <a:t>•  Déploiement sur 4 agences : Aubenas (siège), Pierrelatte, Vallon-Pont-d'Arc, Guilherand-Granges.</a:t>
            </a:r>
          </a:p>
          <a:p>
            <a:pPr algn="l">
              <a:spcBef>
                <a:spcPts val="3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•  Réactivation du patrimoine dormant : Accès immédiat aux dossiers historiques pour les équipes terrain lors des bornages.</a:t>
            </a:r>
          </a:p>
          <a:p>
            <a:pPr algn="l">
              <a:spcBef>
                <a:spcPts val="3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•  Rentabilité et pérennité : Solution souveraine sans abonnement logiciel récurrent, maîtrise intégrale du code source.</a:t>
            </a:r>
          </a:p>
          <a:p>
            <a:pPr algn="l">
              <a:spcBef>
                <a:spcPts val="300"/>
              </a:spcBef>
            </a:pPr>
            <a:r>
              <a:rPr sz="1350" b="1">
                <a:solidFill>
                  <a:srgbClr val="0C2340"/>
                </a:solidFill>
                <a:latin typeface="Arial"/>
              </a:rPr>
              <a:t>•  Transposition à la profession : Méthodologie reproductible pour les cabinets confrontés aux archives papier.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879998" y="32616000"/>
            <a:ext cx="8172000" cy="648000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44000"/>
          <a:lstStyle/>
          <a:p>
            <a:pPr algn="l"/>
            <a:r>
              <a:rPr sz="1500" b="1">
                <a:solidFill>
                  <a:srgbClr val="0F766E"/>
                </a:solidFill>
                <a:latin typeface="Arial"/>
              </a:rPr>
              <a:t>BOUCLE D'APPRENTISSAGE ACTIF (ACTIVE LEARNING)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0C2340"/>
                </a:solidFill>
                <a:latin typeface="Arial"/>
              </a:rPr>
              <a:t>1. Prédiction &amp; Extraction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→ YOLOv8 et GLiNER analysent automatiquement le document scanné.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0C2340"/>
                </a:solidFill>
                <a:latin typeface="Arial"/>
              </a:rPr>
              <a:t>2. Validation Opérateur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→ Contrôle visuel sur Streamlit, ajustement manuel si nécessaire et validation en 1 clic.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0C2340"/>
                </a:solidFill>
                <a:latin typeface="Arial"/>
              </a:rPr>
              <a:t>3. Collecte des Écarts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→ Enregistrement local automatique des paires (image brute, correction validée).</a:t>
            </a:r>
          </a:p>
          <a:p>
            <a:pPr algn="l">
              <a:spcBef>
                <a:spcPts val="500"/>
              </a:spcBef>
            </a:pPr>
            <a:r>
              <a:rPr sz="1400" b="1">
                <a:solidFill>
                  <a:srgbClr val="0C2340"/>
                </a:solidFill>
                <a:latin typeface="Arial"/>
              </a:rPr>
              <a:t>4. Réentraînement Incrémental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0F172A"/>
                </a:solidFill>
                <a:latin typeface="Arial"/>
              </a:rPr>
              <a:t>→ Réajustement périodique des poids du modèle local sans coût d'annotation.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000" y="39960000"/>
            <a:ext cx="28475999" cy="198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40000" y="40176000"/>
            <a:ext cx="27395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rial"/>
              </a:rPr>
              <a:t>PROJET DE FIN D'ÉTUDES INGÉNIEUR  •  DÉPARTEMENT GÉNIE TOPOGRAPHIQUE  •  INSA STRASBOURG</a:t>
            </a:r>
          </a:p>
          <a:p>
            <a:pPr algn="ctr">
              <a:spcBef>
                <a:spcPts val="300"/>
              </a:spcBef>
            </a:pPr>
            <a:r>
              <a:rPr sz="1350" b="0">
                <a:solidFill>
                  <a:srgbClr val="475569"/>
                </a:solidFill>
                <a:latin typeface="Arial"/>
              </a:rPr>
              <a:t>Travaux réalisés au sein du Cabinet GEO-SIAPP (Aubenas, Ardèche)  •  Sous la direction de M. Gaëtan HAGUE (GEO-SIAPP) et M. Mathieu KOEHL (INSA Strasbourg)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75569"/>
                </a:solidFill>
                <a:latin typeface="Arial"/>
              </a:rPr>
              <a:t>Conformité stricte aux exigences de l'Ordre des Géomètres-Experts (OGE) et aux spécifications techniques de la plateforme nationale Géofoncier  •  Session de soutenance : 8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